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386f665454c58" /><Relationship Type="http://schemas.openxmlformats.org/officeDocument/2006/relationships/extended-properties" Target="/docProps/app.xml" Id="Rc00759173e23402c" /><Relationship Type="http://schemas.openxmlformats.org/officeDocument/2006/relationships/officeDocument" Target="/ppt/presentation.xml" Id="R3da727d258c64e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1774cc00234812"/>
  </p:sldMasterIdLst>
  <p:notesMasterIdLst>
    <p:notesMasterId xmlns:r="http://schemas.openxmlformats.org/officeDocument/2006/relationships" r:id="Re50c9f43ff46406a"/>
  </p:notesMasterIdLst>
  <p:sldIdLst>
    <p:sldId xmlns:r="http://schemas.openxmlformats.org/officeDocument/2006/relationships" id="256" r:id="Rafc7b1ab91a54a7a"/>
    <p:sldId xmlns:r="http://schemas.openxmlformats.org/officeDocument/2006/relationships" id="257" r:id="R6fd9bd02398045d4"/>
    <p:sldId xmlns:r="http://schemas.openxmlformats.org/officeDocument/2006/relationships" id="258" r:id="R72e858b02ea04791"/>
    <p:sldId xmlns:r="http://schemas.openxmlformats.org/officeDocument/2006/relationships" id="259" r:id="Re4736bfe81524009"/>
    <p:sldId xmlns:r="http://schemas.openxmlformats.org/officeDocument/2006/relationships" id="260" r:id="R6b2b0933a1b548d1"/>
    <p:sldId xmlns:r="http://schemas.openxmlformats.org/officeDocument/2006/relationships" id="261" r:id="R8daf131e2ef24c51"/>
    <p:sldId xmlns:r="http://schemas.openxmlformats.org/officeDocument/2006/relationships" id="262" r:id="R3aa30a371137444c"/>
    <p:sldId xmlns:r="http://schemas.openxmlformats.org/officeDocument/2006/relationships" id="263" r:id="R5915674c74f24ee1"/>
    <p:sldId xmlns:r="http://schemas.openxmlformats.org/officeDocument/2006/relationships" id="264" r:id="R0a88adab98fc4560"/>
    <p:sldId xmlns:r="http://schemas.openxmlformats.org/officeDocument/2006/relationships" id="265" r:id="R475a041a90ea4e6c"/>
    <p:sldId xmlns:r="http://schemas.openxmlformats.org/officeDocument/2006/relationships" id="266" r:id="Re7295720a71d4319"/>
    <p:sldId xmlns:r="http://schemas.openxmlformats.org/officeDocument/2006/relationships" id="267" r:id="Rd3788bc511a34685"/>
    <p:sldId xmlns:r="http://schemas.openxmlformats.org/officeDocument/2006/relationships" id="268" r:id="R4158ba1b43504fbe"/>
    <p:sldId xmlns:r="http://schemas.openxmlformats.org/officeDocument/2006/relationships" id="269" r:id="R4aa0aaefc6064ffb"/>
    <p:sldId xmlns:r="http://schemas.openxmlformats.org/officeDocument/2006/relationships" id="270" r:id="Rc1990fbdb0cb4885"/>
    <p:sldId xmlns:r="http://schemas.openxmlformats.org/officeDocument/2006/relationships" id="271" r:id="Re3feb629ea794833"/>
    <p:sldId xmlns:r="http://schemas.openxmlformats.org/officeDocument/2006/relationships" id="272" r:id="R3cd8d30dd7ba41c3"/>
    <p:sldId xmlns:r="http://schemas.openxmlformats.org/officeDocument/2006/relationships" id="273" r:id="R5bf3919c2b084992"/>
    <p:sldId xmlns:r="http://schemas.openxmlformats.org/officeDocument/2006/relationships" id="274" r:id="Rc822360cb32d4905"/>
    <p:sldId xmlns:r="http://schemas.openxmlformats.org/officeDocument/2006/relationships" id="275" r:id="R19267a57c7fa44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cb7e5ef2a34db2" /><Relationship Type="http://schemas.openxmlformats.org/officeDocument/2006/relationships/slideMaster" Target="/ppt/slideMasters/slideMaster1.xml" Id="R681774cc00234812" /><Relationship Type="http://schemas.openxmlformats.org/officeDocument/2006/relationships/notesMaster" Target="/ppt/notesMasters/notesMaster1.xml" Id="Re50c9f43ff46406a" /><Relationship Type="http://schemas.openxmlformats.org/officeDocument/2006/relationships/presProps" Target="/ppt/presProps.xml" Id="R299907239c1541e2" /><Relationship Type="http://schemas.openxmlformats.org/officeDocument/2006/relationships/viewProps" Target="/ppt/viewProps.xml" Id="R9062a40ae2d44885" /><Relationship Type="http://schemas.openxmlformats.org/officeDocument/2006/relationships/tableStyles" Target="/ppt/tableStyles.xml" Id="R81a35d52177b43ca" /><Relationship Type="http://schemas.openxmlformats.org/officeDocument/2006/relationships/slide" Target="/ppt/slides/slide1.xml" Id="Rafc7b1ab91a54a7a" /><Relationship Type="http://schemas.openxmlformats.org/officeDocument/2006/relationships/slide" Target="/ppt/slides/slide2.xml" Id="R6fd9bd02398045d4" /><Relationship Type="http://schemas.openxmlformats.org/officeDocument/2006/relationships/slide" Target="/ppt/slides/slide3.xml" Id="R72e858b02ea04791" /><Relationship Type="http://schemas.openxmlformats.org/officeDocument/2006/relationships/slide" Target="/ppt/slides/slide4.xml" Id="Re4736bfe81524009" /><Relationship Type="http://schemas.openxmlformats.org/officeDocument/2006/relationships/slide" Target="/ppt/slides/slide5.xml" Id="R6b2b0933a1b548d1" /><Relationship Type="http://schemas.openxmlformats.org/officeDocument/2006/relationships/slide" Target="/ppt/slides/slide6.xml" Id="R8daf131e2ef24c51" /><Relationship Type="http://schemas.openxmlformats.org/officeDocument/2006/relationships/slide" Target="/ppt/slides/slide7.xml" Id="R3aa30a371137444c" /><Relationship Type="http://schemas.openxmlformats.org/officeDocument/2006/relationships/slide" Target="/ppt/slides/slide8.xml" Id="R5915674c74f24ee1" /><Relationship Type="http://schemas.openxmlformats.org/officeDocument/2006/relationships/slide" Target="/ppt/slides/slide9.xml" Id="R0a88adab98fc4560" /><Relationship Type="http://schemas.openxmlformats.org/officeDocument/2006/relationships/slide" Target="/ppt/slides/slide10.xml" Id="R475a041a90ea4e6c" /><Relationship Type="http://schemas.openxmlformats.org/officeDocument/2006/relationships/slide" Target="/ppt/slides/slide11.xml" Id="Re7295720a71d4319" /><Relationship Type="http://schemas.openxmlformats.org/officeDocument/2006/relationships/slide" Target="/ppt/slides/slide12.xml" Id="Rd3788bc511a34685" /><Relationship Type="http://schemas.openxmlformats.org/officeDocument/2006/relationships/slide" Target="/ppt/slides/slide13.xml" Id="R4158ba1b43504fbe" /><Relationship Type="http://schemas.openxmlformats.org/officeDocument/2006/relationships/slide" Target="/ppt/slides/slide14.xml" Id="R4aa0aaefc6064ffb" /><Relationship Type="http://schemas.openxmlformats.org/officeDocument/2006/relationships/slide" Target="/ppt/slides/slide15.xml" Id="Rc1990fbdb0cb4885" /><Relationship Type="http://schemas.openxmlformats.org/officeDocument/2006/relationships/slide" Target="/ppt/slides/slide16.xml" Id="Re3feb629ea794833" /><Relationship Type="http://schemas.openxmlformats.org/officeDocument/2006/relationships/slide" Target="/ppt/slides/slide17.xml" Id="R3cd8d30dd7ba41c3" /><Relationship Type="http://schemas.openxmlformats.org/officeDocument/2006/relationships/slide" Target="/ppt/slides/slide18.xml" Id="R5bf3919c2b084992" /><Relationship Type="http://schemas.openxmlformats.org/officeDocument/2006/relationships/slide" Target="/ppt/slides/slide19.xml" Id="Rc822360cb32d4905" /><Relationship Type="http://schemas.openxmlformats.org/officeDocument/2006/relationships/slide" Target="/ppt/slides/slide20.xml" Id="R19267a57c7fa44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93cd69b15743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c25c6306bd4499" /><Relationship Type="http://schemas.openxmlformats.org/officeDocument/2006/relationships/notesMaster" Target="/ppt/notesMasters/notesMaster1.xml" Id="R93628c414fa242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e9ac2b2df74670" /><Relationship Type="http://schemas.openxmlformats.org/officeDocument/2006/relationships/notesMaster" Target="/ppt/notesMasters/notesMaster1.xml" Id="R9d8e35ad6081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6ee745532a4d7a" /><Relationship Type="http://schemas.openxmlformats.org/officeDocument/2006/relationships/notesMaster" Target="/ppt/notesMasters/notesMaster1.xml" Id="R98abe03317e742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76c2c9c7cd4a65" /><Relationship Type="http://schemas.openxmlformats.org/officeDocument/2006/relationships/notesMaster" Target="/ppt/notesMasters/notesMaster1.xml" Id="R2c544ace5c5b4a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0b28ec2610455e" /><Relationship Type="http://schemas.openxmlformats.org/officeDocument/2006/relationships/notesMaster" Target="/ppt/notesMasters/notesMaster1.xml" Id="R61b46cb5734c4c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0017441cd24673" /><Relationship Type="http://schemas.openxmlformats.org/officeDocument/2006/relationships/notesMaster" Target="/ppt/notesMasters/notesMaster1.xml" Id="R3344d58109c246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83ac8b09de4b2f" /><Relationship Type="http://schemas.openxmlformats.org/officeDocument/2006/relationships/notesMaster" Target="/ppt/notesMasters/notesMaster1.xml" Id="R66e53d3c1a3049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565833e0904232" /><Relationship Type="http://schemas.openxmlformats.org/officeDocument/2006/relationships/notesMaster" Target="/ppt/notesMasters/notesMaster1.xml" Id="R44b010793de74d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1ebb0bcfd7406e" /><Relationship Type="http://schemas.openxmlformats.org/officeDocument/2006/relationships/notesMaster" Target="/ppt/notesMasters/notesMaster1.xml" Id="R3539fcb7a7be45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a806d09dd748d8" /><Relationship Type="http://schemas.openxmlformats.org/officeDocument/2006/relationships/notesMaster" Target="/ppt/notesMasters/notesMaster1.xml" Id="Ra741655385fc42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3f124745d3460c" /><Relationship Type="http://schemas.openxmlformats.org/officeDocument/2006/relationships/notesMaster" Target="/ppt/notesMasters/notesMaster1.xml" Id="R511c9427974a43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28e85c3add45ad" /><Relationship Type="http://schemas.openxmlformats.org/officeDocument/2006/relationships/notesMaster" Target="/ppt/notesMasters/notesMaster1.xml" Id="Re846f2fcd98244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8830e96b374973" /><Relationship Type="http://schemas.openxmlformats.org/officeDocument/2006/relationships/notesMaster" Target="/ppt/notesMasters/notesMaster1.xml" Id="Rc56e4f9810d648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4248c20d654d6a" /><Relationship Type="http://schemas.openxmlformats.org/officeDocument/2006/relationships/notesMaster" Target="/ppt/notesMasters/notesMaster1.xml" Id="Rb3ffec2c1f464e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62c851e82848f7" /><Relationship Type="http://schemas.openxmlformats.org/officeDocument/2006/relationships/notesMaster" Target="/ppt/notesMasters/notesMaster1.xml" Id="R3a585cdf83c240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8c1e89315146ce" /><Relationship Type="http://schemas.openxmlformats.org/officeDocument/2006/relationships/notesMaster" Target="/ppt/notesMasters/notesMaster1.xml" Id="R5edd5215ea1b40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2bd7fb26c842d7" /><Relationship Type="http://schemas.openxmlformats.org/officeDocument/2006/relationships/notesMaster" Target="/ppt/notesMasters/notesMaster1.xml" Id="R674b8cfdd15643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5925eae9b44c9a" /><Relationship Type="http://schemas.openxmlformats.org/officeDocument/2006/relationships/notesMaster" Target="/ppt/notesMasters/notesMaster1.xml" Id="R1db2fd5246644f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71fe4afdbf4690" /><Relationship Type="http://schemas.openxmlformats.org/officeDocument/2006/relationships/notesMaster" Target="/ppt/notesMasters/notesMaster1.xml" Id="R53340012a1c245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42ba0c3aa7e4866" /><Relationship Type="http://schemas.openxmlformats.org/officeDocument/2006/relationships/notesMaster" Target="/ppt/notesMasters/notesMaster1.xml" Id="R92544e78807947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  <a:p xmlns:a="http://schemas.openxmlformats.org/drawingml/2006/main">
            <a:r>
              <a:t>Week 3 results: https://github.com/mascon0423/ANA500/tree/main/week3. Professor feedback supplied by the student encourages neural comparisons and investigation of extremes.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  <a:p xmlns:a="http://schemas.openxmlformats.org/drawingml/2006/main">
            <a:r>
              <a:t>PyTorch RNN: https://docs.pytorch.org/docs/stable/generated/torch.nn.RNN.html</a:t>
            </a:r>
          </a:p>
          <a:p xmlns:a="http://schemas.openxmlformats.org/drawingml/2006/main">
            <a:r>
              <a:t>MLP regression: https://scikit-learn.org/stable/modules/neural_networks_supervised.html#regression</a:t>
            </a:r>
          </a:p>
          <a:p xmlns:a="http://schemas.openxmlformats.org/drawingml/2006/main">
            <a:r>
              <a:t>GroupKFold: https://scikit-learn.org/1.4/modules/generated/sklearn.model_selection.GroupKFold.html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  <a:p xmlns:a="http://schemas.openxmlformats.org/drawingml/2006/main">
            <a:r>
              <a:t>PyTorch RNN: https://docs.pytorch.org/docs/stable/generated/torch.nn.RNN.html</a:t>
            </a:r>
          </a:p>
          <a:p xmlns:a="http://schemas.openxmlformats.org/drawingml/2006/main">
            <a:r>
              <a:t>MLP regression: https://scikit-learn.org/stable/modules/neural_networks_supervised.html#regression</a:t>
            </a:r>
          </a:p>
          <a:p xmlns:a="http://schemas.openxmlformats.org/drawingml/2006/main">
            <a:r>
              <a:t>GroupKFold: https://scikit-learn.org/1.4/modules/generated/sklearn.model_selection.GroupKFold.html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  <a:p xmlns:a="http://schemas.openxmlformats.org/drawingml/2006/main">
            <a:r>
              <a:t>PyTorch RNN: https://docs.pytorch.org/docs/stable/generated/torch.nn.RNN.html</a:t>
            </a:r>
          </a:p>
          <a:p xmlns:a="http://schemas.openxmlformats.org/drawingml/2006/main">
            <a:r>
              <a:t>MLP regression: https://scikit-learn.org/stable/modules/neural_networks_supervised.html#regression</a:t>
            </a:r>
          </a:p>
          <a:p xmlns:a="http://schemas.openxmlformats.org/drawingml/2006/main">
            <a:r>
              <a:t>GroupKFold: https://scikit-learn.org/1.4/modules/generated/sklearn.model_selection.GroupKFold.html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in Micro_Project_4.ipynb and outputs/analysis_summary.json. Unweighted historical Adult sample. Input SHA-256: f2c62076f19504d99a38b22badf445a7f42530ade6b827acf78dd143fbce38bb</a:t>
            </a:r>
          </a:p>
          <a:p xmlns:a="http://schemas.openxmlformats.org/drawingml/2006/main">
            <a:r>
              <a:t>Becker, B., &amp; Kohavi, R. (1996). Adult [Dataset]. UCI Machine Learning Repository. https://doi.org/10.24432/C5XW20. CC BY 4.0. https://archive.ics.uci.edu/ml/machine-learning-databases/adult/adult.names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87bb2872640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9704b9cff46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ea940bee647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2e092d34449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d46fce0c540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41d9a3a2841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0053c24eb466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8a43462c546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0e37ea867473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8c77fa0ef409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9089fb421403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784A48-ED60-4C3D-8040-EA420D1376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9950468-0315-4B9D-B09C-8C8C8EBD6A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7C4A60-6695-4CB3-AF2E-ACFA3C0B87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2D2078-2F8D-45FB-9C14-17036DA5D3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DD9676-FA59-4F47-9033-2CFC797637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C04559-4EA9-4030-8CD7-225515C39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A446E6-DF6C-44D2-BA71-5D6445655C1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F5ECAD-0D49-425E-99BE-4E9A279761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B6268D-3BF4-472B-B1D5-5184896743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BF4C8E-AFA1-48CB-9BE5-583A376604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0CC60D-06AE-4839-A5F6-DB50DF8789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8C870F-1989-4744-AA64-C97EBC3080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3CF60B-312D-4E68-B904-78A68C9AF9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05CA4F-B8D7-4A59-A5BA-74DF90CC1D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1BAD61-51E4-4D1D-8E14-1EB20C0ECB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851454-95B8-455D-BFC1-6C6DA36031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3FBC0B-D342-4647-B5BA-5B6ADF294E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69BC10-2FBB-4372-AE80-21EC4AB47AF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9FE6231-D355-4CB0-AB68-1D21D4EB6A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B01BF01-A233-43E9-8949-BAADCAF957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4EA8DA2-49A7-4CD4-AD2A-B4AE89F09C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9A6AAD-2645-4527-94B3-3A3BECB928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031552-937E-4EAB-883E-C29FBC415B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3455D9-4697-44D3-AB55-9CADBE716D0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58DC7D-BF9A-4F54-AB58-1C49FFA17D7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D3AE0C-DB47-4E16-828A-3429714FADD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3C3C45-525E-4801-90AF-776B7EFC5A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B6704D-F5BC-4598-B7E7-5F53967A67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2D9A6A6-BB3C-4DD0-A205-F8593CED10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B609AA-EE0C-4FE6-8E30-99E91A13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7DA744A-AA0E-40C1-82B4-1865879ADE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1794A4-DA55-49C9-9EE1-51AFA79807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83A595F-05DA-41C2-AFB0-CC51AFDB9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85F4ACF-3F96-4D20-91DE-5A7A89B4A2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D2B232B-2221-443B-9621-C2FFF41601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2970A4F-5257-4439-983C-D802F7190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85D602-AEC1-494B-9EC8-423C9605B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AC75CB-286B-4E0D-946F-B2152E7923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B6FE692-594E-4FE0-A040-69DCF74AAA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4E66829-7538-463B-99D9-8920CBDF40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B5AFDF-77FC-4354-AF3B-008607F927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77315B-5282-41D1-99A3-2ADE83DA19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477A91-0A20-466E-9CA8-86B63BE8AF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8C2C4C-22CA-4398-A23B-4F068FB5A7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3574D67-2A27-42C6-815E-BE5AD10D36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9BB23AA-5E29-4400-B52D-822F13ED6B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368ADC-B329-411C-AA83-9EEADAE8A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778A6D9-A5FD-46E3-8F58-CDC4CC4B89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C59857-0725-4AFD-ADA1-93DE6885A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742F07-D500-4235-A3BD-4E9FA3C926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AB7CF7-F61A-47E7-B601-419FF069E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18C1B3-4CDE-4267-AF19-9C2FCF8602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D38641-A10F-457F-B6A9-3F574B2B26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A3A314E-DAF4-459C-AF7B-C7347C7639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7BE33E-4004-41A3-B3E6-14272F53B3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1A99DB-D8D6-44B2-B140-B5C0DD6988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1BF21E-4345-40CE-88C3-7C77ECC010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1F20F6-FD42-49EE-AE17-171924F498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18aff0ea5a43ab" /><Relationship Type="http://schemas.openxmlformats.org/officeDocument/2006/relationships/slideLayout" Target="/ppt/slideLayouts/slideLayout1.xml" Id="Rdcfc8468f4804986" /><Relationship Type="http://schemas.openxmlformats.org/officeDocument/2006/relationships/slideLayout" Target="/ppt/slideLayouts/slideLayout2.xml" Id="R5132085bcc784ae3" /><Relationship Type="http://schemas.openxmlformats.org/officeDocument/2006/relationships/slideLayout" Target="/ppt/slideLayouts/slideLayout3.xml" Id="Rc3d0ab78fefd445f" /><Relationship Type="http://schemas.openxmlformats.org/officeDocument/2006/relationships/slideLayout" Target="/ppt/slideLayouts/slideLayout4.xml" Id="Ra6036a4ddf474402" /><Relationship Type="http://schemas.openxmlformats.org/officeDocument/2006/relationships/slideLayout" Target="/ppt/slideLayouts/slideLayout5.xml" Id="Ra95f3c89caf04091" /><Relationship Type="http://schemas.openxmlformats.org/officeDocument/2006/relationships/slideLayout" Target="/ppt/slideLayouts/slideLayout6.xml" Id="Rba91d22cb99c41cc" /><Relationship Type="http://schemas.openxmlformats.org/officeDocument/2006/relationships/slideLayout" Target="/ppt/slideLayouts/slideLayout7.xml" Id="R2b4ebb07422c4ff7" /><Relationship Type="http://schemas.openxmlformats.org/officeDocument/2006/relationships/slideLayout" Target="/ppt/slideLayouts/slideLayout8.xml" Id="Rbfa0bfcf4d914e58" /><Relationship Type="http://schemas.openxmlformats.org/officeDocument/2006/relationships/slideLayout" Target="/ppt/slideLayouts/slideLayout9.xml" Id="R60e42b537510467e" /><Relationship Type="http://schemas.openxmlformats.org/officeDocument/2006/relationships/slideLayout" Target="/ppt/slideLayouts/slideLayout10.xml" Id="R4b017d53a1f24cb1" /><Relationship Type="http://schemas.openxmlformats.org/officeDocument/2006/relationships/slideLayout" Target="/ppt/slideLayouts/slideLayout11.xml" Id="Ra6d08060f6104b0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0B5F7E3-61B5-4449-80CF-04DA4D37A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CFC45A-DECF-4B86-87F6-C12B501A4F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C712EE-4BB3-49D3-9FAF-733EA6255E9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F52AFC1-4F45-459D-BC95-0F8F5E3A4294}" type="datetimeFigureOut">
              <a:t>3/1/2022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DFC8A3-CA43-47DE-88A0-18EE8FB2D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8CC4C2-DBD2-41A0-8542-0ED48583DA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BC5D697-CC64-4CAF-A466-D1105DD36B6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fc8468f4804986"/>
    <p:sldLayoutId xmlns:r="http://schemas.openxmlformats.org/officeDocument/2006/relationships" id="2147483650" r:id="R5132085bcc784ae3"/>
    <p:sldLayoutId xmlns:r="http://schemas.openxmlformats.org/officeDocument/2006/relationships" id="2147483651" r:id="Rc3d0ab78fefd445f"/>
    <p:sldLayoutId xmlns:r="http://schemas.openxmlformats.org/officeDocument/2006/relationships" id="2147483652" r:id="Ra6036a4ddf474402"/>
    <p:sldLayoutId xmlns:r="http://schemas.openxmlformats.org/officeDocument/2006/relationships" id="2147483653" r:id="Ra95f3c89caf04091"/>
    <p:sldLayoutId xmlns:r="http://schemas.openxmlformats.org/officeDocument/2006/relationships" id="2147483654" r:id="Rba91d22cb99c41cc"/>
    <p:sldLayoutId xmlns:r="http://schemas.openxmlformats.org/officeDocument/2006/relationships" id="2147483655" r:id="R2b4ebb07422c4ff7"/>
    <p:sldLayoutId xmlns:r="http://schemas.openxmlformats.org/officeDocument/2006/relationships" id="2147483656" r:id="Rbfa0bfcf4d914e58"/>
    <p:sldLayoutId xmlns:r="http://schemas.openxmlformats.org/officeDocument/2006/relationships" id="2147483657" r:id="R60e42b537510467e"/>
    <p:sldLayoutId xmlns:r="http://schemas.openxmlformats.org/officeDocument/2006/relationships" id="2147483658" r:id="R4b017d53a1f24cb1"/>
    <p:sldLayoutId xmlns:r="http://schemas.openxmlformats.org/officeDocument/2006/relationships" id="2147483659" r:id="Ra6d08060f6104b0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954ebdec24645c6"/><Relationship Type="http://schemas.openxmlformats.org/officeDocument/2006/relationships/notesSlide" Target="/ppt/notesSlides/notesSlide1.xml" Id="Rbaa15f0919814396"/><Relationship Id="rIdLink3" Type="http://schemas.openxmlformats.org/officeDocument/2006/relationships/hyperlink" Target="https://github.com/mascon0423/ANA500/tree/main/week4" TargetMode="External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35ad983ab84959" /><Relationship Type="http://schemas.openxmlformats.org/officeDocument/2006/relationships/notesSlide" Target="/ppt/notesSlides/notesSlide2.xml" Id="R2f4880e5bbb746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b1076eca534189" /><Relationship Type="http://schemas.openxmlformats.org/officeDocument/2006/relationships/notesSlide" Target="/ppt/notesSlides/notesSlide3.xml" Id="Rca0cecd4dcb743b9" 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e5ba5fc08ec7473e"/><Relationship Type="http://schemas.openxmlformats.org/officeDocument/2006/relationships/notesSlide" Target="/ppt/notesSlides/notesSlide4.xml" Id="R42c83a305ded48e0"/><Relationship Id="rIdLink3" Type="http://schemas.openxmlformats.org/officeDocument/2006/relationships/hyperlink" Target="https://doi.org/10.24432/C5XW20" TargetMode="External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546535d16e4b93" /><Relationship Type="http://schemas.openxmlformats.org/officeDocument/2006/relationships/notesSlide" Target="/ppt/notesSlides/notesSlide5.xml" Id="Reff0156e64ea46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db7530297a4e4d" /><Relationship Type="http://schemas.openxmlformats.org/officeDocument/2006/relationships/notesSlide" Target="/ppt/notesSlides/notesSlide6.xml" Id="Rd917c5794cb548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b7d3d4e6d54734" /><Relationship Type="http://schemas.openxmlformats.org/officeDocument/2006/relationships/chart" Target="/ppt/slides/charts/chart1.xml" Id="Ra37b8e27fdba4e99" /><Relationship Type="http://schemas.openxmlformats.org/officeDocument/2006/relationships/notesSlide" Target="/ppt/notesSlides/notesSlide7.xml" Id="R4ab839b2772b45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455bf939f4790" /><Relationship Type="http://schemas.openxmlformats.org/officeDocument/2006/relationships/notesSlide" Target="/ppt/notesSlides/notesSlide8.xml" Id="R7740e81133904b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27c0af86cf47be" /><Relationship Type="http://schemas.openxmlformats.org/officeDocument/2006/relationships/notesSlide" Target="/ppt/notesSlides/notesSlide9.xml" Id="Refdb3b88fef840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ff5e749a314e35" /><Relationship Type="http://schemas.openxmlformats.org/officeDocument/2006/relationships/notesSlide" Target="/ppt/notesSlides/notesSlide10.xml" Id="R2cb2b2e466fd4b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881aa25a5b4d77" /><Relationship Type="http://schemas.openxmlformats.org/officeDocument/2006/relationships/notesSlide" Target="/ppt/notesSlides/notesSlide11.xml" Id="R551a6c29676c4c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a09d04740b4836" /><Relationship Type="http://schemas.openxmlformats.org/officeDocument/2006/relationships/notesSlide" Target="/ppt/notesSlides/notesSlide12.xml" Id="Re127530a98dc4a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c0a3e661c144a3" /><Relationship Type="http://schemas.openxmlformats.org/officeDocument/2006/relationships/chart" Target="/ppt/slides/charts/chart2.xml" Id="Rd665b3bd6d08475d" /><Relationship Type="http://schemas.openxmlformats.org/officeDocument/2006/relationships/notesSlide" Target="/ppt/notesSlides/notesSlide13.xml" Id="Rb05785ac67dc46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77067ff752406e" /><Relationship Type="http://schemas.openxmlformats.org/officeDocument/2006/relationships/chart" Target="/ppt/slides/charts/chart3.xml" Id="Rdc9b036b51bb4e2b" /><Relationship Type="http://schemas.openxmlformats.org/officeDocument/2006/relationships/notesSlide" Target="/ppt/notesSlides/notesSlide14.xml" Id="Rf75b8bd26f9645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5aab88647e4d1f" /><Relationship Type="http://schemas.openxmlformats.org/officeDocument/2006/relationships/chart" Target="/ppt/slides/charts/chart4.xml" Id="Rd55eaca4a38c44eb" /><Relationship Type="http://schemas.openxmlformats.org/officeDocument/2006/relationships/notesSlide" Target="/ppt/notesSlides/notesSlide15.xml" Id="Rb91d6f0f84d64b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c5ef9923e44e10" /><Relationship Type="http://schemas.openxmlformats.org/officeDocument/2006/relationships/chart" Target="/ppt/slides/charts/chart5.xml" Id="R7fceb477ea864d69" /><Relationship Type="http://schemas.openxmlformats.org/officeDocument/2006/relationships/notesSlide" Target="/ppt/notesSlides/notesSlide16.xml" Id="R3f21a96b97de43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91a53335d444b7" /><Relationship Type="http://schemas.openxmlformats.org/officeDocument/2006/relationships/chart" Target="/ppt/slides/charts/chart6.xml" Id="Rcc5a452d12fe47f1" /><Relationship Type="http://schemas.openxmlformats.org/officeDocument/2006/relationships/notesSlide" Target="/ppt/notesSlides/notesSlide17.xml" Id="Rbb8df32e901b4f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a51b31a8314109" /><Relationship Type="http://schemas.openxmlformats.org/officeDocument/2006/relationships/notesSlide" Target="/ppt/notesSlides/notesSlide18.xml" Id="R826bf7fa1d5945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256f6f33a04672" /><Relationship Type="http://schemas.openxmlformats.org/officeDocument/2006/relationships/notesSlide" Target="/ppt/notesSlides/notesSlide19.xml" Id="Rf63646ae83a94c8d" 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5ee1f7a71e804c37"/><Relationship Type="http://schemas.openxmlformats.org/officeDocument/2006/relationships/notesSlide" Target="/ppt/notesSlides/notesSlide20.xml" Id="Re5243a7cf6854a06"/><Relationship Id="rIdLink3" Type="http://schemas.openxmlformats.org/officeDocument/2006/relationships/hyperlink" Target="https://github.com/mascon0423/ANA500/tree/main/week4" TargetMode="External"/><Relationship Id="rIdLink4" Type="http://schemas.openxmlformats.org/officeDocument/2006/relationships/hyperlink" Target="https://doi.org/10.24432/C5XW20" TargetMode="External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 records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Data'!$A$2:$A$5</c:f>
              <c:strCache>
                <c:ptCount val="4"/>
                <c:pt idx="0">
                  <c:v>Under 35</c:v>
                </c:pt>
                <c:pt idx="1">
                  <c:v>35-39</c:v>
                </c:pt>
                <c:pt idx="2">
                  <c:v>40</c:v>
                </c:pt>
                <c:pt idx="3">
                  <c:v>Over 40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4459</c:v>
                </c:pt>
                <c:pt idx="1">
                  <c:v>1785</c:v>
                </c:pt>
                <c:pt idx="2">
                  <c:v>12194</c:v>
                </c:pt>
                <c:pt idx="3">
                  <c:v>7610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4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Number of training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35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 RMSE</c:v>
          </c:tx>
          <c:spPr>
            <a:solidFill xmlns:a="http://schemas.openxmlformats.org/drawingml/2006/main">
              <a:srgbClr val="245E8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8888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8888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8888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AA652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666666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45E83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AA6520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666666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245E83"/>
              </a:solidFill>
            </c:spPr>
          </c:dPt>
          <c:cat>
            <c:strRef>
              <c:f>'Chart Data'!$A$2:$A$10</c:f>
              <c:strCache>
                <c:ptCount val="9"/>
                <c:pt idx="0">
                  <c:v>Mean baseline</c:v>
                </c:pt>
                <c:pt idx="1">
                  <c:v>Linear - core</c:v>
                </c:pt>
                <c:pt idx="2">
                  <c:v>Tree - core</c:v>
                </c:pt>
                <c:pt idx="3">
                  <c:v>RNN - core</c:v>
                </c:pt>
                <c:pt idx="4">
                  <c:v>SVR - core</c:v>
                </c:pt>
                <c:pt idx="5">
                  <c:v>MLP - core</c:v>
                </c:pt>
                <c:pt idx="6">
                  <c:v>RNN - expanded</c:v>
                </c:pt>
                <c:pt idx="7">
                  <c:v>SVR - expanded</c:v>
                </c:pt>
                <c:pt idx="8">
                  <c:v>MLP - expanded</c:v>
                </c:pt>
              </c:strCache>
            </c:strRef>
          </c:cat>
          <c:val>
            <c:numRef>
              <c:f>'Chart Data'!$B$2:$B$10</c:f>
              <c:numCache>
                <c:formatCode>0.00</c:formatCode>
                <c:ptCount val="9"/>
                <c:pt idx="0">
                  <c:v>12.370886</c:v>
                </c:pt>
                <c:pt idx="1">
                  <c:v>11.565303</c:v>
                </c:pt>
                <c:pt idx="2">
                  <c:v>10.96403</c:v>
                </c:pt>
                <c:pt idx="3">
                  <c:v>10.946683</c:v>
                </c:pt>
                <c:pt idx="4">
                  <c:v>10.889021</c:v>
                </c:pt>
                <c:pt idx="5">
                  <c:v>10.816709</c:v>
                </c:pt>
                <c:pt idx="6">
                  <c:v>10.779855</c:v>
                </c:pt>
                <c:pt idx="7">
                  <c:v>10.714314</c:v>
                </c:pt>
                <c:pt idx="8">
                  <c:v>10.649733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RMSE (work hours)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4 original features</c:v>
          </c:tx>
          <c:spPr>
            <a:solidFill xmlns:a="http://schemas.openxmlformats.org/drawingml/2006/main">
              <a:srgbClr val="666666"/>
            </a:solidFill>
          </c:spPr>
          <c:cat>
            <c:strRef>
              <c:f>'Chart Data'!$A$2:$A$4</c:f>
              <c:strCache>
                <c:ptCount val="3"/>
                <c:pt idx="0">
                  <c:v>SVR</c:v>
                </c:pt>
                <c:pt idx="1">
                  <c:v>MLP</c:v>
                </c:pt>
                <c:pt idx="2">
                  <c:v>RNN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10.889021</c:v>
                </c:pt>
                <c:pt idx="1">
                  <c:v>10.816709</c:v>
                </c:pt>
                <c:pt idx="2">
                  <c:v>10.946683</c:v>
                </c:pt>
              </c:numCache>
            </c:numRef>
          </c:val>
        </c:ser>
        <c:ser>
          <c:idx val="1"/>
          <c:order val="1"/>
          <c:tx>
            <c:v>7 expanded features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Data'!$C$2:$C$4</c:f>
              <c:strCache>
                <c:ptCount val="3"/>
                <c:pt idx="0">
                  <c:v>SVR</c:v>
                </c:pt>
                <c:pt idx="1">
                  <c:v>MLP</c:v>
                </c:pt>
                <c:pt idx="2">
                  <c:v>RNN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10.714314</c:v>
                </c:pt>
                <c:pt idx="1">
                  <c:v>10.649733</c:v>
                </c:pt>
                <c:pt idx="2">
                  <c:v>10.779855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RMSE (work hours)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SVR - core</c:v>
          </c:tx>
          <c:spPr>
            <a:solidFill xmlns:a="http://schemas.openxmlformats.org/drawingml/2006/main">
              <a:srgbClr val="888888"/>
            </a:solidFill>
          </c:spPr>
          <c:cat>
            <c:strRef>
              <c:f>'Chart Data'!$A$2:$A$4</c:f>
              <c:strCache>
                <c:ptCount val="3"/>
                <c:pt idx="0">
                  <c:v>Under 35
n=1,124</c:v>
                </c:pt>
                <c:pt idx="1">
                  <c:v>35-40
n=3,418</c:v>
                </c:pt>
                <c:pt idx="2">
                  <c:v>Over 40
n=1,971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13.808411</c:v>
                </c:pt>
                <c:pt idx="1">
                  <c:v>2.754097</c:v>
                </c:pt>
                <c:pt idx="2">
                  <c:v>11.02217</c:v>
                </c:pt>
              </c:numCache>
            </c:numRef>
          </c:val>
        </c:ser>
        <c:ser>
          <c:idx val="1"/>
          <c:order val="1"/>
          <c:tx>
            <c:v>SVR - expanded</c:v>
          </c:tx>
          <c:spPr>
            <a:solidFill xmlns:a="http://schemas.openxmlformats.org/drawingml/2006/main">
              <a:srgbClr val="444444"/>
            </a:solidFill>
          </c:spPr>
          <c:cat>
            <c:strRef>
              <c:f>'Chart Data'!$C$2:$C$4</c:f>
              <c:strCache>
                <c:ptCount val="3"/>
                <c:pt idx="0">
                  <c:v>Under 35
n=1,124</c:v>
                </c:pt>
                <c:pt idx="1">
                  <c:v>35-40
n=3,418</c:v>
                </c:pt>
                <c:pt idx="2">
                  <c:v>Over 40
n=1,971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13.527304</c:v>
                </c:pt>
                <c:pt idx="1">
                  <c:v>3.005221</c:v>
                </c:pt>
                <c:pt idx="2">
                  <c:v>10.425696</c:v>
                </c:pt>
              </c:numCache>
            </c:numRef>
          </c:val>
        </c:ser>
        <c:ser>
          <c:idx val="2"/>
          <c:order val="2"/>
          <c:tx>
            <c:v>MLP - expanded</c:v>
          </c:tx>
          <c:spPr>
            <a:solidFill xmlns:a="http://schemas.openxmlformats.org/drawingml/2006/main">
              <a:srgbClr val="245E83"/>
            </a:solidFill>
          </c:spPr>
          <c:cat>
            <c:strRef>
              <c:f>'Chart Data'!$E$2:$E$4</c:f>
              <c:strCache>
                <c:ptCount val="3"/>
                <c:pt idx="0">
                  <c:v>Under 35
n=1,124</c:v>
                </c:pt>
                <c:pt idx="1">
                  <c:v>35-40
n=3,418</c:v>
                </c:pt>
                <c:pt idx="2">
                  <c:v>Over 40
n=1,971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12.621408</c:v>
                </c:pt>
                <c:pt idx="1">
                  <c:v>3.729466</c:v>
                </c:pt>
                <c:pt idx="2">
                  <c:v>10.291472</c:v>
                </c:pt>
              </c:numCache>
            </c:numRef>
          </c:val>
        </c:ser>
        <c:ser>
          <c:idx val="3"/>
          <c:order val="3"/>
          <c:tx>
            <c:v>RNN - expanded</c:v>
          </c:tx>
          <c:spPr>
            <a:solidFill xmlns:a="http://schemas.openxmlformats.org/drawingml/2006/main">
              <a:srgbClr val="AA6520"/>
            </a:solidFill>
          </c:spPr>
          <c:cat>
            <c:strRef>
              <c:f>'Chart Data'!$G$2:$G$4</c:f>
              <c:strCache>
                <c:ptCount val="3"/>
                <c:pt idx="0">
                  <c:v>Under 35
n=1,124</c:v>
                </c:pt>
                <c:pt idx="1">
                  <c:v>35-40
n=3,418</c:v>
                </c:pt>
                <c:pt idx="2">
                  <c:v>Over 40
n=1,971</c:v>
                </c:pt>
              </c:strCache>
            </c:strRef>
          </c:cat>
          <c:val>
            <c:numRef>
              <c:f>'Chart Data'!$H$2:$H$4</c:f>
              <c:numCache>
                <c:formatCode>0.00</c:formatCode>
                <c:ptCount val="3"/>
                <c:pt idx="0">
                  <c:v>11.640314</c:v>
                </c:pt>
                <c:pt idx="1">
                  <c:v>3.671672</c:v>
                </c:pt>
                <c:pt idx="2">
                  <c:v>11.106384</c:v>
                </c:pt>
              </c:numCache>
            </c:numRef>
          </c:val>
        </c:ser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MAE (work hours)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SVR - core</c:v>
          </c:tx>
          <c:spPr>
            <a:solidFill xmlns:a="http://schemas.openxmlformats.org/drawingml/2006/main">
              <a:srgbClr val="88888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Under 35
n=1,124</c:v>
                </c:pt>
                <c:pt idx="1">
                  <c:v>35-40
n=3,418</c:v>
                </c:pt>
                <c:pt idx="2">
                  <c:v>Over 40
n=1,971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13.247629</c:v>
                </c:pt>
                <c:pt idx="1">
                  <c:v>0.726005</c:v>
                </c:pt>
                <c:pt idx="2">
                  <c:v>-10.732283</c:v>
                </c:pt>
              </c:numCache>
            </c:numRef>
          </c:val>
        </c:ser>
        <c:ser>
          <c:idx val="1"/>
          <c:order val="1"/>
          <c:tx>
            <c:v>SVR - expanded</c:v>
          </c:tx>
          <c:spPr>
            <a:solidFill xmlns:a="http://schemas.openxmlformats.org/drawingml/2006/main">
              <a:srgbClr val="444444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Under 35
n=1,124</c:v>
                </c:pt>
                <c:pt idx="1">
                  <c:v>35-40
n=3,418</c:v>
                </c:pt>
                <c:pt idx="2">
                  <c:v>Over 40
n=1,971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12.81921</c:v>
                </c:pt>
                <c:pt idx="1">
                  <c:v>0.789908</c:v>
                </c:pt>
                <c:pt idx="2">
                  <c:v>-10.061177</c:v>
                </c:pt>
              </c:numCache>
            </c:numRef>
          </c:val>
        </c:ser>
        <c:ser>
          <c:idx val="2"/>
          <c:order val="2"/>
          <c:tx>
            <c:v>MLP - expanded</c:v>
          </c:tx>
          <c:spPr>
            <a:solidFill xmlns:a="http://schemas.openxmlformats.org/drawingml/2006/main">
              <a:srgbClr val="245E83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Under 35
n=1,124</c:v>
                </c:pt>
                <c:pt idx="1">
                  <c:v>35-40
n=3,418</c:v>
                </c:pt>
                <c:pt idx="2">
                  <c:v>Over 40
n=1,971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12.08289</c:v>
                </c:pt>
                <c:pt idx="1">
                  <c:v>0.480384</c:v>
                </c:pt>
                <c:pt idx="2">
                  <c:v>-9.830934</c:v>
                </c:pt>
              </c:numCache>
            </c:numRef>
          </c:val>
        </c:ser>
        <c:ser>
          <c:idx val="3"/>
          <c:order val="3"/>
          <c:tx>
            <c:v>RNN - expanded</c:v>
          </c:tx>
          <c:spPr>
            <a:solidFill xmlns:a="http://schemas.openxmlformats.org/drawingml/2006/main">
              <a:srgbClr val="AA6520"/>
            </a:solidFill>
          </c:spPr>
          <c:invertIfNegative val="0"/>
          <c:cat>
            <c:strRef>
              <c:f>'Chart Data'!$G$2:$G$4</c:f>
              <c:strCache>
                <c:ptCount val="3"/>
                <c:pt idx="0">
                  <c:v>Under 35
n=1,124</c:v>
                </c:pt>
                <c:pt idx="1">
                  <c:v>35-40
n=3,418</c:v>
                </c:pt>
                <c:pt idx="2">
                  <c:v>Over 40
n=1,971</c:v>
                </c:pt>
              </c:strCache>
            </c:strRef>
          </c:cat>
          <c:val>
            <c:numRef>
              <c:f>'Chart Data'!$H$2:$H$4</c:f>
              <c:numCache>
                <c:formatCode>0.00</c:formatCode>
                <c:ptCount val="3"/>
                <c:pt idx="0">
                  <c:v>10.576258</c:v>
                </c:pt>
                <c:pt idx="1">
                  <c:v>-0.50912</c:v>
                </c:pt>
                <c:pt idx="2">
                  <c:v>-10.794696</c:v>
                </c:pt>
              </c:numCache>
            </c:numRef>
          </c:val>
        </c:ser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-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Mean bias (work hours)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CV RMSE</c:v>
          </c:tx>
          <c:spPr>
            <a:solidFill xmlns:a="http://schemas.openxmlformats.org/drawingml/2006/main">
              <a:srgbClr val="AA6520"/>
            </a:solidFill>
          </c:spPr>
          <c:cat>
            <c:strRef>
              <c:f>'Chart Data'!$A$2:$A$4</c:f>
              <c:strCache>
                <c:ptCount val="3"/>
                <c:pt idx="0">
                  <c:v>Original</c:v>
                </c:pt>
                <c:pt idx="1">
                  <c:v>Reversed</c:v>
                </c:pt>
                <c:pt idx="2">
                  <c:v>Shuffled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10.672778</c:v>
                </c:pt>
                <c:pt idx="1">
                  <c:v>10.646952</c:v>
                </c:pt>
                <c:pt idx="2">
                  <c:v>10.662147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CV RMSE (work hours)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33333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EFD3DB-B193-4E72-861B-FE835A2E1F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4400">
                <a:latin typeface="Calibri Light"/>
                <a:ea typeface="Calibri Light"/>
                <a:cs typeface="Calibri Light"/>
              </a:rPr>
              <a:t>Predicting Weekly Work Hours</a:t>
            </a:r>
          </a:p>
          <a:p xmlns:a="http://schemas.openxmlformats.org/drawingml/2006/main">
            <a:r>
              <a:rPr sz="3500">
                <a:latin typeface="Calibri Light"/>
                <a:ea typeface="Calibri Light"/>
                <a:cs typeface="Calibri Light"/>
              </a:rPr>
              <a:t>Micro-Project 4: Neural Networks</a:t>
            </a:r>
          </a:p>
          <a:p xmlns:a="http://schemas.openxmlformats.org/drawingml/2006/main">
            <a:r>
              <a:rPr sz="2200">
                <a:solidFill>
                  <a:srgbClr val="245E83"/>
                </a:solidFill>
                <a:latin typeface="Calibri Light"/>
                <a:ea typeface="Calibri Light"/>
                <a:cs typeface="Calibri Light"/>
                <a:hlinkClick xmlns:ns0="http://schemas.openxmlformats.org/officeDocument/2006/relationships" ns0:id="rIdLink3"/>
              </a:rPr>
              <a:t>https://github.com/mascon0423/ANA500/tree/main/week4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6B5E315-C208-479B-A6B8-0DCBEF2B5F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Douglas Bobeck</a:t>
            </a:r>
          </a:p>
          <a:p xmlns:a="http://schemas.openxmlformats.org/drawingml/2006/main">
            <a:r>
              <a:t>October 11, 2026</a:t>
            </a:r>
          </a:p>
        </p:txBody>
      </p:sp>
    </p:spTree>
    <p:extLst>
      <p:ext uri="{BB962C8B-B14F-4D97-AF65-F5344CB8AC3E}">
        <p14:creationId xmlns:p14="http://schemas.microsoft.com/office/powerpoint/2010/main" val="36512514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8302AB-CEDA-4E89-A1DC-6BABC9C3F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AD07EA-4B74-4BFA-A23D-5147B6A28F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3 predicted weekly work hours from age, education, occupation, and workclass. SVR improved on the mean baseline.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remaining problem: shorter workweeks were overpredicted and longer workweeks were underpredicted.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Question: Can neural networks and additional demographic information improve overall predictions and errors at these extremes?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Continue with the same Adult dataset, numerical work-hour outcome, test records, and grouped cross-validation framework.</a:t>
            </a:r>
          </a:p>
        </p:txBody>
      </p:sp>
    </p:spTree>
    <p:extLst>
      <p:ext uri="{BB962C8B-B14F-4D97-AF65-F5344CB8AC3E}">
        <p14:creationId xmlns:p14="http://schemas.microsoft.com/office/powerpoint/2010/main" val="18806784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29C91F-7913-4D5C-A911-ADD4837DA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Hypothesis Formulation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5A42CE-FCD3-41B9-A629-5F3C6031F3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neural network using additional household and demographic information may improve predictions compared with Week 3's four-feature SVR.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Possible explanation: nonlinear relationships and added context may capture differences in work hours that the earlier models missed.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Full support requires lower overall test RMSE and lower MAE for both under-35 and over-40 hour workweeks. Report partial improvements separately.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Include a recurrent neural network (RNN) to address the assignment. Compare it with a multilayer perceptron (MLP) and choose using validation results.</a:t>
            </a:r>
          </a:p>
        </p:txBody>
      </p:sp>
    </p:spTree>
    <p:extLst>
      <p:ext uri="{BB962C8B-B14F-4D97-AF65-F5344CB8AC3E}">
        <p14:creationId xmlns:p14="http://schemas.microsoft.com/office/powerpoint/2010/main" val="33069587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Acquire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unchanged Adult CSV from Weeks 1-3: 32,561 records and 15 columns from the UCI training sample.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source describes the 1994 Census database. Weekly work hours are numerical; this project predicts hours, not income categories.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Keep source row order and verify the CSV checksum. Save split membership and reference results from Week 3.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Tools: Jupyter Notebook, Python, Pandas, NumPy, Matplotlib, scikit-learn, and PyTorch.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xmlns:ns0="http://schemas.openxmlformats.org/officeDocument/2006/relationships" ns0:id="rIdLink3"/>
              </a:rPr>
              <a:t>Becker &amp; Kohavi (1996). Adult. https://doi.org/10.24432/C5XW20</a:t>
            </a:r>
          </a:p>
        </p:txBody>
      </p:sp>
    </p:spTree>
    <p:extLst>
      <p:ext uri="{BB962C8B-B14F-4D97-AF65-F5344CB8AC3E}">
        <p14:creationId xmlns:p14="http://schemas.microsoft.com/office/powerpoint/2010/main" val="4270231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Prepare: Original and Expanded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1B7B1-DC76-41A7-BFBA-27EA6663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Retain original numerical age and hours. Missing workclass and occupation become Unknown. Use each record equally.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F37D9-856A-44CD-A72D-D4645781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353050"/>
                <a:gridCol w="3810000"/>
              </a:tblGrid>
              <a:tr h="8239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Feature set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Predictors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</a:tr>
              <a:tr h="8239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Core: 4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Age, education, occupation, workclass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Direct continuation of Week 3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8239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Expanded: 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Core plus marital status, relationship, sex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 whether added context improves predictions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8239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Excluded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Hours or hour groups, income, fnlwgt, duplicate education code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Avoid outcome leakage; keep unweighted sample scope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AAC0B-1BCC-4C82-BD66-9D6DACF0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Historical demographic associations do not establish causes or justify individual employment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Prepare: Same Evaluation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F1BE2-3AFE-4E6E-8385-955452A4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earlier test results motivated this follow-up. This is an internal comparison on familiar records, not a new independent validation sample.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91B17-B0DC-408B-97DD-3C3DE1F1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571875"/>
                <a:gridCol w="5067300"/>
              </a:tblGrid>
              <a:tr h="72961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Stage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Records / folds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Use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Training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26,048 records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Fit transformations and models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Cross-validation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Same 3 grouped folds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Choose model and settings by mean RMSE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Inner stopping split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80/20 within each fold's training portion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Choose neural epochs without using the scored fold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Same 6,513 records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Evaluate fixed choices and inspect errors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080C8-CBA1-464F-894F-6F53F767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Exact repeated full profiles stay together in every split.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Prepare: Work-Hour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8312A-D77A-4407-A12C-461EA9AE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concentration at 40 hours makes it important to examine short and long workweeks separately. Groups here describe training records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802EE-F1D9-4110-A97C-D67C15E8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7b8e27fdba4e99"/>
          </a:graphicData>
        </a:graphic>
      </p:graphicFrame>
    </p:spTree>
    <p:extLst>
      <p:ext uri="{BB962C8B-B14F-4D97-AF65-F5344CB8AC3E}">
        <p14:creationId xmlns:p14="http://schemas.microsoft.com/office/powerpoint/2010/main" val="23099084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98C1A2-E365-4EAD-A777-10EF9BD25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Neural Network Architectures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BBCA9-9902-4E94-9518-4CD635CB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Both families use the same information for each feature set. Every model predicts one continuous value: weekly work hours.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56D0E-9DC1-4D92-9420-0E5616A3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067175"/>
                <a:gridCol w="2095500"/>
                <a:gridCol w="2095500"/>
              </a:tblGrid>
              <a:tr h="68199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Selected hidden size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Final epochs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Parameters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MLP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32, then 16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33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1,793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RNN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 recurrent layers of 16; dense 16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1,425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MLP - expanded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32, then 16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2,177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RNN - expanded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 recurrent layers of 32; dense 16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4,449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2789A-08AA-4653-B88D-B217C2FA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Tested two sizes per neural family and feature set; no claim that these are optimal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40241087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Why Include an RNN?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 included an RNN to address the assignment instruction and compare it with a dense MLP.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Adult dataset has no natural time sequence. The RNN processes a fixed order of fields within one person's record.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Each step contains encoded field values and a field identifier. The hidden state resets for each person; people are never linked into a sequence.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order is artificial. Retrain the preferred RNN with reversed and shuffled field orders to examine sensitivity using training cross-validation.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choice should follow the data structure, prediction target, and validation evidence. An assigned architecture is not assumed to be best.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Training and Model Selection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same three grouped CV folds for all methods. Fit scaling and category encoding only within the relevant training portion.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Neural models: Adam, learning rate 0.001, weight decay 0.001, batches of 256, maximum 60 epochs, and patience 8.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inner grouped split chooses the epoch. Then refit the whole outer training portion for that fixed duration before scoring the outer fold.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Refit each chosen neural configuration on all training rows using the median epoch from its three folds. Use seed 42 and deterministic CPU operations.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expanded SVR tests the original C/epsilon grid. The four Week 3 models reproduce their earlier results using the saved settings.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Analyze: Cross-Validation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3BA41-2072-49C3-B99D-BB503904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MLP - expanded is preferred by CV RMSE. This choice is fixed before test scoring. Fold SD describes three-fold variation, not a confidence interval.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0EF0F-841E-49AB-9C3F-611149CC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333750"/>
                <a:gridCol w="2686050"/>
              </a:tblGrid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CV RMSE (hours)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Fold SD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Mean baseline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12.340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0.240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Linear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11.542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0.199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SVR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10.926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0.187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Tree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11.021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0.167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SVR - expanded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10.707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0.166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MLP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10.833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0.182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RNN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10.851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0.187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MLP - expanded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10.667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0.171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RNN - expanded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10.673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0.154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332F1-EBB9-42BE-BBCD-7FBFC51B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MAE = mean absolute error; RMSE = root mean squared error. Both are in hours; lower is better. All models use the same 6,513 test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083E2-5F3D-49AE-BC86-FC9E18DA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324100"/>
                <a:gridCol w="2324100"/>
                <a:gridCol w="2228850"/>
              </a:tblGrid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MAE (hours)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RMSE (hours)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R-squared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Mean baseline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7.61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12.37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-0.000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Linear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7.87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11.57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0.126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SVR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7.16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10.89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0.225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Tree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7.49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10.96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0.214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SVR - expanded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7.07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10.71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0.250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MLP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7.34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10.82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0.235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RNN - core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7.36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10.95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0.217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MLP - expanded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7.25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10.65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0.259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RNN - expanded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7.30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10.78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0.240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Test RMSE (Work Hours)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131D2-2514-4655-ADEE-B1DC396D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CV choice remains MLP - expanded. Test rankings describe performance on these records and do not trigger another round of tuning.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D8A2C-11CA-42F6-9E8F-9A1DF8D6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65b3bd6d08475d"/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Additional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9A7D7-6EF7-4C91-B7E9-CB26FEFF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Compare feature sets within each family. An improvement from expanded inputs alone does not establish that a neural architecture caused the gain.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1772B-BDB9-405E-A8ED-B42B4A7C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9b036b51bb4e2b"/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Errors at the Extremes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8EB79-1899-45FB-92C1-D5D628E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Groups are defined by actual test hours for diagnosis only. Lower MAE means a smaller average miss; group sizes are retained.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617ED-B4B8-46A3-8229-690A16B5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5eaca4a38c44eb"/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Bias by Workweek Length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B9F81-7C66-4B13-A811-B94552E4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Bias = predicted minus actual hours. Positive means overprediction; negative means underprediction. A small overall error can hide large group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8BAF8-1226-4940-A350-232AFDA3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ceb477ea864d69"/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RNN Feature-Order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BC8A4-5D5A-4507-9782-069CB73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Reversed order scores slightly below MLP's 10.667 CV RMSE. These order diagnostics do not change selection or use test scores. No decisive architecture advantage is established.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DCE68-17C8-40B5-A637-DA2FB722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5a452d12fe47f1"/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Findings and Model Fit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MLP - expanded was selected by CV. Test RMSE is 10.65 hours and MAE is 7.25 hours.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 seven inputs, MLP test RMSE (10.65) is lower than RNN (10.78). Expanded SVR has RMSE 10.71.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MLP - expanded changes RMSE by 2.2% lower versus Week 3 SVR (10.89). All three stated hypothesis criteria are met.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RNN has lower short-workweek MAE (11.64 versus 12.62). Expanded SVR has lower overall MAE (7.07 versus 7.25).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data, outcome, and validation evidence should guide model choice. Artificial field order and a limited search prevent a general claim that MLP is superior.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Act: Apply the Selected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D7580-ED7A-4CE3-B585-17C75777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First five test rows in source order, using MLP - expanded. These examples are not selected for accuracy and do not prescribe individual schedules.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749E8-0B67-492C-80E0-5027FFA0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UCI Adult; unweighted historical sample. Same Week 3 partitions and grouped CV folds.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4572000"/>
                <a:gridCol w="2533650"/>
                <a:gridCol w="2533650"/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Age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Occupation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Actual hours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Predicted hours</a:t>
                      </a:r>
                    </a:p>
                  </a:txBody>
                  <a:tcPr marL="104775" marR="85725" marT="66675" marB="66675" anchor="ctr">
                    <a:solidFill>
                      <a:srgbClr val="E9EEF2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Other-service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34.58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31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Prof-specialty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40.92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Protective-serv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52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41.27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Adm-clerical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43.45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Other-service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32.42</a:t>
                      </a:r>
                    </a:p>
                  </a:txBody>
                  <a:tcPr marL="104775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9804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Act: Decision and Next Steps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Retain MLP - expanded as the preferred method in this comparison. Keep the Week 3 models and mean baseline as reference points.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Continue investigating errors for short and long workweeks. An average improvement is not enough for individual scheduling or employment decisions.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 current independent data, additional seeds and splits, and fairness across relevant groups before considering operational use.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same historical test set has already informed this project. Results are internal comparisons; additional information and acceptable-error criteria are still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AEC3E-2F46-460E-A36C-E24C7441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000000"/>
                </a:solidFill>
                <a:latin typeface="Calibri"/>
                <a:ea typeface="Calibri"/>
                <a:cs typeface="Calibri"/>
                <a:hlinkClick xmlns:ns0="http://schemas.openxmlformats.org/officeDocument/2006/relationships" ns0:id="rIdLink3"/>
              </a:rPr>
              <a:t>https://github.com/mascon0423/ANA500/tree/main/week4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20DD5-6997-4512-A382-6A341A37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  <a:hlinkClick xmlns:ns1="http://schemas.openxmlformats.org/officeDocument/2006/relationships" ns1:id="rIdLink4"/>
              </a:rPr>
              <a:t>Data: https://doi.org/10.24432/C5XW20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2026-10-11T14:58:04.4870000Z</dcterms:created>
  <dcterms:modified xsi:type="dcterms:W3CDTF">2026-10-11T14:58:04.4870000Z</dcterms:modified>
</coreProperties>
</file>