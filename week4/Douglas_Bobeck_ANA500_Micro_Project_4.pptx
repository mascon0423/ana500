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2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3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4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5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65aee36577041dc" /><Relationship Type="http://schemas.openxmlformats.org/officeDocument/2006/relationships/extended-properties" Target="/docProps/app.xml" Id="R63aa62220d53431a" /><Relationship Type="http://schemas.openxmlformats.org/officeDocument/2006/relationships/officeDocument" Target="/ppt/presentation.xml" Id="Rea3d7d6ec07545a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2f6bae686ec4081"/>
  </p:sldMasterIdLst>
  <p:notesMasterIdLst>
    <p:notesMasterId xmlns:r="http://schemas.openxmlformats.org/officeDocument/2006/relationships" r:id="R03acad21bdc246f7"/>
  </p:notesMasterIdLst>
  <p:sldIdLst>
    <p:sldId xmlns:r="http://schemas.openxmlformats.org/officeDocument/2006/relationships" id="256" r:id="R8aafaee4c6a84604"/>
    <p:sldId xmlns:r="http://schemas.openxmlformats.org/officeDocument/2006/relationships" id="257" r:id="R7d2ed91bf3044271"/>
    <p:sldId xmlns:r="http://schemas.openxmlformats.org/officeDocument/2006/relationships" id="258" r:id="R5443622bb2724e78"/>
    <p:sldId xmlns:r="http://schemas.openxmlformats.org/officeDocument/2006/relationships" id="259" r:id="R1fcd202ef1984cd5"/>
    <p:sldId xmlns:r="http://schemas.openxmlformats.org/officeDocument/2006/relationships" id="260" r:id="R9b8fa4daf219482c"/>
    <p:sldId xmlns:r="http://schemas.openxmlformats.org/officeDocument/2006/relationships" id="261" r:id="Rdea85929421d431b"/>
    <p:sldId xmlns:r="http://schemas.openxmlformats.org/officeDocument/2006/relationships" id="262" r:id="Rb488fb7e4d504cb2"/>
    <p:sldId xmlns:r="http://schemas.openxmlformats.org/officeDocument/2006/relationships" id="263" r:id="R4d2c0a9466624db5"/>
    <p:sldId xmlns:r="http://schemas.openxmlformats.org/officeDocument/2006/relationships" id="264" r:id="R4b4f1504e6ea48a6"/>
    <p:sldId xmlns:r="http://schemas.openxmlformats.org/officeDocument/2006/relationships" id="265" r:id="R90cb2313bfd14060"/>
    <p:sldId xmlns:r="http://schemas.openxmlformats.org/officeDocument/2006/relationships" id="266" r:id="R0af817bf222340ba"/>
    <p:sldId xmlns:r="http://schemas.openxmlformats.org/officeDocument/2006/relationships" id="267" r:id="Re3dd92981a4d4df4"/>
    <p:sldId xmlns:r="http://schemas.openxmlformats.org/officeDocument/2006/relationships" id="268" r:id="R26b69103490841f8"/>
    <p:sldId xmlns:r="http://schemas.openxmlformats.org/officeDocument/2006/relationships" id="269" r:id="R95085af9e5ea4c3b"/>
    <p:sldId xmlns:r="http://schemas.openxmlformats.org/officeDocument/2006/relationships" id="270" r:id="R7651dd0bea6e4136"/>
    <p:sldId xmlns:r="http://schemas.openxmlformats.org/officeDocument/2006/relationships" id="271" r:id="Rfafe1a8979f44c1f"/>
    <p:sldId xmlns:r="http://schemas.openxmlformats.org/officeDocument/2006/relationships" id="272" r:id="R98dfb54473074d3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ec79b2d31874ce2" /><Relationship Type="http://schemas.openxmlformats.org/officeDocument/2006/relationships/slideMaster" Target="/ppt/slideMasters/slideMaster1.xml" Id="R02f6bae686ec4081" /><Relationship Type="http://schemas.openxmlformats.org/officeDocument/2006/relationships/notesMaster" Target="/ppt/notesMasters/notesMaster1.xml" Id="R03acad21bdc246f7" /><Relationship Type="http://schemas.openxmlformats.org/officeDocument/2006/relationships/presProps" Target="/ppt/presProps.xml" Id="R44220582fea24184" /><Relationship Type="http://schemas.openxmlformats.org/officeDocument/2006/relationships/viewProps" Target="/ppt/viewProps.xml" Id="R81e5ecfb73394470" /><Relationship Type="http://schemas.openxmlformats.org/officeDocument/2006/relationships/tableStyles" Target="/ppt/tableStyles.xml" Id="R646b7a05466c46b1" /><Relationship Type="http://schemas.openxmlformats.org/officeDocument/2006/relationships/slide" Target="/ppt/slides/slide1.xml" Id="R8aafaee4c6a84604" /><Relationship Type="http://schemas.openxmlformats.org/officeDocument/2006/relationships/slide" Target="/ppt/slides/slide2.xml" Id="R7d2ed91bf3044271" /><Relationship Type="http://schemas.openxmlformats.org/officeDocument/2006/relationships/slide" Target="/ppt/slides/slide3.xml" Id="R5443622bb2724e78" /><Relationship Type="http://schemas.openxmlformats.org/officeDocument/2006/relationships/slide" Target="/ppt/slides/slide4.xml" Id="R1fcd202ef1984cd5" /><Relationship Type="http://schemas.openxmlformats.org/officeDocument/2006/relationships/slide" Target="/ppt/slides/slide5.xml" Id="R9b8fa4daf219482c" /><Relationship Type="http://schemas.openxmlformats.org/officeDocument/2006/relationships/slide" Target="/ppt/slides/slide6.xml" Id="Rdea85929421d431b" /><Relationship Type="http://schemas.openxmlformats.org/officeDocument/2006/relationships/slide" Target="/ppt/slides/slide7.xml" Id="Rb488fb7e4d504cb2" /><Relationship Type="http://schemas.openxmlformats.org/officeDocument/2006/relationships/slide" Target="/ppt/slides/slide8.xml" Id="R4d2c0a9466624db5" /><Relationship Type="http://schemas.openxmlformats.org/officeDocument/2006/relationships/slide" Target="/ppt/slides/slide9.xml" Id="R4b4f1504e6ea48a6" /><Relationship Type="http://schemas.openxmlformats.org/officeDocument/2006/relationships/slide" Target="/ppt/slides/slide10.xml" Id="R90cb2313bfd14060" /><Relationship Type="http://schemas.openxmlformats.org/officeDocument/2006/relationships/slide" Target="/ppt/slides/slide11.xml" Id="R0af817bf222340ba" /><Relationship Type="http://schemas.openxmlformats.org/officeDocument/2006/relationships/slide" Target="/ppt/slides/slide12.xml" Id="Re3dd92981a4d4df4" /><Relationship Type="http://schemas.openxmlformats.org/officeDocument/2006/relationships/slide" Target="/ppt/slides/slide13.xml" Id="R26b69103490841f8" /><Relationship Type="http://schemas.openxmlformats.org/officeDocument/2006/relationships/slide" Target="/ppt/slides/slide14.xml" Id="R95085af9e5ea4c3b" /><Relationship Type="http://schemas.openxmlformats.org/officeDocument/2006/relationships/slide" Target="/ppt/slides/slide15.xml" Id="R7651dd0bea6e4136" /><Relationship Type="http://schemas.openxmlformats.org/officeDocument/2006/relationships/slide" Target="/ppt/slides/slide16.xml" Id="Rfafe1a8979f44c1f" /><Relationship Type="http://schemas.openxmlformats.org/officeDocument/2006/relationships/slide" Target="/ppt/slides/slide17.xml" Id="R98dfb54473074d3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12c116c3be0440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70972ddfeb4480b" /><Relationship Type="http://schemas.openxmlformats.org/officeDocument/2006/relationships/notesMaster" Target="/ppt/notesMasters/notesMaster1.xml" Id="Rc7530d5386a243f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d68f89d4ba54683" /><Relationship Type="http://schemas.openxmlformats.org/officeDocument/2006/relationships/notesMaster" Target="/ppt/notesMasters/notesMaster1.xml" Id="R843cfe10e188476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bd0d801f8824a99" /><Relationship Type="http://schemas.openxmlformats.org/officeDocument/2006/relationships/notesMaster" Target="/ppt/notesMasters/notesMaster1.xml" Id="Re1c2e0e98239419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595a735817c4717" /><Relationship Type="http://schemas.openxmlformats.org/officeDocument/2006/relationships/notesMaster" Target="/ppt/notesMasters/notesMaster1.xml" Id="R665b2ea80b60404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f3fa72746cc4a31" /><Relationship Type="http://schemas.openxmlformats.org/officeDocument/2006/relationships/notesMaster" Target="/ppt/notesMasters/notesMaster1.xml" Id="R83b5be170fcf411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091f395a6e14bb0" /><Relationship Type="http://schemas.openxmlformats.org/officeDocument/2006/relationships/notesMaster" Target="/ppt/notesMasters/notesMaster1.xml" Id="Rf436f6da2aff499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cc4cbd47c564dd7" /><Relationship Type="http://schemas.openxmlformats.org/officeDocument/2006/relationships/notesMaster" Target="/ppt/notesMasters/notesMaster1.xml" Id="R9811252379ce480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73ea27d865e4aac" /><Relationship Type="http://schemas.openxmlformats.org/officeDocument/2006/relationships/notesMaster" Target="/ppt/notesMasters/notesMaster1.xml" Id="Rde765151f35542d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cd8242682684bb8" /><Relationship Type="http://schemas.openxmlformats.org/officeDocument/2006/relationships/notesMaster" Target="/ppt/notesMasters/notesMaster1.xml" Id="R3cba03c0cbc04ca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4466e73fafa4434" /><Relationship Type="http://schemas.openxmlformats.org/officeDocument/2006/relationships/notesMaster" Target="/ppt/notesMasters/notesMaster1.xml" Id="Rabdc8d45b2e44f7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eed1dd42b844d95" /><Relationship Type="http://schemas.openxmlformats.org/officeDocument/2006/relationships/notesMaster" Target="/ppt/notesMasters/notesMaster1.xml" Id="R268b2116aba040c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5aeb199cc9e431a" /><Relationship Type="http://schemas.openxmlformats.org/officeDocument/2006/relationships/notesMaster" Target="/ppt/notesMasters/notesMaster1.xml" Id="Rbfc1cf41db374b3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a287b19fd654372" /><Relationship Type="http://schemas.openxmlformats.org/officeDocument/2006/relationships/notesMaster" Target="/ppt/notesMasters/notesMaster1.xml" Id="Rc8b8fa0e8ec0462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aa31b1690f74ed6" /><Relationship Type="http://schemas.openxmlformats.org/officeDocument/2006/relationships/notesMaster" Target="/ppt/notesMasters/notesMaster1.xml" Id="Rab1d8712e4a4454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c4c6eaefb524eb9" /><Relationship Type="http://schemas.openxmlformats.org/officeDocument/2006/relationships/notesMaster" Target="/ppt/notesMasters/notesMaster1.xml" Id="Rf0733b72e647498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1e200bbc8ab4fd6" /><Relationship Type="http://schemas.openxmlformats.org/officeDocument/2006/relationships/notesMaster" Target="/ppt/notesMasters/notesMaster1.xml" Id="R1567dd5680c0457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e15615c355341b4" /><Relationship Type="http://schemas.openxmlformats.org/officeDocument/2006/relationships/notesMaster" Target="/ppt/notesMasters/notesMaster1.xml" Id="R2531be2471be42f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ANA500 Python for Data Science. Deep learning regression, Acquire through Act. Calculated in Micro_Project_4.ipynb and outputs/analysis_summary.json. Hourly Capital Bikeshare records, 2011-2012. Input SHA-256: e03de4ee4ef4dc376ac6e04bf829673c6269e8eba5c60fa121640fa2f829504f</a:t>
            </a:r>
          </a:p>
          <a:p xmlns:a="http://schemas.openxmlformats.org/drawingml/2006/main">
            <a:r>
              <a:t>Fanaee-T, H. (2013). Bike Sharing [Dataset]. UCI Machine Learning Repository. https://doi.org/10.24432/C5W894 (CC BY 4.0). Source README: Fanaee-T &amp; Gama (2013), https://doi.org/10.1007/s13748-013-0040-3.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Calculated in Micro_Project_4.ipynb and outputs/analysis_summary.json. Hourly Capital Bikeshare records, 2011-2012. Input SHA-256: e03de4ee4ef4dc376ac6e04bf829673c6269e8eba5c60fa121640fa2f829504f</a:t>
            </a:r>
          </a:p>
          <a:p xmlns:a="http://schemas.openxmlformats.org/drawingml/2006/main">
            <a:r>
              <a:t>Fanaee-T, H. (2013). Bike Sharing [Dataset]. UCI Machine Learning Repository. https://doi.org/10.24432/C5W894 (CC BY 4.0). Source README: Fanaee-T &amp; Gama (2013), https://doi.org/10.1007/s13748-013-0040-3.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Calculated in Micro_Project_4.ipynb and outputs/analysis_summary.json. Hourly Capital Bikeshare records, 2011-2012. Input SHA-256: e03de4ee4ef4dc376ac6e04bf829673c6269e8eba5c60fa121640fa2f829504f</a:t>
            </a:r>
          </a:p>
          <a:p xmlns:a="http://schemas.openxmlformats.org/drawingml/2006/main">
            <a:r>
              <a:t>Fanaee-T, H. (2013). Bike Sharing [Dataset]. UCI Machine Learning Repository. https://doi.org/10.24432/C5W894 (CC BY 4.0). Source README: Fanaee-T &amp; Gama (2013), https://doi.org/10.1007/s13748-013-0040-3.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Calculated in Micro_Project_4.ipynb and outputs/analysis_summary.json. Hourly Capital Bikeshare records, 2011-2012. Input SHA-256: e03de4ee4ef4dc376ac6e04bf829673c6269e8eba5c60fa121640fa2f829504f</a:t>
            </a:r>
          </a:p>
          <a:p xmlns:a="http://schemas.openxmlformats.org/drawingml/2006/main">
            <a:r>
              <a:t>Fanaee-T, H. (2013). Bike Sharing [Dataset]. UCI Machine Learning Repository. https://doi.org/10.24432/C5W894 (CC BY 4.0). Source README: Fanaee-T &amp; Gama (2013), https://doi.org/10.1007/s13748-013-0040-3. The UCI landing page lists 17,389 instances; the downloaded CSV and source README contain 17,379. Analysis uses the CSV.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Calculated in Micro_Project_4.ipynb and outputs/analysis_summary.json. Hourly Capital Bikeshare records, 2011-2012. Input SHA-256: e03de4ee4ef4dc376ac6e04bf829673c6269e8eba5c60fa121640fa2f829504f</a:t>
            </a:r>
          </a:p>
          <a:p xmlns:a="http://schemas.openxmlformats.org/drawingml/2006/main">
            <a:r>
              <a:t>Fanaee-T, H. (2013). Bike Sharing [Dataset]. UCI Machine Learning Repository. https://doi.org/10.24432/C5W894 (CC BY 4.0). Source README: Fanaee-T &amp; Gama (2013), https://doi.org/10.1007/s13748-013-0040-3.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Calculated in Micro_Project_4.ipynb and outputs/analysis_summary.json. Hourly Capital Bikeshare records, 2011-2012. Input SHA-256: e03de4ee4ef4dc376ac6e04bf829673c6269e8eba5c60fa121640fa2f829504f</a:t>
            </a:r>
          </a:p>
          <a:p xmlns:a="http://schemas.openxmlformats.org/drawingml/2006/main">
            <a:r>
              <a:t>Fanaee-T, H. (2013). Bike Sharing [Dataset]. UCI Machine Learning Repository. https://doi.org/10.24432/C5W894 (CC BY 4.0). Source README: Fanaee-T &amp; Gama (2013), https://doi.org/10.1007/s13748-013-0040-3.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Calculated in Micro_Project_4.ipynb and outputs/analysis_summary.json. Hourly Capital Bikeshare records, 2011-2012. Input SHA-256: e03de4ee4ef4dc376ac6e04bf829673c6269e8eba5c60fa121640fa2f829504f</a:t>
            </a:r>
          </a:p>
          <a:p xmlns:a="http://schemas.openxmlformats.org/drawingml/2006/main">
            <a:r>
              <a:t>Fanaee-T, H. (2013). Bike Sharing [Dataset]. UCI Machine Learning Repository. https://doi.org/10.24432/C5W894 (CC BY 4.0). Source README: Fanaee-T &amp; Gama (2013), https://doi.org/10.1007/s13748-013-0040-3.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Calculated in Micro_Project_4.ipynb and outputs/analysis_summary.json. Hourly Capital Bikeshare records, 2011-2012. Input SHA-256: e03de4ee4ef4dc376ac6e04bf829673c6269e8eba5c60fa121640fa2f829504f</a:t>
            </a:r>
          </a:p>
          <a:p xmlns:a="http://schemas.openxmlformats.org/drawingml/2006/main">
            <a:r>
              <a:t>Fanaee-T, H. (2013). Bike Sharing [Dataset]. UCI Machine Learning Repository. https://doi.org/10.24432/C5W894 (CC BY 4.0). Source README: Fanaee-T &amp; Gama (2013), https://doi.org/10.1007/s13748-013-0040-3.</a:t>
            </a:r>
          </a:p>
          <a:p xmlns:a="http://schemas.openxmlformats.org/drawingml/2006/main">
            <a:r>
              <a:t>PyTorch: https://docs.pytorch.org/docs/stable/generated/torch.nn.RNN.html</a:t>
            </a:r>
          </a:p>
          <a:p xmlns:a="http://schemas.openxmlformats.org/drawingml/2006/main">
            <a:r>
              <a:t>https://docs.pytorch.org/docs/stable/generated/torch.nn.LSTM.html</a:t>
            </a:r>
          </a:p>
          <a:p xmlns:a="http://schemas.openxmlformats.org/drawingml/2006/main">
            <a:r>
              <a:t>https://docs.pytorch.org/docs/stable/notes/randomness.html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Calculated in Micro_Project_4.ipynb and outputs/analysis_summary.json. Hourly Capital Bikeshare records, 2011-2012. Input SHA-256: e03de4ee4ef4dc376ac6e04bf829673c6269e8eba5c60fa121640fa2f829504f</a:t>
            </a:r>
          </a:p>
          <a:p xmlns:a="http://schemas.openxmlformats.org/drawingml/2006/main">
            <a:r>
              <a:t>Fanaee-T, H. (2013). Bike Sharing [Dataset]. UCI Machine Learning Repository. https://doi.org/10.24432/C5W894 (CC BY 4.0). Source README: Fanaee-T &amp; Gama (2013), https://doi.org/10.1007/s13748-013-0040-3.</a:t>
            </a:r>
          </a:p>
          <a:p xmlns:a="http://schemas.openxmlformats.org/drawingml/2006/main">
            <a:r>
              <a:t>PyTorch: https://docs.pytorch.org/docs/stable/generated/torch.nn.RNN.html</a:t>
            </a:r>
          </a:p>
          <a:p xmlns:a="http://schemas.openxmlformats.org/drawingml/2006/main">
            <a:r>
              <a:t>https://docs.pytorch.org/docs/stable/generated/torch.nn.LSTM.html</a:t>
            </a:r>
          </a:p>
          <a:p xmlns:a="http://schemas.openxmlformats.org/drawingml/2006/main">
            <a:r>
              <a:t>https://docs.pytorch.org/docs/stable/notes/randomness.html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Calculated in Micro_Project_4.ipynb and outputs/analysis_summary.json. Hourly Capital Bikeshare records, 2011-2012. Input SHA-256: e03de4ee4ef4dc376ac6e04bf829673c6269e8eba5c60fa121640fa2f829504f</a:t>
            </a:r>
          </a:p>
          <a:p xmlns:a="http://schemas.openxmlformats.org/drawingml/2006/main">
            <a:r>
              <a:t>Fanaee-T, H. (2013). Bike Sharing [Dataset]. UCI Machine Learning Repository. https://doi.org/10.24432/C5W894 (CC BY 4.0). Source README: Fanaee-T &amp; Gama (2013), https://doi.org/10.1007/s13748-013-0040-3.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Calculated in Micro_Project_4.ipynb and outputs/analysis_summary.json. Hourly Capital Bikeshare records, 2011-2012. Input SHA-256: e03de4ee4ef4dc376ac6e04bf829673c6269e8eba5c60fa121640fa2f829504f</a:t>
            </a:r>
          </a:p>
          <a:p xmlns:a="http://schemas.openxmlformats.org/drawingml/2006/main">
            <a:r>
              <a:t>Fanaee-T, H. (2013). Bike Sharing [Dataset]. UCI Machine Learning Repository. https://doi.org/10.24432/C5W894 (CC BY 4.0). Source README: Fanaee-T &amp; Gama (2013), https://doi.org/10.1007/s13748-013-0040-3.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Calculated in Micro_Project_4.ipynb and outputs/analysis_summary.json. Hourly Capital Bikeshare records, 2011-2012. Input SHA-256: e03de4ee4ef4dc376ac6e04bf829673c6269e8eba5c60fa121640fa2f829504f</a:t>
            </a:r>
          </a:p>
          <a:p xmlns:a="http://schemas.openxmlformats.org/drawingml/2006/main">
            <a:r>
              <a:t>Fanaee-T, H. (2013). Bike Sharing [Dataset]. UCI Machine Learning Repository. https://doi.org/10.24432/C5W894 (CC BY 4.0). Source README: Fanaee-T &amp; Gama (2013), https://doi.org/10.1007/s13748-013-0040-3.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Calculated in Micro_Project_4.ipynb and outputs/analysis_summary.json. Hourly Capital Bikeshare records, 2011-2012. Input SHA-256: e03de4ee4ef4dc376ac6e04bf829673c6269e8eba5c60fa121640fa2f829504f</a:t>
            </a:r>
          </a:p>
          <a:p xmlns:a="http://schemas.openxmlformats.org/drawingml/2006/main">
            <a:r>
              <a:t>Fanaee-T, H. (2013). Bike Sharing [Dataset]. UCI Machine Learning Repository. https://doi.org/10.24432/C5W894 (CC BY 4.0). Source README: Fanaee-T &amp; Gama (2013), https://doi.org/10.1007/s13748-013-0040-3.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Calculated in Micro_Project_4.ipynb and outputs/analysis_summary.json. Hourly Capital Bikeshare records, 2011-2012. Input SHA-256: e03de4ee4ef4dc376ac6e04bf829673c6269e8eba5c60fa121640fa2f829504f</a:t>
            </a:r>
          </a:p>
          <a:p xmlns:a="http://schemas.openxmlformats.org/drawingml/2006/main">
            <a:r>
              <a:t>Fanaee-T, H. (2013). Bike Sharing [Dataset]. UCI Machine Learning Repository. https://doi.org/10.24432/C5W894 (CC BY 4.0). Source README: Fanaee-T &amp; Gama (2013), https://doi.org/10.1007/s13748-013-0040-3.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Calculated in Micro_Project_4.ipynb and outputs/analysis_summary.json. Hourly Capital Bikeshare records, 2011-2012. Input SHA-256: e03de4ee4ef4dc376ac6e04bf829673c6269e8eba5c60fa121640fa2f829504f</a:t>
            </a:r>
          </a:p>
          <a:p xmlns:a="http://schemas.openxmlformats.org/drawingml/2006/main">
            <a:r>
              <a:t>Fanaee-T, H. (2013). Bike Sharing [Dataset]. UCI Machine Learning Repository. https://doi.org/10.24432/C5W894 (CC BY 4.0). Source README: Fanaee-T &amp; Gama (2013), https://doi.org/10.1007/s13748-013-0040-3.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Calculated in Micro_Project_4.ipynb and outputs/analysis_summary.json. Hourly Capital Bikeshare records, 2011-2012. Input SHA-256: e03de4ee4ef4dc376ac6e04bf829673c6269e8eba5c60fa121640fa2f829504f</a:t>
            </a:r>
          </a:p>
          <a:p xmlns:a="http://schemas.openxmlformats.org/drawingml/2006/main">
            <a:r>
              <a:t>Fanaee-T, H. (2013). Bike Sharing [Dataset]. UCI Machine Learning Repository. https://doi.org/10.24432/C5W894 (CC BY 4.0). Source README: Fanaee-T &amp; Gama (2013), https://doi.org/10.1007/s13748-013-0040-3.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Calculated in Micro_Project_4.ipynb and outputs/analysis_summary.json. Hourly Capital Bikeshare records, 2011-2012. Input SHA-256: e03de4ee4ef4dc376ac6e04bf829673c6269e8eba5c60fa121640fa2f829504f</a:t>
            </a:r>
          </a:p>
          <a:p xmlns:a="http://schemas.openxmlformats.org/drawingml/2006/main">
            <a:r>
              <a:t>Fanaee-T, H. (2013). Bike Sharing [Dataset]. UCI Machine Learning Repository. https://doi.org/10.24432/C5W894 (CC BY 4.0). Source README: Fanaee-T &amp; Gama (2013), https://doi.org/10.1007/s13748-013-0040-3.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a558f6e0f94ec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e7c7e658c54ea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0bf4d19fcd4a1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9b68b3ae744d0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d9a1a3c3fc4bc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99b11c19d34cb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8f325523fe46c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a293a862cf42bf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1c5ea2397b2419b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9889e3248140a2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870f0f2a6146fd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784A48-ED60-4C3D-8040-EA420D137689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9950468-0315-4B9D-B09C-8C8C8EBD6A8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77C4A60-6695-4CB3-AF2E-ACFA3C0B87F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F52AFC1-4F45-459D-BC95-0F8F5E3A4294}" type="datetimeFigureOut">
              <a:t>3/1/2022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42D2078-2F8D-45FB-9C14-17036DA5D3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FDD9676-FA59-4F47-9033-2CFC7976370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BC5D697-CC64-4CAF-A466-D1105DD36B62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5C04559-4EA9-4030-8CD7-225515C39D9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4A446E6-DF6C-44D2-BA71-5D6445655C1D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4F5ECAD-0D49-425E-99BE-4E9A279761F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F52AFC1-4F45-459D-BC95-0F8F5E3A4294}" type="datetimeFigureOut">
              <a:t>3/1/2022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1B6268D-3BF4-472B-B1D5-51848967439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4BF4C8E-AFA1-48CB-9BE5-583A3766042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BC5D697-CC64-4CAF-A466-D1105DD36B62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30CC60D-06AE-4839-A5F6-DB50DF8789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B8C870F-1989-4744-AA64-C97EBC3080F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33CF60B-312D-4E68-B904-78A68C9AF98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F52AFC1-4F45-459D-BC95-0F8F5E3A4294}" type="datetimeFigureOut">
              <a:t>3/1/2022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A05CA4F-B8D7-4A59-A5BA-74DF90CC1D1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E1BAD61-51E4-4D1D-8E14-1EB20C0ECB7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BC5D697-CC64-4CAF-A466-D1105DD36B62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8851454-95B8-455D-BFC1-6C6DA36031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13FBC0B-D342-4647-B5BA-5B6ADF294E2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969BC10-2FBB-4372-AE80-21EC4AB47AF0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9FE6231-D355-4CB0-AB68-1D21D4EB6AC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F52AFC1-4F45-459D-BC95-0F8F5E3A4294}" type="datetimeFigureOut">
              <a:t>3/1/2022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B01BF01-A233-43E9-8949-BAADCAF9579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4EA8DA2-49A7-4CD4-AD2A-B4AE89F09C2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BC5D697-CC64-4CAF-A466-D1105DD36B62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A9A6AAD-2645-4527-94B3-3A3BECB928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7031552-937E-4EAB-883E-C29FBC415BE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73455D9-4697-44D3-AB55-9CADBE716D0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F258DC7D-BF9A-4F54-AB58-1C49FFA17D71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D1D3AE0C-DB47-4E16-828A-3429714FADD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B3C3C45-525E-4801-90AF-776B7EFC5AD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F52AFC1-4F45-459D-BC95-0F8F5E3A4294}" type="datetimeFigureOut">
              <a:t>3/1/2022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F3B6704D-F5BC-4598-B7E7-5F53967A678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22D9A6A6-BB3C-4DD0-A205-F8593CED107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BC5D697-CC64-4CAF-A466-D1105DD36B62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1B609AA-EE0C-4FE6-8E30-99E91A13B5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57DA744A-AA0E-40C1-82B4-1865879ADE9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F52AFC1-4F45-459D-BC95-0F8F5E3A4294}" type="datetimeFigureOut">
              <a:t>3/1/2022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AD1794A4-DA55-49C9-9EE1-51AFA79807A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583A595F-05DA-41C2-AFB0-CC51AFDB903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BC5D697-CC64-4CAF-A466-D1105DD36B62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285F4ACF-3F96-4D20-91DE-5A7A89B4A2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F52AFC1-4F45-459D-BC95-0F8F5E3A4294}" type="datetimeFigureOut">
              <a:t>3/1/2022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4D2B232B-2221-443B-9621-C2FFF416019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22970A4F-5257-4439-983C-D802F7190B3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BC5D697-CC64-4CAF-A466-D1105DD36B62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185D602-AEC1-494B-9EC8-423C9605B1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2AC75CB-286B-4E0D-946F-B2152E7923C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B6FE692-594E-4FE0-A040-69DCF74AAAA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4E66829-7538-463B-99D9-8920CBDF406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F52AFC1-4F45-459D-BC95-0F8F5E3A4294}" type="datetimeFigureOut">
              <a:t>3/1/2022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AB5AFDF-77FC-4354-AF3B-008607F9277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C77315B-5282-41D1-99A3-2ADE83DA19E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BC5D697-CC64-4CAF-A466-D1105DD36B62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6477A91-0A20-466E-9CA8-86B63BE8AF2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A78C2C4C-22CA-4398-A23B-4F068FB5A78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33574D67-2A27-42C6-815E-BE5AD10D36A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9BB23AA-5E29-4400-B52D-822F13ED6B9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F52AFC1-4F45-459D-BC95-0F8F5E3A4294}" type="datetimeFigureOut">
              <a:t>3/1/2022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A368ADC-B329-411C-AA83-9EEADAE8A9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778A6D9-A5FD-46E3-8F58-CDC4CC4B895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BC5D697-CC64-4CAF-A466-D1105DD36B62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7C59857-0725-4AFD-ADA1-93DE6885A9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AA742F07-D500-4235-A3BD-4E9FA3C9269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6AB7CF7-F61A-47E7-B601-419FF069E76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F52AFC1-4F45-459D-BC95-0F8F5E3A4294}" type="datetimeFigureOut">
              <a:t>3/1/2022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918C1B3-4CDE-4267-AF19-9C2FCF86025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BD38641-A10F-457F-B6A9-3F574B2B266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BC5D697-CC64-4CAF-A466-D1105DD36B62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A3A314E-DAF4-459C-AF7B-C7347C76393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27BE33E-4004-41A3-B3E6-14272F53B3B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E1A99DB-D8D6-44B2-B140-B5C0DD69889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F52AFC1-4F45-459D-BC95-0F8F5E3A4294}" type="datetimeFigureOut">
              <a:t>3/1/2022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31BF21E-4345-40CE-88C3-7C77ECC010E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D1F20F6-FD42-49EE-AE17-171924F498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7BC5D697-CC64-4CAF-A466-D1105DD36B62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5fb2a7a440647a2" /><Relationship Type="http://schemas.openxmlformats.org/officeDocument/2006/relationships/slideLayout" Target="/ppt/slideLayouts/slideLayout1.xml" Id="R7f771bccc715430c" /><Relationship Type="http://schemas.openxmlformats.org/officeDocument/2006/relationships/slideLayout" Target="/ppt/slideLayouts/slideLayout2.xml" Id="Ra59980b863574092" /><Relationship Type="http://schemas.openxmlformats.org/officeDocument/2006/relationships/slideLayout" Target="/ppt/slideLayouts/slideLayout3.xml" Id="R6a1ef79a46a24df4" /><Relationship Type="http://schemas.openxmlformats.org/officeDocument/2006/relationships/slideLayout" Target="/ppt/slideLayouts/slideLayout4.xml" Id="R598f55e65cbb4d03" /><Relationship Type="http://schemas.openxmlformats.org/officeDocument/2006/relationships/slideLayout" Target="/ppt/slideLayouts/slideLayout5.xml" Id="Ra509dc39dcd7482d" /><Relationship Type="http://schemas.openxmlformats.org/officeDocument/2006/relationships/slideLayout" Target="/ppt/slideLayouts/slideLayout6.xml" Id="R2f96782f648d4e81" /><Relationship Type="http://schemas.openxmlformats.org/officeDocument/2006/relationships/slideLayout" Target="/ppt/slideLayouts/slideLayout7.xml" Id="R93dafff5821547dc" /><Relationship Type="http://schemas.openxmlformats.org/officeDocument/2006/relationships/slideLayout" Target="/ppt/slideLayouts/slideLayout8.xml" Id="Rba4a14af317f4157" /><Relationship Type="http://schemas.openxmlformats.org/officeDocument/2006/relationships/slideLayout" Target="/ppt/slideLayouts/slideLayout9.xml" Id="R3d9cbfc10d9043be" /><Relationship Type="http://schemas.openxmlformats.org/officeDocument/2006/relationships/slideLayout" Target="/ppt/slideLayouts/slideLayout10.xml" Id="R8dacc743cc814378" /><Relationship Type="http://schemas.openxmlformats.org/officeDocument/2006/relationships/slideLayout" Target="/ppt/slideLayouts/slideLayout11.xml" Id="R63d51fd2646a4f5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60B5F7E3-61B5-4449-80CF-04DA4D37AB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ECFC45A-DECF-4B86-87F6-C12B501A4F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EC712EE-4BB3-49D3-9FAF-733EA6255E9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3F52AFC1-4F45-459D-BC95-0F8F5E3A4294}" type="datetimeFigureOut">
              <a:t>3/1/2022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3DFC8A3-CA43-47DE-88A0-18EE8FB2D2A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38CC4C2-DBD2-41A0-8542-0ED48583DA2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7BC5D697-CC64-4CAF-A466-D1105DD36B62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f771bccc715430c"/>
    <p:sldLayoutId xmlns:r="http://schemas.openxmlformats.org/officeDocument/2006/relationships" id="2147483650" r:id="Ra59980b863574092"/>
    <p:sldLayoutId xmlns:r="http://schemas.openxmlformats.org/officeDocument/2006/relationships" id="2147483651" r:id="R6a1ef79a46a24df4"/>
    <p:sldLayoutId xmlns:r="http://schemas.openxmlformats.org/officeDocument/2006/relationships" id="2147483652" r:id="R598f55e65cbb4d03"/>
    <p:sldLayoutId xmlns:r="http://schemas.openxmlformats.org/officeDocument/2006/relationships" id="2147483653" r:id="Ra509dc39dcd7482d"/>
    <p:sldLayoutId xmlns:r="http://schemas.openxmlformats.org/officeDocument/2006/relationships" id="2147483654" r:id="R2f96782f648d4e81"/>
    <p:sldLayoutId xmlns:r="http://schemas.openxmlformats.org/officeDocument/2006/relationships" id="2147483655" r:id="R93dafff5821547dc"/>
    <p:sldLayoutId xmlns:r="http://schemas.openxmlformats.org/officeDocument/2006/relationships" id="2147483656" r:id="Rba4a14af317f4157"/>
    <p:sldLayoutId xmlns:r="http://schemas.openxmlformats.org/officeDocument/2006/relationships" id="2147483657" r:id="R3d9cbfc10d9043be"/>
    <p:sldLayoutId xmlns:r="http://schemas.openxmlformats.org/officeDocument/2006/relationships" id="2147483658" r:id="R8dacc743cc814378"/>
    <p:sldLayoutId xmlns:r="http://schemas.openxmlformats.org/officeDocument/2006/relationships" id="2147483659" r:id="R63d51fd2646a4f5b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.xml" Id="R7e6f8d3067414782"/><Relationship Type="http://schemas.openxmlformats.org/officeDocument/2006/relationships/notesSlide" Target="/ppt/notesSlides/notesSlide1.xml" Id="R6803f291702e429e"/><Relationship Id="rIdLink3" Type="http://schemas.openxmlformats.org/officeDocument/2006/relationships/hyperlink" Target="https://github.com/mascon0423/ANA500/tree/main/week4" TargetMode="External"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ce6c0a6a7144079" /><Relationship Type="http://schemas.openxmlformats.org/officeDocument/2006/relationships/notesSlide" Target="/ppt/notesSlides/notesSlide2.xml" Id="R123e8bd66122409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4526c119ff9458e" /><Relationship Type="http://schemas.openxmlformats.org/officeDocument/2006/relationships/notesSlide" Target="/ppt/notesSlides/notesSlide3.xml" Id="R21b03ae26cc04de8" 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2.xml" Id="R66642bdbd4ab40e4"/><Relationship Type="http://schemas.openxmlformats.org/officeDocument/2006/relationships/notesSlide" Target="/ppt/notesSlides/notesSlide4.xml" Id="R84b9bf826bc64089"/><Relationship Id="rIdLink3" Type="http://schemas.openxmlformats.org/officeDocument/2006/relationships/hyperlink" Target="https://doi.org/10.24432/C5W894" TargetMode="External"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4cd0f73c7354472" /><Relationship Type="http://schemas.openxmlformats.org/officeDocument/2006/relationships/notesSlide" Target="/ppt/notesSlides/notesSlide5.xml" Id="Rdb94099685cd4d9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96ee1e7e9ef4b2a" /><Relationship Type="http://schemas.openxmlformats.org/officeDocument/2006/relationships/notesSlide" Target="/ppt/notesSlides/notesSlide6.xml" Id="R161c52b479c0477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7926e777ccb4760" /><Relationship Type="http://schemas.openxmlformats.org/officeDocument/2006/relationships/chart" Target="/ppt/slides/charts/chart1.xml" Id="R9d5a16fadd3a4be2" /><Relationship Type="http://schemas.openxmlformats.org/officeDocument/2006/relationships/notesSlide" Target="/ppt/notesSlides/notesSlide7.xml" Id="R1cb63448b8304c2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b276b66b2ce48e2" /><Relationship Type="http://schemas.openxmlformats.org/officeDocument/2006/relationships/notesSlide" Target="/ppt/notesSlides/notesSlide8.xml" Id="R4b506a123d474a3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cf1aff544f94866" /><Relationship Type="http://schemas.openxmlformats.org/officeDocument/2006/relationships/chart" Target="/ppt/slides/charts/chart2.xml" Id="R1586dbb59e144aca" /><Relationship Type="http://schemas.openxmlformats.org/officeDocument/2006/relationships/notesSlide" Target="/ppt/notesSlides/notesSlide9.xml" Id="R642e9bd0b3f0474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b848330aad14de2" /><Relationship Type="http://schemas.openxmlformats.org/officeDocument/2006/relationships/notesSlide" Target="/ppt/notesSlides/notesSlide10.xml" Id="R4c32c029b239422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9434ba6d0674915" /><Relationship Type="http://schemas.openxmlformats.org/officeDocument/2006/relationships/notesSlide" Target="/ppt/notesSlides/notesSlide11.xml" Id="R14d8d371a3ca4cd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e27ee6dbf8b4f78" /><Relationship Type="http://schemas.openxmlformats.org/officeDocument/2006/relationships/chart" Target="/ppt/slides/charts/chart3.xml" Id="Rf698b89acaeb4a95" /><Relationship Type="http://schemas.openxmlformats.org/officeDocument/2006/relationships/notesSlide" Target="/ppt/notesSlides/notesSlide12.xml" Id="Rfbf07934807641a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6d205d062cb4124" /><Relationship Type="http://schemas.openxmlformats.org/officeDocument/2006/relationships/chart" Target="/ppt/slides/charts/chart4.xml" Id="Redd149a1409d43a3" /><Relationship Type="http://schemas.openxmlformats.org/officeDocument/2006/relationships/notesSlide" Target="/ppt/notesSlides/notesSlide13.xml" Id="Rebe84ec150a841e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378d56b8eea4550" /><Relationship Type="http://schemas.openxmlformats.org/officeDocument/2006/relationships/chart" Target="/ppt/slides/charts/chart5.xml" Id="R0dad54f76a9a4b04" /><Relationship Type="http://schemas.openxmlformats.org/officeDocument/2006/relationships/notesSlide" Target="/ppt/notesSlides/notesSlide14.xml" Id="R7310ef2c6fb24b5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d17e3c68e374a79" /><Relationship Type="http://schemas.openxmlformats.org/officeDocument/2006/relationships/notesSlide" Target="/ppt/notesSlides/notesSlide15.xml" Id="R2f4a8ec9ae1c4f4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f62f7ece4934d2a" /><Relationship Type="http://schemas.openxmlformats.org/officeDocument/2006/relationships/notesSlide" Target="/ppt/notesSlides/notesSlide16.xml" Id="R07051fae284e411d" /></Relationships>
</file>

<file path=ppt/slides/_rels/slide1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2.xml" Id="Ra5a3ac621e484c81"/><Relationship Type="http://schemas.openxmlformats.org/officeDocument/2006/relationships/notesSlide" Target="/ppt/notesSlides/notesSlide17.xml" Id="R29e14ea17c334c6b"/><Relationship Id="rIdLink3" Type="http://schemas.openxmlformats.org/officeDocument/2006/relationships/hyperlink" Target="https://github.com/mascon0423/ANA500/tree/main/week4" TargetMode="External"/><Relationship Id="rIdLink4" Type="http://schemas.openxmlformats.org/officeDocument/2006/relationships/hyperlink" Target="https://doi.org/10.24432/C5W894" TargetMode="External"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_rels/chart5.xml.rels><Relationships xmlns="http://schemas.openxmlformats.org/package/2006/relationships"><Relationship Id="rIdChartSnapshot1" Type="http://schemas.openxmlformats.org/officeDocument/2006/relationships/package" Target="../../embeddings/chart-data-snapshot-005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Working day</c:v>
          </c:tx>
          <c:spPr>
            <a:ln xmlns:a="http://schemas.openxmlformats.org/drawingml/2006/main" w="23813">
              <a:solidFill>
                <a:srgbClr val="245E83"/>
              </a:solidFill>
            </a:ln>
          </c:spPr>
          <c:marker>
            <c:symbol val="none"/>
          </c:marker>
          <c:xVal>
            <c:numRef>
              <c:f>'Chart Data'!$A$2:$A$25</c:f>
              <c:numCache>
                <c:formatCode>0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xVal>
          <c:yVal>
            <c:numRef>
              <c:f>'Chart Data'!$B$2:$B$25</c:f>
              <c:numCache>
                <c:formatCode>0.00</c:formatCode>
                <c:ptCount val="24"/>
                <c:pt idx="0">
                  <c:v>29.323887</c:v>
                </c:pt>
                <c:pt idx="1">
                  <c:v>13.723577</c:v>
                </c:pt>
                <c:pt idx="2">
                  <c:v>7.514644</c:v>
                </c:pt>
                <c:pt idx="3">
                  <c:v>4.366812</c:v>
                </c:pt>
                <c:pt idx="4">
                  <c:v>4.773333</c:v>
                </c:pt>
                <c:pt idx="5">
                  <c:v>17.797571</c:v>
                </c:pt>
                <c:pt idx="6">
                  <c:v>77.491935</c:v>
                </c:pt>
                <c:pt idx="7">
                  <c:v>214.677419</c:v>
                </c:pt>
                <c:pt idx="8">
                  <c:v>349.504032</c:v>
                </c:pt>
                <c:pt idx="9">
                  <c:v>180.645161</c:v>
                </c:pt>
                <c:pt idx="10">
                  <c:v>101.423387</c:v>
                </c:pt>
                <c:pt idx="11">
                  <c:v>117.733871</c:v>
                </c:pt>
                <c:pt idx="12">
                  <c:v>148.240964</c:v>
                </c:pt>
                <c:pt idx="13">
                  <c:v>146.473896</c:v>
                </c:pt>
                <c:pt idx="14">
                  <c:v>137.369478</c:v>
                </c:pt>
                <c:pt idx="15">
                  <c:v>146.670683</c:v>
                </c:pt>
                <c:pt idx="16">
                  <c:v>215.016</c:v>
                </c:pt>
                <c:pt idx="17">
                  <c:v>394.916</c:v>
                </c:pt>
                <c:pt idx="18">
                  <c:v>367.453815</c:v>
                </c:pt>
                <c:pt idx="19">
                  <c:v>259.040161</c:v>
                </c:pt>
                <c:pt idx="20">
                  <c:v>187.86747</c:v>
                </c:pt>
                <c:pt idx="21">
                  <c:v>143.62249</c:v>
                </c:pt>
                <c:pt idx="22">
                  <c:v>107.97992</c:v>
                </c:pt>
                <c:pt idx="23">
                  <c:v>68.574297</c:v>
                </c:pt>
              </c:numCache>
            </c:numRef>
          </c:yVal>
          <c:smooth val="0"/>
        </c:ser>
        <c:ser>
          <c:idx val="1"/>
          <c:order val="1"/>
          <c:tx>
            <c:v>Weekend or holiday</c:v>
          </c:tx>
          <c:spPr>
            <a:ln xmlns:a="http://schemas.openxmlformats.org/drawingml/2006/main" w="23813">
              <a:solidFill>
                <a:srgbClr val="AA6520"/>
              </a:solidFill>
              <a:prstDash val="dash"/>
            </a:ln>
          </c:spPr>
          <c:marker>
            <c:symbol val="none"/>
          </c:marker>
          <c:xVal>
            <c:numRef>
              <c:f>'Chart Data'!$C$2:$C$25</c:f>
              <c:numCache>
                <c:formatCode>0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xVal>
          <c:yVal>
            <c:numRef>
              <c:f>'Chart Data'!$D$2:$D$25</c:f>
              <c:numCache>
                <c:formatCode>0.00</c:formatCode>
                <c:ptCount val="24"/>
                <c:pt idx="0">
                  <c:v>72.780702</c:v>
                </c:pt>
                <c:pt idx="1">
                  <c:v>54.22807</c:v>
                </c:pt>
                <c:pt idx="2">
                  <c:v>43.053097</c:v>
                </c:pt>
                <c:pt idx="3">
                  <c:v>21.60177</c:v>
                </c:pt>
                <c:pt idx="4">
                  <c:v>6.633929</c:v>
                </c:pt>
                <c:pt idx="5">
                  <c:v>7.179245</c:v>
                </c:pt>
                <c:pt idx="6">
                  <c:v>14.00885</c:v>
                </c:pt>
                <c:pt idx="7">
                  <c:v>32.086957</c:v>
                </c:pt>
                <c:pt idx="8">
                  <c:v>76.434783</c:v>
                </c:pt>
                <c:pt idx="9">
                  <c:v>127.704348</c:v>
                </c:pt>
                <c:pt idx="10">
                  <c:v>194.417391</c:v>
                </c:pt>
                <c:pt idx="11">
                  <c:v>238.26087</c:v>
                </c:pt>
                <c:pt idx="12">
                  <c:v>280.747826</c:v>
                </c:pt>
                <c:pt idx="13">
                  <c:v>285.8</c:v>
                </c:pt>
                <c:pt idx="14">
                  <c:v>280.669565</c:v>
                </c:pt>
                <c:pt idx="15">
                  <c:v>278.86087</c:v>
                </c:pt>
                <c:pt idx="16">
                  <c:v>277.113043</c:v>
                </c:pt>
                <c:pt idx="17">
                  <c:v>251.330435</c:v>
                </c:pt>
                <c:pt idx="18">
                  <c:v>223.587719</c:v>
                </c:pt>
                <c:pt idx="19">
                  <c:v>186.850877</c:v>
                </c:pt>
                <c:pt idx="20">
                  <c:v>140.692982</c:v>
                </c:pt>
                <c:pt idx="21">
                  <c:v>115.026316</c:v>
                </c:pt>
                <c:pt idx="22">
                  <c:v>94.649123</c:v>
                </c:pt>
                <c:pt idx="23">
                  <c:v>70.535088</c:v>
                </c:pt>
              </c:numCache>
            </c:numRef>
          </c:yVal>
          <c:smooth val="0"/>
        </c:ser>
        <c:axId val="48650112"/>
        <c:axId val="48672768"/>
      </c:scatterChart>
      <c:valAx>
        <c:axId val="48672768"/>
        <c:scaling>
          <c:orientation val="minMax"/>
          <c:max val="45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DDDDD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75">
                    <a:solidFill>
                      <a:srgbClr val="333333"/>
                    </a:solidFill>
                    <a:latin typeface="Calibri"/>
                    <a:ea typeface="Calibri"/>
                    <a:cs typeface="Calibri"/>
                  </a:rPr>
                  <a:t>Mean rentals per recorded hour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75">
                  <a:solidFill>
                    <a:srgbClr val="333333"/>
                  </a:solidFill>
                  <a:latin typeface="Calibri"/>
                  <a:ea typeface="Calibri"/>
                  <a:cs typeface="Calibri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333333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100"/>
      </c:valAx>
      <c:valAx>
        <c:axId val="48650112"/>
        <c:scaling>
          <c:orientation val="minMax"/>
          <c:max val="23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75">
                    <a:solidFill>
                      <a:srgbClr val="333333"/>
                    </a:solidFill>
                    <a:latin typeface="Calibri"/>
                    <a:ea typeface="Calibri"/>
                    <a:cs typeface="Calibri"/>
                  </a:rPr>
                  <a:t>Local clock hour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75">
                  <a:solidFill>
                    <a:srgbClr val="333333"/>
                  </a:solidFill>
                  <a:latin typeface="Calibri"/>
                  <a:ea typeface="Calibri"/>
                  <a:cs typeface="Calibri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333333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4"/>
      </c:valAx>
      <c:spPr>
        <a:solidFill xmlns:a="http://schemas.openxmlformats.org/drawingml/2006/main">
          <a:srgbClr val="FFFFFF"/>
        </a:solidFill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75">
              <a:solidFill>
                <a:srgbClr val="333333"/>
              </a:solidFill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Dense network: training</c:v>
          </c:tx>
          <c:spPr>
            <a:ln xmlns:a="http://schemas.openxmlformats.org/drawingml/2006/main" w="23813">
              <a:solidFill>
                <a:srgbClr val="245E83"/>
              </a:solidFill>
            </a:ln>
          </c:spPr>
          <c:marker>
            <c:symbol val="none"/>
          </c:marker>
          <c:xVal>
            <c:numRef>
              <c:f>'Chart Data'!$A$2:$A$54</c:f>
              <c:numCache>
                <c:formatCode>0</c:formatCode>
                <c:ptCount val="53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</c:numCache>
            </c:numRef>
          </c:xVal>
          <c:yVal>
            <c:numRef>
              <c:f>'Chart Data'!$B$2:$B$54</c:f>
              <c:numCache>
                <c:formatCode>0.00</c:formatCode>
                <c:ptCount val="53"/>
                <c:pt idx="0">
                  <c:v>84.797219</c:v>
                </c:pt>
                <c:pt idx="1">
                  <c:v>58.221823</c:v>
                </c:pt>
                <c:pt idx="2">
                  <c:v>48.862977</c:v>
                </c:pt>
                <c:pt idx="3">
                  <c:v>42.420135</c:v>
                </c:pt>
                <c:pt idx="4">
                  <c:v>38.65464</c:v>
                </c:pt>
                <c:pt idx="5">
                  <c:v>36.690146</c:v>
                </c:pt>
                <c:pt idx="6">
                  <c:v>35.458748</c:v>
                </c:pt>
                <c:pt idx="7">
                  <c:v>34.443125</c:v>
                </c:pt>
                <c:pt idx="8">
                  <c:v>34.245249</c:v>
                </c:pt>
                <c:pt idx="9">
                  <c:v>33.317433</c:v>
                </c:pt>
                <c:pt idx="10">
                  <c:v>33.007793</c:v>
                </c:pt>
                <c:pt idx="11">
                  <c:v>32.26768</c:v>
                </c:pt>
                <c:pt idx="12">
                  <c:v>31.887777</c:v>
                </c:pt>
                <c:pt idx="13">
                  <c:v>31.475037</c:v>
                </c:pt>
                <c:pt idx="14">
                  <c:v>31.399668</c:v>
                </c:pt>
                <c:pt idx="15">
                  <c:v>30.892586</c:v>
                </c:pt>
                <c:pt idx="16">
                  <c:v>30.818698</c:v>
                </c:pt>
                <c:pt idx="17">
                  <c:v>30.410161</c:v>
                </c:pt>
                <c:pt idx="18">
                  <c:v>30.278705</c:v>
                </c:pt>
                <c:pt idx="19">
                  <c:v>30.226556</c:v>
                </c:pt>
                <c:pt idx="20">
                  <c:v>30.436981</c:v>
                </c:pt>
                <c:pt idx="21">
                  <c:v>30.248586</c:v>
                </c:pt>
                <c:pt idx="22">
                  <c:v>29.67663</c:v>
                </c:pt>
                <c:pt idx="23">
                  <c:v>29.733848</c:v>
                </c:pt>
                <c:pt idx="24">
                  <c:v>29.173237</c:v>
                </c:pt>
                <c:pt idx="25">
                  <c:v>29.394782</c:v>
                </c:pt>
                <c:pt idx="26">
                  <c:v>29.066513</c:v>
                </c:pt>
                <c:pt idx="27">
                  <c:v>29.144772</c:v>
                </c:pt>
                <c:pt idx="28">
                  <c:v>28.861057</c:v>
                </c:pt>
                <c:pt idx="29">
                  <c:v>29.413865</c:v>
                </c:pt>
                <c:pt idx="30">
                  <c:v>28.604446</c:v>
                </c:pt>
                <c:pt idx="31">
                  <c:v>28.512831</c:v>
                </c:pt>
                <c:pt idx="32">
                  <c:v>28.28052</c:v>
                </c:pt>
                <c:pt idx="33">
                  <c:v>28.261808</c:v>
                </c:pt>
                <c:pt idx="34">
                  <c:v>28.708637</c:v>
                </c:pt>
                <c:pt idx="35">
                  <c:v>28.118641</c:v>
                </c:pt>
                <c:pt idx="36">
                  <c:v>28.343056</c:v>
                </c:pt>
                <c:pt idx="37">
                  <c:v>28.165195</c:v>
                </c:pt>
                <c:pt idx="38">
                  <c:v>28.260893</c:v>
                </c:pt>
                <c:pt idx="39">
                  <c:v>27.900511</c:v>
                </c:pt>
                <c:pt idx="40">
                  <c:v>27.708187</c:v>
                </c:pt>
                <c:pt idx="41">
                  <c:v>27.644353</c:v>
                </c:pt>
                <c:pt idx="42">
                  <c:v>27.580579</c:v>
                </c:pt>
                <c:pt idx="43">
                  <c:v>28.263109</c:v>
                </c:pt>
                <c:pt idx="44">
                  <c:v>28.138918</c:v>
                </c:pt>
                <c:pt idx="45">
                  <c:v>27.482786</c:v>
                </c:pt>
                <c:pt idx="46">
                  <c:v>27.325181</c:v>
                </c:pt>
                <c:pt idx="47">
                  <c:v>27.149523</c:v>
                </c:pt>
                <c:pt idx="48">
                  <c:v>27.536328</c:v>
                </c:pt>
                <c:pt idx="49">
                  <c:v>28.015742</c:v>
                </c:pt>
                <c:pt idx="50">
                  <c:v>27.499226</c:v>
                </c:pt>
                <c:pt idx="51">
                  <c:v>27.721226</c:v>
                </c:pt>
                <c:pt idx="52">
                  <c:v>27.521964</c:v>
                </c:pt>
              </c:numCache>
            </c:numRef>
          </c:yVal>
          <c:smooth val="0"/>
        </c:ser>
        <c:ser>
          <c:idx val="1"/>
          <c:order val="1"/>
          <c:tx>
            <c:v>Validation</c:v>
          </c:tx>
          <c:spPr>
            <a:ln xmlns:a="http://schemas.openxmlformats.org/drawingml/2006/main" w="23813">
              <a:solidFill>
                <a:srgbClr val="AA6520"/>
              </a:solidFill>
              <a:prstDash val="dash"/>
            </a:ln>
          </c:spPr>
          <c:marker>
            <c:symbol val="none"/>
          </c:marker>
          <c:xVal>
            <c:numRef>
              <c:f>'Chart Data'!$C$2:$C$54</c:f>
              <c:numCache>
                <c:formatCode>0</c:formatCode>
                <c:ptCount val="53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</c:numCache>
            </c:numRef>
          </c:xVal>
          <c:yVal>
            <c:numRef>
              <c:f>'Chart Data'!$D$2:$D$54</c:f>
              <c:numCache>
                <c:formatCode>0.00</c:formatCode>
                <c:ptCount val="53"/>
                <c:pt idx="0">
                  <c:v>137.6219</c:v>
                </c:pt>
                <c:pt idx="1">
                  <c:v>93.197961</c:v>
                </c:pt>
                <c:pt idx="2">
                  <c:v>81.016937</c:v>
                </c:pt>
                <c:pt idx="3">
                  <c:v>70.427532</c:v>
                </c:pt>
                <c:pt idx="4">
                  <c:v>63.690749</c:v>
                </c:pt>
                <c:pt idx="5">
                  <c:v>61.458989</c:v>
                </c:pt>
                <c:pt idx="6">
                  <c:v>60.77175</c:v>
                </c:pt>
                <c:pt idx="7">
                  <c:v>58.702456</c:v>
                </c:pt>
                <c:pt idx="8">
                  <c:v>55.151272</c:v>
                </c:pt>
                <c:pt idx="9">
                  <c:v>58.316993</c:v>
                </c:pt>
                <c:pt idx="10">
                  <c:v>55.683431</c:v>
                </c:pt>
                <c:pt idx="11">
                  <c:v>54.217222</c:v>
                </c:pt>
                <c:pt idx="12">
                  <c:v>53.721804</c:v>
                </c:pt>
                <c:pt idx="13">
                  <c:v>53.436755</c:v>
                </c:pt>
                <c:pt idx="14">
                  <c:v>53.390517</c:v>
                </c:pt>
                <c:pt idx="15">
                  <c:v>52.637278</c:v>
                </c:pt>
                <c:pt idx="16">
                  <c:v>50.078757</c:v>
                </c:pt>
                <c:pt idx="17">
                  <c:v>49.943987</c:v>
                </c:pt>
                <c:pt idx="18">
                  <c:v>51.827197</c:v>
                </c:pt>
                <c:pt idx="19">
                  <c:v>51.421406</c:v>
                </c:pt>
                <c:pt idx="20">
                  <c:v>52.911423</c:v>
                </c:pt>
                <c:pt idx="21">
                  <c:v>48.103999</c:v>
                </c:pt>
                <c:pt idx="22">
                  <c:v>51.373225</c:v>
                </c:pt>
                <c:pt idx="23">
                  <c:v>49.345949</c:v>
                </c:pt>
                <c:pt idx="24">
                  <c:v>48.716039</c:v>
                </c:pt>
                <c:pt idx="25">
                  <c:v>49.957244</c:v>
                </c:pt>
                <c:pt idx="26">
                  <c:v>50.273186</c:v>
                </c:pt>
                <c:pt idx="27">
                  <c:v>47.649455</c:v>
                </c:pt>
                <c:pt idx="28">
                  <c:v>47.519069</c:v>
                </c:pt>
                <c:pt idx="29">
                  <c:v>47.849581</c:v>
                </c:pt>
                <c:pt idx="30">
                  <c:v>48.584954</c:v>
                </c:pt>
                <c:pt idx="31">
                  <c:v>48.660882</c:v>
                </c:pt>
                <c:pt idx="32">
                  <c:v>48.066121</c:v>
                </c:pt>
                <c:pt idx="33">
                  <c:v>48.762568</c:v>
                </c:pt>
                <c:pt idx="34">
                  <c:v>50.810352</c:v>
                </c:pt>
                <c:pt idx="35">
                  <c:v>47.414462</c:v>
                </c:pt>
                <c:pt idx="36">
                  <c:v>45.584899</c:v>
                </c:pt>
                <c:pt idx="37">
                  <c:v>48.086705</c:v>
                </c:pt>
                <c:pt idx="38">
                  <c:v>46.759818</c:v>
                </c:pt>
                <c:pt idx="39">
                  <c:v>46.598005</c:v>
                </c:pt>
                <c:pt idx="40">
                  <c:v>46.753053</c:v>
                </c:pt>
                <c:pt idx="41">
                  <c:v>48.056827</c:v>
                </c:pt>
                <c:pt idx="42">
                  <c:v>45.708477</c:v>
                </c:pt>
                <c:pt idx="43">
                  <c:v>45.023787</c:v>
                </c:pt>
                <c:pt idx="44">
                  <c:v>44.783999</c:v>
                </c:pt>
                <c:pt idx="45">
                  <c:v>46.961725</c:v>
                </c:pt>
                <c:pt idx="46">
                  <c:v>46.025112</c:v>
                </c:pt>
                <c:pt idx="47">
                  <c:v>47.071731</c:v>
                </c:pt>
                <c:pt idx="48">
                  <c:v>48.391122</c:v>
                </c:pt>
                <c:pt idx="49">
                  <c:v>44.965828</c:v>
                </c:pt>
                <c:pt idx="50">
                  <c:v>47.071818</c:v>
                </c:pt>
                <c:pt idx="51">
                  <c:v>46.482103</c:v>
                </c:pt>
                <c:pt idx="52">
                  <c:v>46.938337</c:v>
                </c:pt>
              </c:numCache>
            </c:numRef>
          </c:yVal>
          <c:smooth val="0"/>
        </c:ser>
        <c:axId val="48650112"/>
        <c:axId val="48672768"/>
      </c:scatterChart>
      <c:valAx>
        <c:axId val="48672768"/>
        <c:scaling>
          <c:orientation val="minMax"/>
          <c:max val="16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DDDDD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75">
                    <a:solidFill>
                      <a:srgbClr val="333333"/>
                    </a:solidFill>
                    <a:latin typeface="Calibri"/>
                    <a:ea typeface="Calibri"/>
                    <a:cs typeface="Calibri"/>
                  </a:rPr>
                  <a:t>RMSE (rentals per hour)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75">
                  <a:solidFill>
                    <a:srgbClr val="333333"/>
                  </a:solidFill>
                  <a:latin typeface="Calibri"/>
                  <a:ea typeface="Calibri"/>
                  <a:cs typeface="Calibri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333333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40"/>
      </c:valAx>
      <c:valAx>
        <c:axId val="48650112"/>
        <c:scaling>
          <c:orientation val="minMax"/>
          <c:max val="53"/>
          <c:min val="1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75">
                    <a:solidFill>
                      <a:srgbClr val="333333"/>
                    </a:solidFill>
                    <a:latin typeface="Calibri"/>
                    <a:ea typeface="Calibri"/>
                    <a:cs typeface="Calibri"/>
                  </a:rPr>
                  <a:t>Epoch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75">
                  <a:solidFill>
                    <a:srgbClr val="333333"/>
                  </a:solidFill>
                  <a:latin typeface="Calibri"/>
                  <a:ea typeface="Calibri"/>
                  <a:cs typeface="Calibri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333333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10"/>
      </c:valAx>
      <c:spPr>
        <a:solidFill xmlns:a="http://schemas.openxmlformats.org/drawingml/2006/main">
          <a:srgbClr val="FFFFFF"/>
        </a:solidFill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75">
              <a:solidFill>
                <a:srgbClr val="333333"/>
              </a:solidFill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Test RMSE</c:v>
          </c:tx>
          <c:spPr>
            <a:solidFill xmlns:a="http://schemas.openxmlformats.org/drawingml/2006/main">
              <a:srgbClr val="245E83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AA652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6B6B6B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985878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7782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245E83"/>
              </a:solidFill>
            </c:spPr>
          </c:dPt>
          <c:cat>
            <c:strRef>
              <c:f>'Chart Data'!$A$2:$A$6</c:f>
              <c:strCache>
                <c:ptCount val="5"/>
                <c:pt idx="0">
                  <c:v>Same hour yesterday</c:v>
                </c:pt>
                <c:pt idx="1">
                  <c:v>Previous hour</c:v>
                </c:pt>
                <c:pt idx="2">
                  <c:v>LSTM</c:v>
                </c:pt>
                <c:pt idx="3">
                  <c:v>Basic RNN</c:v>
                </c:pt>
                <c:pt idx="4">
                  <c:v>Dense network</c:v>
                </c:pt>
              </c:strCache>
            </c:strRef>
          </c:cat>
          <c:val>
            <c:numRef>
              <c:f>'Chart Data'!$B$2:$B$6</c:f>
              <c:numCache>
                <c:formatCode>0.0</c:formatCode>
                <c:ptCount val="5"/>
                <c:pt idx="0">
                  <c:v>134.872168</c:v>
                </c:pt>
                <c:pt idx="1">
                  <c:v>130.896961</c:v>
                </c:pt>
                <c:pt idx="2">
                  <c:v>85.70122</c:v>
                </c:pt>
                <c:pt idx="3">
                  <c:v>79.648869</c:v>
                </c:pt>
                <c:pt idx="4">
                  <c:v>55.17939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75">
                  <a:solidFill>
                    <a:srgbClr val="333333"/>
                  </a:solidFill>
                  <a:latin typeface="Calibri"/>
                  <a:ea typeface="Calibri"/>
                  <a:cs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333333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</c:catAx>
      <c:valAx>
        <c:axId val="48672768"/>
        <c:scaling>
          <c:orientation val="minMax"/>
          <c:max val="160"/>
          <c:min val="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DDDDD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75">
                    <a:solidFill>
                      <a:srgbClr val="333333"/>
                    </a:solidFill>
                    <a:latin typeface="Calibri"/>
                    <a:ea typeface="Calibri"/>
                    <a:cs typeface="Calibri"/>
                  </a:rPr>
                  <a:t>RMSE (rentals per hour)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75">
                  <a:solidFill>
                    <a:srgbClr val="333333"/>
                  </a:solidFill>
                  <a:latin typeface="Calibri"/>
                  <a:ea typeface="Calibri"/>
                  <a:cs typeface="Calibri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333333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crossBetween val="between"/>
        <c:majorUnit val="4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ser>
          <c:idx val="0"/>
          <c:order val="0"/>
          <c:tx>
            <c:v>Actual rentals</c:v>
          </c:tx>
          <c:spPr>
            <a:ln xmlns:a="http://schemas.openxmlformats.org/drawingml/2006/main" w="20955">
              <a:solidFill>
                <a:srgbClr val="333333"/>
              </a:solidFill>
            </a:ln>
          </c:spPr>
          <c:marker>
            <c:symbol val="none"/>
          </c:marker>
          <c:xVal>
            <c:numRef>
              <c:f>'Chart Data'!$A$2:$A$169</c:f>
              <c:numCache>
                <c:formatCode>mmm d</c:formatCode>
                <c:ptCount val="168"/>
                <c:pt idx="0">
                  <c:v>41091</c:v>
                </c:pt>
                <c:pt idx="1">
                  <c:v>41091.041667</c:v>
                </c:pt>
                <c:pt idx="2">
                  <c:v>41091.083333</c:v>
                </c:pt>
                <c:pt idx="3">
                  <c:v>41091.125</c:v>
                </c:pt>
                <c:pt idx="4">
                  <c:v>41091.166667</c:v>
                </c:pt>
                <c:pt idx="5">
                  <c:v>41091.208333</c:v>
                </c:pt>
                <c:pt idx="6">
                  <c:v>41091.25</c:v>
                </c:pt>
                <c:pt idx="7">
                  <c:v>41091.291667</c:v>
                </c:pt>
                <c:pt idx="8">
                  <c:v>41091.333333</c:v>
                </c:pt>
                <c:pt idx="9">
                  <c:v>41091.375</c:v>
                </c:pt>
                <c:pt idx="10">
                  <c:v>41091.416667</c:v>
                </c:pt>
                <c:pt idx="11">
                  <c:v>41091.458333</c:v>
                </c:pt>
                <c:pt idx="12">
                  <c:v>41091.5</c:v>
                </c:pt>
                <c:pt idx="13">
                  <c:v>41091.541667</c:v>
                </c:pt>
                <c:pt idx="14">
                  <c:v>41091.583333</c:v>
                </c:pt>
                <c:pt idx="15">
                  <c:v>41091.625</c:v>
                </c:pt>
                <c:pt idx="16">
                  <c:v>41091.666667</c:v>
                </c:pt>
                <c:pt idx="17">
                  <c:v>41091.708333</c:v>
                </c:pt>
                <c:pt idx="18">
                  <c:v>41091.75</c:v>
                </c:pt>
                <c:pt idx="19">
                  <c:v>41091.791667</c:v>
                </c:pt>
                <c:pt idx="20">
                  <c:v>41091.833333</c:v>
                </c:pt>
                <c:pt idx="21">
                  <c:v>41091.875</c:v>
                </c:pt>
                <c:pt idx="22">
                  <c:v>41091.916667</c:v>
                </c:pt>
                <c:pt idx="23">
                  <c:v>41091.958333</c:v>
                </c:pt>
                <c:pt idx="24">
                  <c:v>41092</c:v>
                </c:pt>
                <c:pt idx="25">
                  <c:v>41092.041667</c:v>
                </c:pt>
                <c:pt idx="26">
                  <c:v>41092.083333</c:v>
                </c:pt>
                <c:pt idx="27">
                  <c:v>41092.125</c:v>
                </c:pt>
                <c:pt idx="28">
                  <c:v>41092.166667</c:v>
                </c:pt>
                <c:pt idx="29">
                  <c:v>41092.208333</c:v>
                </c:pt>
                <c:pt idx="30">
                  <c:v>41092.25</c:v>
                </c:pt>
                <c:pt idx="31">
                  <c:v>41092.291667</c:v>
                </c:pt>
                <c:pt idx="32">
                  <c:v>41092.333333</c:v>
                </c:pt>
                <c:pt idx="33">
                  <c:v>41092.375</c:v>
                </c:pt>
                <c:pt idx="34">
                  <c:v>41092.416667</c:v>
                </c:pt>
                <c:pt idx="35">
                  <c:v>41092.458333</c:v>
                </c:pt>
                <c:pt idx="36">
                  <c:v>41092.5</c:v>
                </c:pt>
                <c:pt idx="37">
                  <c:v>41092.541667</c:v>
                </c:pt>
                <c:pt idx="38">
                  <c:v>41092.583333</c:v>
                </c:pt>
                <c:pt idx="39">
                  <c:v>41092.625</c:v>
                </c:pt>
                <c:pt idx="40">
                  <c:v>41092.666667</c:v>
                </c:pt>
                <c:pt idx="41">
                  <c:v>41092.708333</c:v>
                </c:pt>
                <c:pt idx="42">
                  <c:v>41092.75</c:v>
                </c:pt>
                <c:pt idx="43">
                  <c:v>41092.791667</c:v>
                </c:pt>
                <c:pt idx="44">
                  <c:v>41092.833333</c:v>
                </c:pt>
                <c:pt idx="45">
                  <c:v>41092.875</c:v>
                </c:pt>
                <c:pt idx="46">
                  <c:v>41092.916667</c:v>
                </c:pt>
                <c:pt idx="47">
                  <c:v>41092.958333</c:v>
                </c:pt>
                <c:pt idx="48">
                  <c:v>41093</c:v>
                </c:pt>
                <c:pt idx="49">
                  <c:v>41093.041667</c:v>
                </c:pt>
                <c:pt idx="50">
                  <c:v>41093.083333</c:v>
                </c:pt>
                <c:pt idx="51">
                  <c:v>41093.125</c:v>
                </c:pt>
                <c:pt idx="52">
                  <c:v>41093.166667</c:v>
                </c:pt>
                <c:pt idx="53">
                  <c:v>41093.208333</c:v>
                </c:pt>
                <c:pt idx="54">
                  <c:v>41093.25</c:v>
                </c:pt>
                <c:pt idx="55">
                  <c:v>41093.291667</c:v>
                </c:pt>
                <c:pt idx="56">
                  <c:v>41093.333333</c:v>
                </c:pt>
                <c:pt idx="57">
                  <c:v>41093.375</c:v>
                </c:pt>
                <c:pt idx="58">
                  <c:v>41093.416667</c:v>
                </c:pt>
                <c:pt idx="59">
                  <c:v>41093.458333</c:v>
                </c:pt>
                <c:pt idx="60">
                  <c:v>41093.5</c:v>
                </c:pt>
                <c:pt idx="61">
                  <c:v>41093.541667</c:v>
                </c:pt>
                <c:pt idx="62">
                  <c:v>41093.583333</c:v>
                </c:pt>
                <c:pt idx="63">
                  <c:v>41093.625</c:v>
                </c:pt>
                <c:pt idx="64">
                  <c:v>41093.666667</c:v>
                </c:pt>
                <c:pt idx="65">
                  <c:v>41093.708333</c:v>
                </c:pt>
                <c:pt idx="66">
                  <c:v>41093.75</c:v>
                </c:pt>
                <c:pt idx="67">
                  <c:v>41093.791667</c:v>
                </c:pt>
                <c:pt idx="68">
                  <c:v>41093.833333</c:v>
                </c:pt>
                <c:pt idx="69">
                  <c:v>41093.875</c:v>
                </c:pt>
                <c:pt idx="70">
                  <c:v>41093.916667</c:v>
                </c:pt>
                <c:pt idx="71">
                  <c:v>41093.958333</c:v>
                </c:pt>
                <c:pt idx="72">
                  <c:v>41094</c:v>
                </c:pt>
                <c:pt idx="73">
                  <c:v>41094.041667</c:v>
                </c:pt>
                <c:pt idx="74">
                  <c:v>41094.083333</c:v>
                </c:pt>
                <c:pt idx="75">
                  <c:v>41094.125</c:v>
                </c:pt>
                <c:pt idx="76">
                  <c:v>41094.166667</c:v>
                </c:pt>
                <c:pt idx="77">
                  <c:v>41094.208333</c:v>
                </c:pt>
                <c:pt idx="78">
                  <c:v>41094.25</c:v>
                </c:pt>
                <c:pt idx="79">
                  <c:v>41094.291667</c:v>
                </c:pt>
                <c:pt idx="80">
                  <c:v>41094.333333</c:v>
                </c:pt>
                <c:pt idx="81">
                  <c:v>41094.375</c:v>
                </c:pt>
                <c:pt idx="82">
                  <c:v>41094.416667</c:v>
                </c:pt>
                <c:pt idx="83">
                  <c:v>41094.458333</c:v>
                </c:pt>
                <c:pt idx="84">
                  <c:v>41094.5</c:v>
                </c:pt>
                <c:pt idx="85">
                  <c:v>41094.541667</c:v>
                </c:pt>
                <c:pt idx="86">
                  <c:v>41094.583333</c:v>
                </c:pt>
                <c:pt idx="87">
                  <c:v>41094.625</c:v>
                </c:pt>
                <c:pt idx="88">
                  <c:v>41094.666667</c:v>
                </c:pt>
                <c:pt idx="89">
                  <c:v>41094.708333</c:v>
                </c:pt>
                <c:pt idx="90">
                  <c:v>41094.75</c:v>
                </c:pt>
                <c:pt idx="91">
                  <c:v>41094.791667</c:v>
                </c:pt>
                <c:pt idx="92">
                  <c:v>41094.833333</c:v>
                </c:pt>
                <c:pt idx="93">
                  <c:v>41094.875</c:v>
                </c:pt>
                <c:pt idx="94">
                  <c:v>41094.916667</c:v>
                </c:pt>
                <c:pt idx="95">
                  <c:v>41094.958333</c:v>
                </c:pt>
                <c:pt idx="96">
                  <c:v>41095</c:v>
                </c:pt>
                <c:pt idx="97">
                  <c:v>41095.041667</c:v>
                </c:pt>
                <c:pt idx="98">
                  <c:v>41095.083333</c:v>
                </c:pt>
                <c:pt idx="99">
                  <c:v>41095.125</c:v>
                </c:pt>
                <c:pt idx="100">
                  <c:v>41095.166667</c:v>
                </c:pt>
                <c:pt idx="101">
                  <c:v>41095.208333</c:v>
                </c:pt>
                <c:pt idx="102">
                  <c:v>41095.25</c:v>
                </c:pt>
                <c:pt idx="103">
                  <c:v>41095.291667</c:v>
                </c:pt>
                <c:pt idx="104">
                  <c:v>41095.333333</c:v>
                </c:pt>
                <c:pt idx="105">
                  <c:v>41095.375</c:v>
                </c:pt>
                <c:pt idx="106">
                  <c:v>41095.416667</c:v>
                </c:pt>
                <c:pt idx="107">
                  <c:v>41095.458333</c:v>
                </c:pt>
                <c:pt idx="108">
                  <c:v>41095.5</c:v>
                </c:pt>
                <c:pt idx="109">
                  <c:v>41095.541667</c:v>
                </c:pt>
                <c:pt idx="110">
                  <c:v>41095.583333</c:v>
                </c:pt>
                <c:pt idx="111">
                  <c:v>41095.625</c:v>
                </c:pt>
                <c:pt idx="112">
                  <c:v>41095.666667</c:v>
                </c:pt>
                <c:pt idx="113">
                  <c:v>41095.708333</c:v>
                </c:pt>
                <c:pt idx="114">
                  <c:v>41095.75</c:v>
                </c:pt>
                <c:pt idx="115">
                  <c:v>41095.791667</c:v>
                </c:pt>
                <c:pt idx="116">
                  <c:v>41095.833333</c:v>
                </c:pt>
                <c:pt idx="117">
                  <c:v>41095.875</c:v>
                </c:pt>
                <c:pt idx="118">
                  <c:v>41095.916667</c:v>
                </c:pt>
                <c:pt idx="119">
                  <c:v>41095.958333</c:v>
                </c:pt>
                <c:pt idx="120">
                  <c:v>41096</c:v>
                </c:pt>
                <c:pt idx="121">
                  <c:v>41096.041667</c:v>
                </c:pt>
                <c:pt idx="122">
                  <c:v>41096.083333</c:v>
                </c:pt>
                <c:pt idx="123">
                  <c:v>41096.125</c:v>
                </c:pt>
                <c:pt idx="124">
                  <c:v>41096.166667</c:v>
                </c:pt>
                <c:pt idx="125">
                  <c:v>41096.208333</c:v>
                </c:pt>
                <c:pt idx="126">
                  <c:v>41096.25</c:v>
                </c:pt>
                <c:pt idx="127">
                  <c:v>41096.291667</c:v>
                </c:pt>
                <c:pt idx="128">
                  <c:v>41096.333333</c:v>
                </c:pt>
                <c:pt idx="129">
                  <c:v>41096.375</c:v>
                </c:pt>
                <c:pt idx="130">
                  <c:v>41096.416667</c:v>
                </c:pt>
                <c:pt idx="131">
                  <c:v>41096.458333</c:v>
                </c:pt>
                <c:pt idx="132">
                  <c:v>41096.5</c:v>
                </c:pt>
                <c:pt idx="133">
                  <c:v>41096.541667</c:v>
                </c:pt>
                <c:pt idx="134">
                  <c:v>41096.583333</c:v>
                </c:pt>
                <c:pt idx="135">
                  <c:v>41096.625</c:v>
                </c:pt>
                <c:pt idx="136">
                  <c:v>41096.666667</c:v>
                </c:pt>
                <c:pt idx="137">
                  <c:v>41096.708333</c:v>
                </c:pt>
                <c:pt idx="138">
                  <c:v>41096.75</c:v>
                </c:pt>
                <c:pt idx="139">
                  <c:v>41096.791667</c:v>
                </c:pt>
                <c:pt idx="140">
                  <c:v>41096.833333</c:v>
                </c:pt>
                <c:pt idx="141">
                  <c:v>41096.875</c:v>
                </c:pt>
                <c:pt idx="142">
                  <c:v>41096.916667</c:v>
                </c:pt>
                <c:pt idx="143">
                  <c:v>41096.958333</c:v>
                </c:pt>
                <c:pt idx="144">
                  <c:v>41097</c:v>
                </c:pt>
                <c:pt idx="145">
                  <c:v>41097.041667</c:v>
                </c:pt>
                <c:pt idx="146">
                  <c:v>41097.083333</c:v>
                </c:pt>
                <c:pt idx="147">
                  <c:v>41097.125</c:v>
                </c:pt>
                <c:pt idx="148">
                  <c:v>41097.166667</c:v>
                </c:pt>
                <c:pt idx="149">
                  <c:v>41097.208333</c:v>
                </c:pt>
                <c:pt idx="150">
                  <c:v>41097.25</c:v>
                </c:pt>
                <c:pt idx="151">
                  <c:v>41097.291667</c:v>
                </c:pt>
                <c:pt idx="152">
                  <c:v>41097.333333</c:v>
                </c:pt>
                <c:pt idx="153">
                  <c:v>41097.375</c:v>
                </c:pt>
                <c:pt idx="154">
                  <c:v>41097.416667</c:v>
                </c:pt>
                <c:pt idx="155">
                  <c:v>41097.458333</c:v>
                </c:pt>
                <c:pt idx="156">
                  <c:v>41097.5</c:v>
                </c:pt>
                <c:pt idx="157">
                  <c:v>41097.541667</c:v>
                </c:pt>
                <c:pt idx="158">
                  <c:v>41097.583333</c:v>
                </c:pt>
                <c:pt idx="159">
                  <c:v>41097.625</c:v>
                </c:pt>
                <c:pt idx="160">
                  <c:v>41097.666667</c:v>
                </c:pt>
                <c:pt idx="161">
                  <c:v>41097.708333</c:v>
                </c:pt>
                <c:pt idx="162">
                  <c:v>41097.75</c:v>
                </c:pt>
                <c:pt idx="163">
                  <c:v>41097.791667</c:v>
                </c:pt>
                <c:pt idx="164">
                  <c:v>41097.833333</c:v>
                </c:pt>
                <c:pt idx="165">
                  <c:v>41097.875</c:v>
                </c:pt>
                <c:pt idx="166">
                  <c:v>41097.916667</c:v>
                </c:pt>
                <c:pt idx="167">
                  <c:v>41097.958333</c:v>
                </c:pt>
              </c:numCache>
            </c:numRef>
          </c:xVal>
          <c:yVal>
            <c:numRef>
              <c:f>'Chart Data'!$B$2:$B$169</c:f>
              <c:numCache>
                <c:formatCode>0.00</c:formatCode>
                <c:ptCount val="168"/>
                <c:pt idx="0">
                  <c:v>149</c:v>
                </c:pt>
                <c:pt idx="1">
                  <c:v>93</c:v>
                </c:pt>
                <c:pt idx="2">
                  <c:v>90</c:v>
                </c:pt>
                <c:pt idx="3">
                  <c:v>33</c:v>
                </c:pt>
                <c:pt idx="4">
                  <c:v>4</c:v>
                </c:pt>
                <c:pt idx="5">
                  <c:v>10</c:v>
                </c:pt>
                <c:pt idx="6">
                  <c:v>27</c:v>
                </c:pt>
                <c:pt idx="7">
                  <c:v>50</c:v>
                </c:pt>
                <c:pt idx="8">
                  <c:v>142</c:v>
                </c:pt>
                <c:pt idx="9">
                  <c:v>219</c:v>
                </c:pt>
                <c:pt idx="10">
                  <c:v>366</c:v>
                </c:pt>
                <c:pt idx="11">
                  <c:v>377</c:v>
                </c:pt>
                <c:pt idx="12">
                  <c:v>433</c:v>
                </c:pt>
                <c:pt idx="13">
                  <c:v>420</c:v>
                </c:pt>
                <c:pt idx="14">
                  <c:v>444</c:v>
                </c:pt>
                <c:pt idx="15">
                  <c:v>345</c:v>
                </c:pt>
                <c:pt idx="16">
                  <c:v>313</c:v>
                </c:pt>
                <c:pt idx="17">
                  <c:v>413</c:v>
                </c:pt>
                <c:pt idx="18">
                  <c:v>370</c:v>
                </c:pt>
                <c:pt idx="19">
                  <c:v>382</c:v>
                </c:pt>
                <c:pt idx="20">
                  <c:v>332</c:v>
                </c:pt>
                <c:pt idx="21">
                  <c:v>258</c:v>
                </c:pt>
                <c:pt idx="22">
                  <c:v>151</c:v>
                </c:pt>
                <c:pt idx="23">
                  <c:v>110</c:v>
                </c:pt>
                <c:pt idx="24">
                  <c:v>43</c:v>
                </c:pt>
                <c:pt idx="25">
                  <c:v>17</c:v>
                </c:pt>
                <c:pt idx="26">
                  <c:v>15</c:v>
                </c:pt>
                <c:pt idx="27">
                  <c:v>5</c:v>
                </c:pt>
                <c:pt idx="28">
                  <c:v>12</c:v>
                </c:pt>
                <c:pt idx="29">
                  <c:v>40</c:v>
                </c:pt>
                <c:pt idx="30">
                  <c:v>136</c:v>
                </c:pt>
                <c:pt idx="31">
                  <c:v>398</c:v>
                </c:pt>
                <c:pt idx="32">
                  <c:v>568</c:v>
                </c:pt>
                <c:pt idx="33">
                  <c:v>295</c:v>
                </c:pt>
                <c:pt idx="34">
                  <c:v>174</c:v>
                </c:pt>
                <c:pt idx="35">
                  <c:v>201</c:v>
                </c:pt>
                <c:pt idx="36">
                  <c:v>257</c:v>
                </c:pt>
                <c:pt idx="37">
                  <c:v>236</c:v>
                </c:pt>
                <c:pt idx="38">
                  <c:v>230</c:v>
                </c:pt>
                <c:pt idx="39">
                  <c:v>234</c:v>
                </c:pt>
                <c:pt idx="40">
                  <c:v>365</c:v>
                </c:pt>
                <c:pt idx="41">
                  <c:v>747</c:v>
                </c:pt>
                <c:pt idx="42">
                  <c:v>730</c:v>
                </c:pt>
                <c:pt idx="43">
                  <c:v>581</c:v>
                </c:pt>
                <c:pt idx="44">
                  <c:v>395</c:v>
                </c:pt>
                <c:pt idx="45">
                  <c:v>258</c:v>
                </c:pt>
                <c:pt idx="46">
                  <c:v>188</c:v>
                </c:pt>
                <c:pt idx="47">
                  <c:v>102</c:v>
                </c:pt>
                <c:pt idx="48">
                  <c:v>53</c:v>
                </c:pt>
                <c:pt idx="49">
                  <c:v>14</c:v>
                </c:pt>
                <c:pt idx="50">
                  <c:v>10</c:v>
                </c:pt>
                <c:pt idx="51">
                  <c:v>2</c:v>
                </c:pt>
                <c:pt idx="52">
                  <c:v>6</c:v>
                </c:pt>
                <c:pt idx="53">
                  <c:v>35</c:v>
                </c:pt>
                <c:pt idx="54">
                  <c:v>154</c:v>
                </c:pt>
                <c:pt idx="55">
                  <c:v>483</c:v>
                </c:pt>
                <c:pt idx="56">
                  <c:v>646</c:v>
                </c:pt>
                <c:pt idx="57">
                  <c:v>272</c:v>
                </c:pt>
                <c:pt idx="58">
                  <c:v>209</c:v>
                </c:pt>
                <c:pt idx="59">
                  <c:v>217</c:v>
                </c:pt>
                <c:pt idx="60">
                  <c:v>272</c:v>
                </c:pt>
                <c:pt idx="61">
                  <c:v>283</c:v>
                </c:pt>
                <c:pt idx="62">
                  <c:v>310</c:v>
                </c:pt>
                <c:pt idx="63">
                  <c:v>401</c:v>
                </c:pt>
                <c:pt idx="64">
                  <c:v>527</c:v>
                </c:pt>
                <c:pt idx="65">
                  <c:v>722</c:v>
                </c:pt>
                <c:pt idx="66">
                  <c:v>627</c:v>
                </c:pt>
                <c:pt idx="67">
                  <c:v>497</c:v>
                </c:pt>
                <c:pt idx="68">
                  <c:v>376</c:v>
                </c:pt>
                <c:pt idx="69">
                  <c:v>196</c:v>
                </c:pt>
                <c:pt idx="70">
                  <c:v>177</c:v>
                </c:pt>
                <c:pt idx="71">
                  <c:v>171</c:v>
                </c:pt>
                <c:pt idx="72">
                  <c:v>159</c:v>
                </c:pt>
                <c:pt idx="73">
                  <c:v>123</c:v>
                </c:pt>
                <c:pt idx="74">
                  <c:v>93</c:v>
                </c:pt>
                <c:pt idx="75">
                  <c:v>32</c:v>
                </c:pt>
                <c:pt idx="76">
                  <c:v>16</c:v>
                </c:pt>
                <c:pt idx="77">
                  <c:v>19</c:v>
                </c:pt>
                <c:pt idx="78">
                  <c:v>32</c:v>
                </c:pt>
                <c:pt idx="79">
                  <c:v>72</c:v>
                </c:pt>
                <c:pt idx="80">
                  <c:v>153</c:v>
                </c:pt>
                <c:pt idx="81">
                  <c:v>293</c:v>
                </c:pt>
                <c:pt idx="82">
                  <c:v>447</c:v>
                </c:pt>
                <c:pt idx="83">
                  <c:v>485</c:v>
                </c:pt>
                <c:pt idx="84">
                  <c:v>494</c:v>
                </c:pt>
                <c:pt idx="85">
                  <c:v>499</c:v>
                </c:pt>
                <c:pt idx="86">
                  <c:v>547</c:v>
                </c:pt>
                <c:pt idx="87">
                  <c:v>454</c:v>
                </c:pt>
                <c:pt idx="88">
                  <c:v>389</c:v>
                </c:pt>
                <c:pt idx="89">
                  <c:v>414</c:v>
                </c:pt>
                <c:pt idx="90">
                  <c:v>430</c:v>
                </c:pt>
                <c:pt idx="91">
                  <c:v>432</c:v>
                </c:pt>
                <c:pt idx="92">
                  <c:v>551</c:v>
                </c:pt>
                <c:pt idx="93">
                  <c:v>584</c:v>
                </c:pt>
                <c:pt idx="94">
                  <c:v>502</c:v>
                </c:pt>
                <c:pt idx="95">
                  <c:v>183</c:v>
                </c:pt>
                <c:pt idx="96">
                  <c:v>88</c:v>
                </c:pt>
                <c:pt idx="97">
                  <c:v>30</c:v>
                </c:pt>
                <c:pt idx="98">
                  <c:v>18</c:v>
                </c:pt>
                <c:pt idx="99">
                  <c:v>7</c:v>
                </c:pt>
                <c:pt idx="100">
                  <c:v>7</c:v>
                </c:pt>
                <c:pt idx="101">
                  <c:v>29</c:v>
                </c:pt>
                <c:pt idx="102">
                  <c:v>133</c:v>
                </c:pt>
                <c:pt idx="103">
                  <c:v>343</c:v>
                </c:pt>
                <c:pt idx="104">
                  <c:v>550</c:v>
                </c:pt>
                <c:pt idx="105">
                  <c:v>293</c:v>
                </c:pt>
                <c:pt idx="106">
                  <c:v>186</c:v>
                </c:pt>
                <c:pt idx="107">
                  <c:v>244</c:v>
                </c:pt>
                <c:pt idx="108">
                  <c:v>276</c:v>
                </c:pt>
                <c:pt idx="109">
                  <c:v>310</c:v>
                </c:pt>
                <c:pt idx="110">
                  <c:v>241</c:v>
                </c:pt>
                <c:pt idx="111">
                  <c:v>254</c:v>
                </c:pt>
                <c:pt idx="112">
                  <c:v>433</c:v>
                </c:pt>
                <c:pt idx="113">
                  <c:v>689</c:v>
                </c:pt>
                <c:pt idx="114">
                  <c:v>607</c:v>
                </c:pt>
                <c:pt idx="115">
                  <c:v>503</c:v>
                </c:pt>
                <c:pt idx="116">
                  <c:v>321</c:v>
                </c:pt>
                <c:pt idx="117">
                  <c:v>323</c:v>
                </c:pt>
                <c:pt idx="118">
                  <c:v>225</c:v>
                </c:pt>
                <c:pt idx="119">
                  <c:v>131</c:v>
                </c:pt>
                <c:pt idx="120">
                  <c:v>102</c:v>
                </c:pt>
                <c:pt idx="121">
                  <c:v>29</c:v>
                </c:pt>
                <c:pt idx="122">
                  <c:v>17</c:v>
                </c:pt>
                <c:pt idx="123">
                  <c:v>7</c:v>
                </c:pt>
                <c:pt idx="124">
                  <c:v>6</c:v>
                </c:pt>
                <c:pt idx="125">
                  <c:v>35</c:v>
                </c:pt>
                <c:pt idx="126">
                  <c:v>131</c:v>
                </c:pt>
                <c:pt idx="127">
                  <c:v>353</c:v>
                </c:pt>
                <c:pt idx="128">
                  <c:v>585</c:v>
                </c:pt>
                <c:pt idx="129">
                  <c:v>304</c:v>
                </c:pt>
                <c:pt idx="130">
                  <c:v>210</c:v>
                </c:pt>
                <c:pt idx="131">
                  <c:v>233</c:v>
                </c:pt>
                <c:pt idx="132">
                  <c:v>331</c:v>
                </c:pt>
                <c:pt idx="133">
                  <c:v>293</c:v>
                </c:pt>
                <c:pt idx="134">
                  <c:v>275</c:v>
                </c:pt>
                <c:pt idx="135">
                  <c:v>285</c:v>
                </c:pt>
                <c:pt idx="136">
                  <c:v>369</c:v>
                </c:pt>
                <c:pt idx="137">
                  <c:v>576</c:v>
                </c:pt>
                <c:pt idx="138">
                  <c:v>560</c:v>
                </c:pt>
                <c:pt idx="139">
                  <c:v>418</c:v>
                </c:pt>
                <c:pt idx="140">
                  <c:v>336</c:v>
                </c:pt>
                <c:pt idx="141">
                  <c:v>300</c:v>
                </c:pt>
                <c:pt idx="142">
                  <c:v>288</c:v>
                </c:pt>
                <c:pt idx="143">
                  <c:v>164</c:v>
                </c:pt>
                <c:pt idx="144">
                  <c:v>150</c:v>
                </c:pt>
                <c:pt idx="145">
                  <c:v>71</c:v>
                </c:pt>
                <c:pt idx="146">
                  <c:v>58</c:v>
                </c:pt>
                <c:pt idx="147">
                  <c:v>31</c:v>
                </c:pt>
                <c:pt idx="148">
                  <c:v>16</c:v>
                </c:pt>
                <c:pt idx="149">
                  <c:v>14</c:v>
                </c:pt>
                <c:pt idx="150">
                  <c:v>31</c:v>
                </c:pt>
                <c:pt idx="151">
                  <c:v>71</c:v>
                </c:pt>
                <c:pt idx="152">
                  <c:v>152</c:v>
                </c:pt>
                <c:pt idx="153">
                  <c:v>256</c:v>
                </c:pt>
                <c:pt idx="154">
                  <c:v>325</c:v>
                </c:pt>
                <c:pt idx="155">
                  <c:v>367</c:v>
                </c:pt>
                <c:pt idx="156">
                  <c:v>342</c:v>
                </c:pt>
                <c:pt idx="157">
                  <c:v>360</c:v>
                </c:pt>
                <c:pt idx="158">
                  <c:v>308</c:v>
                </c:pt>
                <c:pt idx="159">
                  <c:v>306</c:v>
                </c:pt>
                <c:pt idx="160">
                  <c:v>294</c:v>
                </c:pt>
                <c:pt idx="161">
                  <c:v>279</c:v>
                </c:pt>
                <c:pt idx="162">
                  <c:v>277</c:v>
                </c:pt>
                <c:pt idx="163">
                  <c:v>287</c:v>
                </c:pt>
                <c:pt idx="164">
                  <c:v>276</c:v>
                </c:pt>
                <c:pt idx="165">
                  <c:v>201</c:v>
                </c:pt>
                <c:pt idx="166">
                  <c:v>220</c:v>
                </c:pt>
                <c:pt idx="167">
                  <c:v>148</c:v>
                </c:pt>
              </c:numCache>
            </c:numRef>
          </c:yVal>
          <c:smooth val="0"/>
        </c:ser>
        <c:ser>
          <c:idx val="1"/>
          <c:order val="1"/>
          <c:tx>
            <c:v>Dense network forecast</c:v>
          </c:tx>
          <c:spPr>
            <a:ln xmlns:a="http://schemas.openxmlformats.org/drawingml/2006/main" w="20955">
              <a:solidFill>
                <a:srgbClr val="245E83"/>
              </a:solidFill>
              <a:prstDash val="dash"/>
            </a:ln>
          </c:spPr>
          <c:marker>
            <c:symbol val="none"/>
          </c:marker>
          <c:xVal>
            <c:numRef>
              <c:f>'Chart Data'!$C$2:$C$169</c:f>
              <c:numCache>
                <c:formatCode>mmm d</c:formatCode>
                <c:ptCount val="168"/>
                <c:pt idx="0">
                  <c:v>41091</c:v>
                </c:pt>
                <c:pt idx="1">
                  <c:v>41091.041667</c:v>
                </c:pt>
                <c:pt idx="2">
                  <c:v>41091.083333</c:v>
                </c:pt>
                <c:pt idx="3">
                  <c:v>41091.125</c:v>
                </c:pt>
                <c:pt idx="4">
                  <c:v>41091.166667</c:v>
                </c:pt>
                <c:pt idx="5">
                  <c:v>41091.208333</c:v>
                </c:pt>
                <c:pt idx="6">
                  <c:v>41091.25</c:v>
                </c:pt>
                <c:pt idx="7">
                  <c:v>41091.291667</c:v>
                </c:pt>
                <c:pt idx="8">
                  <c:v>41091.333333</c:v>
                </c:pt>
                <c:pt idx="9">
                  <c:v>41091.375</c:v>
                </c:pt>
                <c:pt idx="10">
                  <c:v>41091.416667</c:v>
                </c:pt>
                <c:pt idx="11">
                  <c:v>41091.458333</c:v>
                </c:pt>
                <c:pt idx="12">
                  <c:v>41091.5</c:v>
                </c:pt>
                <c:pt idx="13">
                  <c:v>41091.541667</c:v>
                </c:pt>
                <c:pt idx="14">
                  <c:v>41091.583333</c:v>
                </c:pt>
                <c:pt idx="15">
                  <c:v>41091.625</c:v>
                </c:pt>
                <c:pt idx="16">
                  <c:v>41091.666667</c:v>
                </c:pt>
                <c:pt idx="17">
                  <c:v>41091.708333</c:v>
                </c:pt>
                <c:pt idx="18">
                  <c:v>41091.75</c:v>
                </c:pt>
                <c:pt idx="19">
                  <c:v>41091.791667</c:v>
                </c:pt>
                <c:pt idx="20">
                  <c:v>41091.833333</c:v>
                </c:pt>
                <c:pt idx="21">
                  <c:v>41091.875</c:v>
                </c:pt>
                <c:pt idx="22">
                  <c:v>41091.916667</c:v>
                </c:pt>
                <c:pt idx="23">
                  <c:v>41091.958333</c:v>
                </c:pt>
                <c:pt idx="24">
                  <c:v>41092</c:v>
                </c:pt>
                <c:pt idx="25">
                  <c:v>41092.041667</c:v>
                </c:pt>
                <c:pt idx="26">
                  <c:v>41092.083333</c:v>
                </c:pt>
                <c:pt idx="27">
                  <c:v>41092.125</c:v>
                </c:pt>
                <c:pt idx="28">
                  <c:v>41092.166667</c:v>
                </c:pt>
                <c:pt idx="29">
                  <c:v>41092.208333</c:v>
                </c:pt>
                <c:pt idx="30">
                  <c:v>41092.25</c:v>
                </c:pt>
                <c:pt idx="31">
                  <c:v>41092.291667</c:v>
                </c:pt>
                <c:pt idx="32">
                  <c:v>41092.333333</c:v>
                </c:pt>
                <c:pt idx="33">
                  <c:v>41092.375</c:v>
                </c:pt>
                <c:pt idx="34">
                  <c:v>41092.416667</c:v>
                </c:pt>
                <c:pt idx="35">
                  <c:v>41092.458333</c:v>
                </c:pt>
                <c:pt idx="36">
                  <c:v>41092.5</c:v>
                </c:pt>
                <c:pt idx="37">
                  <c:v>41092.541667</c:v>
                </c:pt>
                <c:pt idx="38">
                  <c:v>41092.583333</c:v>
                </c:pt>
                <c:pt idx="39">
                  <c:v>41092.625</c:v>
                </c:pt>
                <c:pt idx="40">
                  <c:v>41092.666667</c:v>
                </c:pt>
                <c:pt idx="41">
                  <c:v>41092.708333</c:v>
                </c:pt>
                <c:pt idx="42">
                  <c:v>41092.75</c:v>
                </c:pt>
                <c:pt idx="43">
                  <c:v>41092.791667</c:v>
                </c:pt>
                <c:pt idx="44">
                  <c:v>41092.833333</c:v>
                </c:pt>
                <c:pt idx="45">
                  <c:v>41092.875</c:v>
                </c:pt>
                <c:pt idx="46">
                  <c:v>41092.916667</c:v>
                </c:pt>
                <c:pt idx="47">
                  <c:v>41092.958333</c:v>
                </c:pt>
                <c:pt idx="48">
                  <c:v>41093</c:v>
                </c:pt>
                <c:pt idx="49">
                  <c:v>41093.041667</c:v>
                </c:pt>
                <c:pt idx="50">
                  <c:v>41093.083333</c:v>
                </c:pt>
                <c:pt idx="51">
                  <c:v>41093.125</c:v>
                </c:pt>
                <c:pt idx="52">
                  <c:v>41093.166667</c:v>
                </c:pt>
                <c:pt idx="53">
                  <c:v>41093.208333</c:v>
                </c:pt>
                <c:pt idx="54">
                  <c:v>41093.25</c:v>
                </c:pt>
                <c:pt idx="55">
                  <c:v>41093.291667</c:v>
                </c:pt>
                <c:pt idx="56">
                  <c:v>41093.333333</c:v>
                </c:pt>
                <c:pt idx="57">
                  <c:v>41093.375</c:v>
                </c:pt>
                <c:pt idx="58">
                  <c:v>41093.416667</c:v>
                </c:pt>
                <c:pt idx="59">
                  <c:v>41093.458333</c:v>
                </c:pt>
                <c:pt idx="60">
                  <c:v>41093.5</c:v>
                </c:pt>
                <c:pt idx="61">
                  <c:v>41093.541667</c:v>
                </c:pt>
                <c:pt idx="62">
                  <c:v>41093.583333</c:v>
                </c:pt>
                <c:pt idx="63">
                  <c:v>41093.625</c:v>
                </c:pt>
                <c:pt idx="64">
                  <c:v>41093.666667</c:v>
                </c:pt>
                <c:pt idx="65">
                  <c:v>41093.708333</c:v>
                </c:pt>
                <c:pt idx="66">
                  <c:v>41093.75</c:v>
                </c:pt>
                <c:pt idx="67">
                  <c:v>41093.791667</c:v>
                </c:pt>
                <c:pt idx="68">
                  <c:v>41093.833333</c:v>
                </c:pt>
                <c:pt idx="69">
                  <c:v>41093.875</c:v>
                </c:pt>
                <c:pt idx="70">
                  <c:v>41093.916667</c:v>
                </c:pt>
                <c:pt idx="71">
                  <c:v>41093.958333</c:v>
                </c:pt>
                <c:pt idx="72">
                  <c:v>41094</c:v>
                </c:pt>
                <c:pt idx="73">
                  <c:v>41094.041667</c:v>
                </c:pt>
                <c:pt idx="74">
                  <c:v>41094.083333</c:v>
                </c:pt>
                <c:pt idx="75">
                  <c:v>41094.125</c:v>
                </c:pt>
                <c:pt idx="76">
                  <c:v>41094.166667</c:v>
                </c:pt>
                <c:pt idx="77">
                  <c:v>41094.208333</c:v>
                </c:pt>
                <c:pt idx="78">
                  <c:v>41094.25</c:v>
                </c:pt>
                <c:pt idx="79">
                  <c:v>41094.291667</c:v>
                </c:pt>
                <c:pt idx="80">
                  <c:v>41094.333333</c:v>
                </c:pt>
                <c:pt idx="81">
                  <c:v>41094.375</c:v>
                </c:pt>
                <c:pt idx="82">
                  <c:v>41094.416667</c:v>
                </c:pt>
                <c:pt idx="83">
                  <c:v>41094.458333</c:v>
                </c:pt>
                <c:pt idx="84">
                  <c:v>41094.5</c:v>
                </c:pt>
                <c:pt idx="85">
                  <c:v>41094.541667</c:v>
                </c:pt>
                <c:pt idx="86">
                  <c:v>41094.583333</c:v>
                </c:pt>
                <c:pt idx="87">
                  <c:v>41094.625</c:v>
                </c:pt>
                <c:pt idx="88">
                  <c:v>41094.666667</c:v>
                </c:pt>
                <c:pt idx="89">
                  <c:v>41094.708333</c:v>
                </c:pt>
                <c:pt idx="90">
                  <c:v>41094.75</c:v>
                </c:pt>
                <c:pt idx="91">
                  <c:v>41094.791667</c:v>
                </c:pt>
                <c:pt idx="92">
                  <c:v>41094.833333</c:v>
                </c:pt>
                <c:pt idx="93">
                  <c:v>41094.875</c:v>
                </c:pt>
                <c:pt idx="94">
                  <c:v>41094.916667</c:v>
                </c:pt>
                <c:pt idx="95">
                  <c:v>41094.958333</c:v>
                </c:pt>
                <c:pt idx="96">
                  <c:v>41095</c:v>
                </c:pt>
                <c:pt idx="97">
                  <c:v>41095.041667</c:v>
                </c:pt>
                <c:pt idx="98">
                  <c:v>41095.083333</c:v>
                </c:pt>
                <c:pt idx="99">
                  <c:v>41095.125</c:v>
                </c:pt>
                <c:pt idx="100">
                  <c:v>41095.166667</c:v>
                </c:pt>
                <c:pt idx="101">
                  <c:v>41095.208333</c:v>
                </c:pt>
                <c:pt idx="102">
                  <c:v>41095.25</c:v>
                </c:pt>
                <c:pt idx="103">
                  <c:v>41095.291667</c:v>
                </c:pt>
                <c:pt idx="104">
                  <c:v>41095.333333</c:v>
                </c:pt>
                <c:pt idx="105">
                  <c:v>41095.375</c:v>
                </c:pt>
                <c:pt idx="106">
                  <c:v>41095.416667</c:v>
                </c:pt>
                <c:pt idx="107">
                  <c:v>41095.458333</c:v>
                </c:pt>
                <c:pt idx="108">
                  <c:v>41095.5</c:v>
                </c:pt>
                <c:pt idx="109">
                  <c:v>41095.541667</c:v>
                </c:pt>
                <c:pt idx="110">
                  <c:v>41095.583333</c:v>
                </c:pt>
                <c:pt idx="111">
                  <c:v>41095.625</c:v>
                </c:pt>
                <c:pt idx="112">
                  <c:v>41095.666667</c:v>
                </c:pt>
                <c:pt idx="113">
                  <c:v>41095.708333</c:v>
                </c:pt>
                <c:pt idx="114">
                  <c:v>41095.75</c:v>
                </c:pt>
                <c:pt idx="115">
                  <c:v>41095.791667</c:v>
                </c:pt>
                <c:pt idx="116">
                  <c:v>41095.833333</c:v>
                </c:pt>
                <c:pt idx="117">
                  <c:v>41095.875</c:v>
                </c:pt>
                <c:pt idx="118">
                  <c:v>41095.916667</c:v>
                </c:pt>
                <c:pt idx="119">
                  <c:v>41095.958333</c:v>
                </c:pt>
                <c:pt idx="120">
                  <c:v>41096</c:v>
                </c:pt>
                <c:pt idx="121">
                  <c:v>41096.041667</c:v>
                </c:pt>
                <c:pt idx="122">
                  <c:v>41096.083333</c:v>
                </c:pt>
                <c:pt idx="123">
                  <c:v>41096.125</c:v>
                </c:pt>
                <c:pt idx="124">
                  <c:v>41096.166667</c:v>
                </c:pt>
                <c:pt idx="125">
                  <c:v>41096.208333</c:v>
                </c:pt>
                <c:pt idx="126">
                  <c:v>41096.25</c:v>
                </c:pt>
                <c:pt idx="127">
                  <c:v>41096.291667</c:v>
                </c:pt>
                <c:pt idx="128">
                  <c:v>41096.333333</c:v>
                </c:pt>
                <c:pt idx="129">
                  <c:v>41096.375</c:v>
                </c:pt>
                <c:pt idx="130">
                  <c:v>41096.416667</c:v>
                </c:pt>
                <c:pt idx="131">
                  <c:v>41096.458333</c:v>
                </c:pt>
                <c:pt idx="132">
                  <c:v>41096.5</c:v>
                </c:pt>
                <c:pt idx="133">
                  <c:v>41096.541667</c:v>
                </c:pt>
                <c:pt idx="134">
                  <c:v>41096.583333</c:v>
                </c:pt>
                <c:pt idx="135">
                  <c:v>41096.625</c:v>
                </c:pt>
                <c:pt idx="136">
                  <c:v>41096.666667</c:v>
                </c:pt>
                <c:pt idx="137">
                  <c:v>41096.708333</c:v>
                </c:pt>
                <c:pt idx="138">
                  <c:v>41096.75</c:v>
                </c:pt>
                <c:pt idx="139">
                  <c:v>41096.791667</c:v>
                </c:pt>
                <c:pt idx="140">
                  <c:v>41096.833333</c:v>
                </c:pt>
                <c:pt idx="141">
                  <c:v>41096.875</c:v>
                </c:pt>
                <c:pt idx="142">
                  <c:v>41096.916667</c:v>
                </c:pt>
                <c:pt idx="143">
                  <c:v>41096.958333</c:v>
                </c:pt>
                <c:pt idx="144">
                  <c:v>41097</c:v>
                </c:pt>
                <c:pt idx="145">
                  <c:v>41097.041667</c:v>
                </c:pt>
                <c:pt idx="146">
                  <c:v>41097.083333</c:v>
                </c:pt>
                <c:pt idx="147">
                  <c:v>41097.125</c:v>
                </c:pt>
                <c:pt idx="148">
                  <c:v>41097.166667</c:v>
                </c:pt>
                <c:pt idx="149">
                  <c:v>41097.208333</c:v>
                </c:pt>
                <c:pt idx="150">
                  <c:v>41097.25</c:v>
                </c:pt>
                <c:pt idx="151">
                  <c:v>41097.291667</c:v>
                </c:pt>
                <c:pt idx="152">
                  <c:v>41097.333333</c:v>
                </c:pt>
                <c:pt idx="153">
                  <c:v>41097.375</c:v>
                </c:pt>
                <c:pt idx="154">
                  <c:v>41097.416667</c:v>
                </c:pt>
                <c:pt idx="155">
                  <c:v>41097.458333</c:v>
                </c:pt>
                <c:pt idx="156">
                  <c:v>41097.5</c:v>
                </c:pt>
                <c:pt idx="157">
                  <c:v>41097.541667</c:v>
                </c:pt>
                <c:pt idx="158">
                  <c:v>41097.583333</c:v>
                </c:pt>
                <c:pt idx="159">
                  <c:v>41097.625</c:v>
                </c:pt>
                <c:pt idx="160">
                  <c:v>41097.666667</c:v>
                </c:pt>
                <c:pt idx="161">
                  <c:v>41097.708333</c:v>
                </c:pt>
                <c:pt idx="162">
                  <c:v>41097.75</c:v>
                </c:pt>
                <c:pt idx="163">
                  <c:v>41097.791667</c:v>
                </c:pt>
                <c:pt idx="164">
                  <c:v>41097.833333</c:v>
                </c:pt>
                <c:pt idx="165">
                  <c:v>41097.875</c:v>
                </c:pt>
                <c:pt idx="166">
                  <c:v>41097.916667</c:v>
                </c:pt>
                <c:pt idx="167">
                  <c:v>41097.958333</c:v>
                </c:pt>
              </c:numCache>
            </c:numRef>
          </c:xVal>
          <c:yVal>
            <c:numRef>
              <c:f>'Chart Data'!$D$2:$D$169</c:f>
              <c:numCache>
                <c:formatCode>0.00</c:formatCode>
                <c:ptCount val="168"/>
                <c:pt idx="0">
                  <c:v>110.1973</c:v>
                </c:pt>
                <c:pt idx="1">
                  <c:v>103.94729</c:v>
                </c:pt>
                <c:pt idx="2">
                  <c:v>65.65648</c:v>
                </c:pt>
                <c:pt idx="3">
                  <c:v>53.257645</c:v>
                </c:pt>
                <c:pt idx="4">
                  <c:v>29.673752</c:v>
                </c:pt>
                <c:pt idx="5">
                  <c:v>14.610352</c:v>
                </c:pt>
                <c:pt idx="6">
                  <c:v>23.540848</c:v>
                </c:pt>
                <c:pt idx="7">
                  <c:v>61.695045</c:v>
                </c:pt>
                <c:pt idx="8">
                  <c:v>112.18889</c:v>
                </c:pt>
                <c:pt idx="9">
                  <c:v>241.78586</c:v>
                </c:pt>
                <c:pt idx="10">
                  <c:v>321.87988</c:v>
                </c:pt>
                <c:pt idx="11">
                  <c:v>399.58087</c:v>
                </c:pt>
                <c:pt idx="12">
                  <c:v>418.24658</c:v>
                </c:pt>
                <c:pt idx="13">
                  <c:v>445.02948</c:v>
                </c:pt>
                <c:pt idx="14">
                  <c:v>421.20142</c:v>
                </c:pt>
                <c:pt idx="15">
                  <c:v>450.20947</c:v>
                </c:pt>
                <c:pt idx="16">
                  <c:v>381.82404</c:v>
                </c:pt>
                <c:pt idx="17">
                  <c:v>342.1348</c:v>
                </c:pt>
                <c:pt idx="18">
                  <c:v>403.57074</c:v>
                </c:pt>
                <c:pt idx="19">
                  <c:v>356.46973</c:v>
                </c:pt>
                <c:pt idx="20">
                  <c:v>308.108</c:v>
                </c:pt>
                <c:pt idx="21">
                  <c:v>245.20059</c:v>
                </c:pt>
                <c:pt idx="22">
                  <c:v>207.20819</c:v>
                </c:pt>
                <c:pt idx="23">
                  <c:v>129.35545</c:v>
                </c:pt>
                <c:pt idx="24">
                  <c:v>76.37167</c:v>
                </c:pt>
                <c:pt idx="25">
                  <c:v>21.033516</c:v>
                </c:pt>
                <c:pt idx="26">
                  <c:v>1.617813</c:v>
                </c:pt>
                <c:pt idx="27">
                  <c:v>2.872696</c:v>
                </c:pt>
                <c:pt idx="28">
                  <c:v>0</c:v>
                </c:pt>
                <c:pt idx="29">
                  <c:v>40.0941</c:v>
                </c:pt>
                <c:pt idx="30">
                  <c:v>108.58262</c:v>
                </c:pt>
                <c:pt idx="31">
                  <c:v>329.44952</c:v>
                </c:pt>
                <c:pt idx="32">
                  <c:v>465.6366</c:v>
                </c:pt>
                <c:pt idx="33">
                  <c:v>270.47177</c:v>
                </c:pt>
                <c:pt idx="34">
                  <c:v>190.95259</c:v>
                </c:pt>
                <c:pt idx="35">
                  <c:v>185.95969</c:v>
                </c:pt>
                <c:pt idx="36">
                  <c:v>261.40045</c:v>
                </c:pt>
                <c:pt idx="37">
                  <c:v>274.30603</c:v>
                </c:pt>
                <c:pt idx="38">
                  <c:v>220.3581</c:v>
                </c:pt>
                <c:pt idx="39">
                  <c:v>262.8636</c:v>
                </c:pt>
                <c:pt idx="40">
                  <c:v>389.19836</c:v>
                </c:pt>
                <c:pt idx="41">
                  <c:v>652.09094</c:v>
                </c:pt>
                <c:pt idx="42">
                  <c:v>680.1502</c:v>
                </c:pt>
                <c:pt idx="43">
                  <c:v>497.54956</c:v>
                </c:pt>
                <c:pt idx="44">
                  <c:v>427.8498</c:v>
                </c:pt>
                <c:pt idx="45">
                  <c:v>315.5315</c:v>
                </c:pt>
                <c:pt idx="46">
                  <c:v>184.17923</c:v>
                </c:pt>
                <c:pt idx="47">
                  <c:v>115.87214</c:v>
                </c:pt>
                <c:pt idx="48">
                  <c:v>24.186241</c:v>
                </c:pt>
                <c:pt idx="49">
                  <c:v>22.359695</c:v>
                </c:pt>
                <c:pt idx="50">
                  <c:v>3.85025</c:v>
                </c:pt>
                <c:pt idx="51">
                  <c:v>0</c:v>
                </c:pt>
                <c:pt idx="52">
                  <c:v>4.309982</c:v>
                </c:pt>
                <c:pt idx="53">
                  <c:v>36.524437</c:v>
                </c:pt>
                <c:pt idx="54">
                  <c:v>153.62663</c:v>
                </c:pt>
                <c:pt idx="55">
                  <c:v>403.6836</c:v>
                </c:pt>
                <c:pt idx="56">
                  <c:v>590.9541</c:v>
                </c:pt>
                <c:pt idx="57">
                  <c:v>256.38477</c:v>
                </c:pt>
                <c:pt idx="58">
                  <c:v>166.10994</c:v>
                </c:pt>
                <c:pt idx="59">
                  <c:v>243.76268</c:v>
                </c:pt>
                <c:pt idx="60">
                  <c:v>273.31866</c:v>
                </c:pt>
                <c:pt idx="61">
                  <c:v>277.73697</c:v>
                </c:pt>
                <c:pt idx="62">
                  <c:v>283.78125</c:v>
                </c:pt>
                <c:pt idx="63">
                  <c:v>340.47437</c:v>
                </c:pt>
                <c:pt idx="64">
                  <c:v>556.22864</c:v>
                </c:pt>
                <c:pt idx="65">
                  <c:v>802.13983</c:v>
                </c:pt>
                <c:pt idx="66">
                  <c:v>667.45654</c:v>
                </c:pt>
                <c:pt idx="67">
                  <c:v>478.3426</c:v>
                </c:pt>
                <c:pt idx="68">
                  <c:v>395.86676</c:v>
                </c:pt>
                <c:pt idx="69">
                  <c:v>299.4528</c:v>
                </c:pt>
                <c:pt idx="70">
                  <c:v>164.39015</c:v>
                </c:pt>
                <c:pt idx="71">
                  <c:v>96.15864</c:v>
                </c:pt>
                <c:pt idx="72">
                  <c:v>92.67296</c:v>
                </c:pt>
                <c:pt idx="73">
                  <c:v>101.066895</c:v>
                </c:pt>
                <c:pt idx="74">
                  <c:v>73.62743</c:v>
                </c:pt>
                <c:pt idx="75">
                  <c:v>51.653603</c:v>
                </c:pt>
                <c:pt idx="76">
                  <c:v>1.908798</c:v>
                </c:pt>
                <c:pt idx="77">
                  <c:v>18.97258</c:v>
                </c:pt>
                <c:pt idx="78">
                  <c:v>78.93121</c:v>
                </c:pt>
                <c:pt idx="79">
                  <c:v>127.38289</c:v>
                </c:pt>
                <c:pt idx="80">
                  <c:v>198.89769</c:v>
                </c:pt>
                <c:pt idx="81">
                  <c:v>234.56604</c:v>
                </c:pt>
                <c:pt idx="82">
                  <c:v>309.09015</c:v>
                </c:pt>
                <c:pt idx="83">
                  <c:v>415.0558</c:v>
                </c:pt>
                <c:pt idx="84">
                  <c:v>463.71686</c:v>
                </c:pt>
                <c:pt idx="85">
                  <c:v>481.80292</c:v>
                </c:pt>
                <c:pt idx="86">
                  <c:v>496.79895</c:v>
                </c:pt>
                <c:pt idx="87">
                  <c:v>569.52313</c:v>
                </c:pt>
                <c:pt idx="88">
                  <c:v>510.06152</c:v>
                </c:pt>
                <c:pt idx="89">
                  <c:v>463.2749</c:v>
                </c:pt>
                <c:pt idx="90">
                  <c:v>483.69318</c:v>
                </c:pt>
                <c:pt idx="91">
                  <c:v>461.54926</c:v>
                </c:pt>
                <c:pt idx="92">
                  <c:v>396.42804</c:v>
                </c:pt>
                <c:pt idx="93">
                  <c:v>372.4262</c:v>
                </c:pt>
                <c:pt idx="94">
                  <c:v>356.74695</c:v>
                </c:pt>
                <c:pt idx="95">
                  <c:v>344.52478</c:v>
                </c:pt>
                <c:pt idx="96">
                  <c:v>186.44016</c:v>
                </c:pt>
                <c:pt idx="97">
                  <c:v>64.49623</c:v>
                </c:pt>
                <c:pt idx="98">
                  <c:v>18.943123</c:v>
                </c:pt>
                <c:pt idx="99">
                  <c:v>0</c:v>
                </c:pt>
                <c:pt idx="100">
                  <c:v>0</c:v>
                </c:pt>
                <c:pt idx="101">
                  <c:v>0</c:v>
                </c:pt>
                <c:pt idx="102">
                  <c:v>60.362595</c:v>
                </c:pt>
                <c:pt idx="103">
                  <c:v>253.5158</c:v>
                </c:pt>
                <c:pt idx="104">
                  <c:v>511.56873</c:v>
                </c:pt>
                <c:pt idx="105">
                  <c:v>408.0598</c:v>
                </c:pt>
                <c:pt idx="106">
                  <c:v>217.7905</c:v>
                </c:pt>
                <c:pt idx="107">
                  <c:v>196.29341</c:v>
                </c:pt>
                <c:pt idx="108">
                  <c:v>247.8899</c:v>
                </c:pt>
                <c:pt idx="109">
                  <c:v>262.9577</c:v>
                </c:pt>
                <c:pt idx="110">
                  <c:v>277.80634</c:v>
                </c:pt>
                <c:pt idx="111">
                  <c:v>219.86667</c:v>
                </c:pt>
                <c:pt idx="112">
                  <c:v>344.60663</c:v>
                </c:pt>
                <c:pt idx="113">
                  <c:v>661.9456</c:v>
                </c:pt>
                <c:pt idx="114">
                  <c:v>639.22644</c:v>
                </c:pt>
                <c:pt idx="115">
                  <c:v>461.2981</c:v>
                </c:pt>
                <c:pt idx="116">
                  <c:v>415.64398</c:v>
                </c:pt>
                <c:pt idx="117">
                  <c:v>320.001</c:v>
                </c:pt>
                <c:pt idx="118">
                  <c:v>311.0365</c:v>
                </c:pt>
                <c:pt idx="119">
                  <c:v>174.26306</c:v>
                </c:pt>
                <c:pt idx="120">
                  <c:v>70.646545</c:v>
                </c:pt>
                <c:pt idx="121">
                  <c:v>69.820816</c:v>
                </c:pt>
                <c:pt idx="122">
                  <c:v>14.419846</c:v>
                </c:pt>
                <c:pt idx="123">
                  <c:v>15.822922</c:v>
                </c:pt>
                <c:pt idx="124">
                  <c:v>2.939438</c:v>
                </c:pt>
                <c:pt idx="125">
                  <c:v>28.228073</c:v>
                </c:pt>
                <c:pt idx="126">
                  <c:v>123.37371</c:v>
                </c:pt>
                <c:pt idx="127">
                  <c:v>320.78183</c:v>
                </c:pt>
                <c:pt idx="128">
                  <c:v>519.8001</c:v>
                </c:pt>
                <c:pt idx="129">
                  <c:v>284.3026</c:v>
                </c:pt>
                <c:pt idx="130">
                  <c:v>223.06937</c:v>
                </c:pt>
                <c:pt idx="131">
                  <c:v>273.93585</c:v>
                </c:pt>
                <c:pt idx="132">
                  <c:v>300.90112</c:v>
                </c:pt>
                <c:pt idx="133">
                  <c:v>344.63733</c:v>
                </c:pt>
                <c:pt idx="134">
                  <c:v>302.85724</c:v>
                </c:pt>
                <c:pt idx="135">
                  <c:v>328.48935</c:v>
                </c:pt>
                <c:pt idx="136">
                  <c:v>390.41766</c:v>
                </c:pt>
                <c:pt idx="137">
                  <c:v>616.31116</c:v>
                </c:pt>
                <c:pt idx="138">
                  <c:v>540.62933</c:v>
                </c:pt>
                <c:pt idx="139">
                  <c:v>417.87933</c:v>
                </c:pt>
                <c:pt idx="140">
                  <c:v>330.9005</c:v>
                </c:pt>
                <c:pt idx="141">
                  <c:v>301.47403</c:v>
                </c:pt>
                <c:pt idx="142">
                  <c:v>267.5691</c:v>
                </c:pt>
                <c:pt idx="143">
                  <c:v>208.31468</c:v>
                </c:pt>
                <c:pt idx="144">
                  <c:v>119.66019</c:v>
                </c:pt>
                <c:pt idx="145">
                  <c:v>113.58696</c:v>
                </c:pt>
                <c:pt idx="146">
                  <c:v>49.723083</c:v>
                </c:pt>
                <c:pt idx="147">
                  <c:v>22.642609</c:v>
                </c:pt>
                <c:pt idx="148">
                  <c:v>32.61399</c:v>
                </c:pt>
                <c:pt idx="149">
                  <c:v>26.568718</c:v>
                </c:pt>
                <c:pt idx="150">
                  <c:v>53.97364</c:v>
                </c:pt>
                <c:pt idx="151">
                  <c:v>89.19385</c:v>
                </c:pt>
                <c:pt idx="152">
                  <c:v>157.28278</c:v>
                </c:pt>
                <c:pt idx="153">
                  <c:v>243.69095</c:v>
                </c:pt>
                <c:pt idx="154">
                  <c:v>307.53674</c:v>
                </c:pt>
                <c:pt idx="155">
                  <c:v>358.82153</c:v>
                </c:pt>
                <c:pt idx="156">
                  <c:v>415.51727</c:v>
                </c:pt>
                <c:pt idx="157">
                  <c:v>382.6464</c:v>
                </c:pt>
                <c:pt idx="158">
                  <c:v>387.07147</c:v>
                </c:pt>
                <c:pt idx="159">
                  <c:v>364.09863</c:v>
                </c:pt>
                <c:pt idx="160">
                  <c:v>365.0025</c:v>
                </c:pt>
                <c:pt idx="161">
                  <c:v>316.70624</c:v>
                </c:pt>
                <c:pt idx="162">
                  <c:v>324.1084</c:v>
                </c:pt>
                <c:pt idx="163">
                  <c:v>269.78568</c:v>
                </c:pt>
                <c:pt idx="164">
                  <c:v>260.96143</c:v>
                </c:pt>
                <c:pt idx="165">
                  <c:v>217.6391</c:v>
                </c:pt>
                <c:pt idx="166">
                  <c:v>182.5204</c:v>
                </c:pt>
                <c:pt idx="167">
                  <c:v>165.51894</c:v>
                </c:pt>
              </c:numCache>
            </c:numRef>
          </c:yVal>
          <c:smooth val="0"/>
        </c:ser>
        <c:axId val="48650112"/>
        <c:axId val="48672768"/>
      </c:scatterChart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DDDDD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75">
                    <a:solidFill>
                      <a:srgbClr val="333333"/>
                    </a:solidFill>
                    <a:latin typeface="Calibri"/>
                    <a:ea typeface="Calibri"/>
                    <a:cs typeface="Calibri"/>
                  </a:rPr>
                  <a:t>Rentals per hour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75">
                  <a:solidFill>
                    <a:srgbClr val="333333"/>
                  </a:solidFill>
                  <a:latin typeface="Calibri"/>
                  <a:ea typeface="Calibri"/>
                  <a:cs typeface="Calibri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333333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250"/>
      </c:valAx>
      <c:valAx>
        <c:axId val="48650112"/>
        <c:scaling>
          <c:orientation val="minMax"/>
          <c:max val="41097.958333333336"/>
          <c:min val="41091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75">
                    <a:solidFill>
                      <a:srgbClr val="333333"/>
                    </a:solidFill>
                    <a:latin typeface="Calibri"/>
                    <a:ea typeface="Calibri"/>
                    <a:cs typeface="Calibri"/>
                  </a:rPr>
                  <a:t>Local date in July 2012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75">
                  <a:solidFill>
                    <a:srgbClr val="333333"/>
                  </a:solidFill>
                  <a:latin typeface="Calibri"/>
                  <a:ea typeface="Calibri"/>
                  <a:cs typeface="Calibri"/>
                </a:defRPr>
              </a:pPr>
            </a:p>
          </c:txPr>
        </c:title>
        <c:numFmt formatCode="mmm d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333333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2"/>
      </c:valAx>
      <c:spPr>
        <a:solidFill xmlns:a="http://schemas.openxmlformats.org/drawingml/2006/main">
          <a:srgbClr val="FFFFFF"/>
        </a:solidFill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75">
              <a:solidFill>
                <a:srgbClr val="333333"/>
              </a:solidFill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5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Selected-model MAE</c:v>
          </c:tx>
          <c:spPr>
            <a:solidFill xmlns:a="http://schemas.openxmlformats.org/drawingml/2006/main">
              <a:srgbClr val="245E83"/>
            </a:solidFill>
          </c:spPr>
          <c:cat>
            <c:numRef>
              <c:f>'Chart Data'!$A$2:$A$25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'Chart Data'!$B$2:$B$25</c:f>
              <c:numCache>
                <c:formatCode>0.00</c:formatCode>
                <c:ptCount val="24"/>
                <c:pt idx="0">
                  <c:v>20.345625</c:v>
                </c:pt>
                <c:pt idx="1">
                  <c:v>14.174007</c:v>
                </c:pt>
                <c:pt idx="2">
                  <c:v>11.180466</c:v>
                </c:pt>
                <c:pt idx="3">
                  <c:v>9.376765</c:v>
                </c:pt>
                <c:pt idx="4">
                  <c:v>6.73861</c:v>
                </c:pt>
                <c:pt idx="5">
                  <c:v>9.758534</c:v>
                </c:pt>
                <c:pt idx="6">
                  <c:v>19.619245</c:v>
                </c:pt>
                <c:pt idx="7">
                  <c:v>52.476265</c:v>
                </c:pt>
                <c:pt idx="8">
                  <c:v>105.476766</c:v>
                </c:pt>
                <c:pt idx="9">
                  <c:v>42.287781</c:v>
                </c:pt>
                <c:pt idx="10">
                  <c:v>37.65226</c:v>
                </c:pt>
                <c:pt idx="11">
                  <c:v>37.879709</c:v>
                </c:pt>
                <c:pt idx="12">
                  <c:v>37.115261</c:v>
                </c:pt>
                <c:pt idx="13">
                  <c:v>40.387525</c:v>
                </c:pt>
                <c:pt idx="14">
                  <c:v>36.312986</c:v>
                </c:pt>
                <c:pt idx="15">
                  <c:v>37.507988</c:v>
                </c:pt>
                <c:pt idx="16">
                  <c:v>44.251443</c:v>
                </c:pt>
                <c:pt idx="17">
                  <c:v>71.101392</c:v>
                </c:pt>
                <c:pt idx="18">
                  <c:v>58.937369</c:v>
                </c:pt>
                <c:pt idx="19">
                  <c:v>43.860227</c:v>
                </c:pt>
                <c:pt idx="20">
                  <c:v>31.761198</c:v>
                </c:pt>
                <c:pt idx="21">
                  <c:v>38.540516</c:v>
                </c:pt>
                <c:pt idx="22">
                  <c:v>26.303205</c:v>
                </c:pt>
                <c:pt idx="23">
                  <c:v>20.996544</c:v>
                </c:pt>
              </c:numCache>
            </c:numRef>
          </c:val>
        </c:ser>
        <c:gapWidth val="2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75">
                    <a:solidFill>
                      <a:srgbClr val="333333"/>
                    </a:solidFill>
                    <a:latin typeface="Calibri"/>
                    <a:ea typeface="Calibri"/>
                    <a:cs typeface="Calibri"/>
                  </a:rPr>
                  <a:t>Local clock hour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75">
                  <a:solidFill>
                    <a:srgbClr val="333333"/>
                  </a:solidFill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333333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</c:catAx>
      <c:valAx>
        <c:axId val="48672768"/>
        <c:scaling>
          <c:orientation val="minMax"/>
          <c:max val="12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DDDDD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75">
                    <a:solidFill>
                      <a:srgbClr val="333333"/>
                    </a:solidFill>
                    <a:latin typeface="Calibri"/>
                    <a:ea typeface="Calibri"/>
                    <a:cs typeface="Calibri"/>
                  </a:rPr>
                  <a:t>MAE (rentals per hour)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75">
                  <a:solidFill>
                    <a:srgbClr val="333333"/>
                  </a:solidFill>
                  <a:latin typeface="Calibri"/>
                  <a:ea typeface="Calibri"/>
                  <a:cs typeface="Calibri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333333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crossBetween val="between"/>
        <c:majorUnit val="2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FEFD3DB-B193-4E72-861B-FE835A2E1FAD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sz="4600">
                <a:latin typeface="Calibri Light"/>
                <a:ea typeface="Calibri Light"/>
                <a:cs typeface="Calibri Light"/>
              </a:rPr>
              <a:t>Forecasting Hourly Bike Rentals</a:t>
            </a:r>
          </a:p>
          <a:p xmlns:a="http://schemas.openxmlformats.org/drawingml/2006/main">
            <a:r>
              <a:rPr sz="4000">
                <a:latin typeface="Calibri Light"/>
                <a:ea typeface="Calibri Light"/>
                <a:cs typeface="Calibri Light"/>
              </a:rPr>
              <a:t>Micro-Project 4</a:t>
            </a:r>
          </a:p>
          <a:p xmlns:a="http://schemas.openxmlformats.org/drawingml/2006/main">
            <a:r>
              <a:rPr sz="2200">
                <a:solidFill>
                  <a:srgbClr val="245E83"/>
                </a:solidFill>
                <a:latin typeface="Calibri Light"/>
                <a:ea typeface="Calibri Light"/>
                <a:cs typeface="Calibri Light"/>
                <a:hlinkClick xmlns:ns0="http://schemas.openxmlformats.org/officeDocument/2006/relationships" ns0:id="rIdLink3"/>
              </a:rPr>
              <a:t>https://github.com/mascon0423/ANA500/tree/main/week4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76B5E315-C208-479B-A6B8-0DCBEF2B5FB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Douglas Bobeck</a:t>
            </a:r>
          </a:p>
          <a:p xmlns:a="http://schemas.openxmlformats.org/drawingml/2006/main">
            <a:r>
              <a:t>October 11, 2026</a:t>
            </a:r>
          </a:p>
        </p:txBody>
      </p:sp>
    </p:spTree>
    <p:extLst>
      <p:ext uri="{BB962C8B-B14F-4D97-AF65-F5344CB8AC3E}">
        <p14:creationId xmlns:p14="http://schemas.microsoft.com/office/powerpoint/2010/main" val="365125148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B8302AB-CEDA-4E89-A1DC-6BABC9C3F7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Problem Statement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5AD07EA-4B74-4BFA-A23D-5147B6A28FC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28600" indent="-114300">
              <a:spcAft>
                <a:spcPts val="1700"/>
              </a:spcAft>
              <a:buChar char="•"/>
              <a:def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Bike rental activity changes throughout the day. Operators need a useful estimate of the next hour's system-wide activity.</a:t>
            </a:r>
          </a:p>
          <a:p xmlns:a="http://schemas.openxmlformats.org/drawingml/2006/main">
            <a:pPr marL="228600" indent="-114300">
              <a:spcAft>
                <a:spcPts val="1700"/>
              </a:spcAft>
              <a:buChar char="•"/>
              <a:def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Question: How accurately can the previous 24 hours of rentals and known calendar information forecast the next hour's rentals?</a:t>
            </a:r>
          </a:p>
          <a:p xmlns:a="http://schemas.openxmlformats.org/drawingml/2006/main">
            <a:pPr marL="228600" indent="-114300">
              <a:spcAft>
                <a:spcPts val="1700"/>
              </a:spcAft>
              <a:buChar char="•"/>
              <a:def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Week 4 uses hourly bike-sharing data so the RNN learns from a meaningful time sequence. The Adult dataset used earlier describes different people.</a:t>
            </a:r>
          </a:p>
          <a:p xmlns:a="http://schemas.openxmlformats.org/drawingml/2006/main">
            <a:pPr marL="228600" indent="-114300">
              <a:spcAft>
                <a:spcPts val="1700"/>
              </a:spcAft>
              <a:buChar char="•"/>
              <a:def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outcome is a numerical rental count. Recorded rentals do not reveal unmet demand or individual station needs.</a:t>
            </a:r>
          </a:p>
        </p:txBody>
      </p:sp>
    </p:spTree>
    <p:extLst>
      <p:ext uri="{BB962C8B-B14F-4D97-AF65-F5344CB8AC3E}">
        <p14:creationId xmlns:p14="http://schemas.microsoft.com/office/powerpoint/2010/main" val="188067840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29C91F-7913-4D5C-A911-ADD4837DAA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Hypothesis Formulation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05A42CE-FCD3-41B9-A629-5F3C6031F3C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28600" indent="-114300">
              <a:spcAft>
                <a:spcPts val="1700"/>
              </a:spcAft>
              <a:buChar char="•"/>
              <a:def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 deep neural network using recent activity and calendar patterns will reduce forecast error compared with repeating the previous hour or the same hour yesterday.</a:t>
            </a:r>
          </a:p>
          <a:p xmlns:a="http://schemas.openxmlformats.org/drawingml/2006/main">
            <a:pPr marL="228600" indent="-114300">
              <a:spcAft>
                <a:spcPts val="1700"/>
              </a:spcAft>
              <a:buChar char="•"/>
              <a:def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Possible explanation: Regular schedules and recent rental activity make some short-term patterns predictable.</a:t>
            </a:r>
          </a:p>
          <a:p xmlns:a="http://schemas.openxmlformats.org/drawingml/2006/main">
            <a:pPr marL="228600" indent="-114300">
              <a:spcAft>
                <a:spcPts val="1700"/>
              </a:spcAft>
              <a:buChar char="•"/>
              <a:def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Select the preferred model and its training checkpoint using validation RMSE. Then evaluate the fixed models on later test hours.</a:t>
            </a:r>
          </a:p>
          <a:p xmlns:a="http://schemas.openxmlformats.org/drawingml/2006/main">
            <a:pPr marL="228600" indent="-114300">
              <a:spcAft>
                <a:spcPts val="1700"/>
              </a:spcAft>
              <a:buChar char="•"/>
              <a:def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Improved forecasts support a predictive relationship in this sample. They do not establish causation or guarantee future performance.</a:t>
            </a:r>
          </a:p>
        </p:txBody>
      </p:sp>
    </p:spTree>
    <p:extLst>
      <p:ext uri="{BB962C8B-B14F-4D97-AF65-F5344CB8AC3E}">
        <p14:creationId xmlns:p14="http://schemas.microsoft.com/office/powerpoint/2010/main" val="330695879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B2A7252-6823-44F9-B464-D7A15D12BB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Acquire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FEAE391-6366-4E20-A14E-0ECFAEA8029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28600" indent="-114300">
              <a:spcAft>
                <a:spcPts val="1700"/>
              </a:spcAft>
              <a:buChar char="•"/>
              <a:def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Source: UCI Bike Sharing, Capital Bikeshare in Washington, D.C., during 2011-2012.</a:t>
            </a:r>
          </a:p>
          <a:p xmlns:a="http://schemas.openxmlformats.org/drawingml/2006/main">
            <a:pPr marL="228600" indent="-114300">
              <a:spcAft>
                <a:spcPts val="1700"/>
              </a:spcAft>
              <a:buChar char="•"/>
              <a:def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17,379 recorded hours and 17 columns in hour.csv. The CSV and source README agree on the row count.</a:t>
            </a:r>
          </a:p>
          <a:p xmlns:a="http://schemas.openxmlformats.org/drawingml/2006/main">
            <a:pPr marL="228600" indent="-114300">
              <a:spcAft>
                <a:spcPts val="1700"/>
              </a:spcAft>
              <a:buChar char="•"/>
              <a:def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notebook includes the unchanged CSV, source documentation, attribution, and a checksum that verifies the input.</a:t>
            </a:r>
          </a:p>
          <a:p xmlns:a="http://schemas.openxmlformats.org/drawingml/2006/main">
            <a:pPr marL="228600" indent="-114300">
              <a:spcAft>
                <a:spcPts val="1700"/>
              </a:spcAft>
              <a:buChar char="•"/>
              <a:def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Tools used: Jupyter Notebook, Python, Pandas, NumPy, Matplotlib, and PyTorch 2.6.0. No API key is required.</a:t>
            </a:r>
          </a:p>
          <a:p xmlns:a="http://schemas.openxmlformats.org/drawingml/2006/main">
            <a:pPr marL="228600" indent="-114300">
              <a:spcAft>
                <a:spcPts val="1700"/>
              </a:spcAft>
              <a:buChar char="•"/>
              <a:def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hlinkClick xmlns:ns0="http://schemas.openxmlformats.org/officeDocument/2006/relationships" ns0:id="rIdLink3"/>
              </a:rPr>
              <a:t>Fanaee-T (2013). Bike Sharing. https://doi.org/10.24432/C5W894</a:t>
            </a:r>
          </a:p>
        </p:txBody>
      </p:sp>
    </p:spTree>
    <p:extLst>
      <p:ext uri="{BB962C8B-B14F-4D97-AF65-F5344CB8AC3E}">
        <p14:creationId xmlns:p14="http://schemas.microsoft.com/office/powerpoint/2010/main" val="42702315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B2A7252-6823-44F9-B464-D7A15D12BB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Prepare: Histories and Inputs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FEAE391-6366-4E20-A14E-0ECFAEA8029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28600" indent="-114300">
              <a:spcAft>
                <a:spcPts val="1700"/>
              </a:spcAft>
              <a:buChar char="•"/>
              <a:def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165 clock hours have no source row. Keep them missing instead of replacing them with zero.</a:t>
            </a:r>
          </a:p>
          <a:p xmlns:a="http://schemas.openxmlformats.org/drawingml/2006/main">
            <a:pPr marL="228600" indent="-114300">
              <a:spcAft>
                <a:spcPts val="1700"/>
              </a:spcAft>
              <a:buChar char="•"/>
              <a:def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Use 15,657 target hours with a complete preceding 24 hours. Exclude 1,722 recorded targets that lack sufficient history.</a:t>
            </a:r>
          </a:p>
          <a:p xmlns:a="http://schemas.openxmlformats.org/drawingml/2006/main">
            <a:pPr marL="228600" indent="-114300">
              <a:spcAft>
                <a:spcPts val="1700"/>
              </a:spcAft>
              <a:buChar char="•"/>
              <a:def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Inputs: 24 past rental counts, sine/cosine pairs for hour, weekday, and annual position, plus the target hour's working-day flag.</a:t>
            </a:r>
          </a:p>
          <a:p xmlns:a="http://schemas.openxmlformats.org/drawingml/2006/main">
            <a:pPr marL="228600" indent="-114300">
              <a:spcAft>
                <a:spcPts val="1700"/>
              </a:spcAft>
              <a:buChar char="•"/>
              <a:def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Exclude target-hour weather, casual counts, registered counts, and the target count. Casual plus registered equals the outcome.</a:t>
            </a:r>
          </a:p>
          <a:p xmlns:a="http://schemas.openxmlformats.org/drawingml/2006/main">
            <a:pPr marL="228600" indent="-114300">
              <a:spcAft>
                <a:spcPts val="1700"/>
              </a:spcAft>
              <a:buChar char="•"/>
              <a:def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Normalize counts with 2011 data only. Preserve chronological order within every input sequence.</a:t>
            </a:r>
          </a:p>
        </p:txBody>
      </p:sp>
    </p:spTree>
    <p:extLst>
      <p:ext uri="{BB962C8B-B14F-4D97-AF65-F5344CB8AC3E}">
        <p14:creationId xmlns:p14="http://schemas.microsoft.com/office/powerpoint/2010/main" val="278821798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B2A7252-6823-44F9-B464-D7A15D12BB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Prepare: Chronological Evaluation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AE5A71-B669-4BFF-9FEE-DB5281B5D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25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Forecast one hour ahead, observe the actual count, then forecast the next hour. Model weights stay fixed during testing.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3E8B4F-33DE-4D42-ADE1-205FAB5EA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Source: UCI Bike Sharing, 2011-2012. Forecasts use complete 24-hour histories.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1762125"/>
          <a:ext xmlns:a="http://schemas.openxmlformats.org/drawingml/2006/main" cx="10972800" cy="2714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57375"/>
                <a:gridCol w="2619375"/>
                <a:gridCol w="1905000"/>
                <a:gridCol w="4591050"/>
              </a:tblGrid>
              <a:tr h="678656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Split</a:t>
                      </a:r>
                    </a:p>
                  </a:txBody>
                  <a:tcPr marL="114300" marR="95250" marT="95250" marB="76200" anchor="ctr">
                    <a:solidFill>
                      <a:srgbClr val="E9EE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Target period</a:t>
                      </a:r>
                    </a:p>
                  </a:txBody>
                  <a:tcPr marL="114300" marR="95250" marT="95250" marB="76200" anchor="ctr">
                    <a:solidFill>
                      <a:srgbClr val="E9EE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Eligible hours</a:t>
                      </a:r>
                    </a:p>
                  </a:txBody>
                  <a:tcPr marL="114300" marR="95250" marT="95250" marB="76200" anchor="ctr">
                    <a:solidFill>
                      <a:srgbClr val="E9EE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Purpose</a:t>
                      </a:r>
                    </a:p>
                  </a:txBody>
                  <a:tcPr marL="114300" marR="95250" marT="95250" marB="76200" anchor="ctr">
                    <a:solidFill>
                      <a:srgbClr val="E9EEF2"/>
                    </a:solidFill>
                  </a:tcPr>
                </a:tc>
              </a:tr>
              <a:tr h="678656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Training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2011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7,279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Learn weights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</a:tr>
              <a:tr h="678656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Validation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Jan-Jun 2012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4,120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Choose model and epoch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</a:tr>
              <a:tr h="678656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Test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Jul-Dec 2012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4,258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Evaluate fixed models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4893B5-E253-4EA1-A8B7-87D40B72C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25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Earlier observed hours may cross split boundaries as history. Future hours never enter an input.</a:t>
            </a:r>
          </a:p>
        </p:txBody>
      </p:sp>
    </p:spTree>
    <p:extLst>
      <p:ext uri="{BB962C8B-B14F-4D97-AF65-F5344CB8AC3E}">
        <p14:creationId xmlns:p14="http://schemas.microsoft.com/office/powerpoint/2010/main" val="6979804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B2A7252-6823-44F9-B464-D7A15D12BB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Prepare: Daily Rental Patterns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F97266-C5AA-4E0E-ACC3-8467CCAC8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25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In 2011, working-day activity has morning and evening peaks. These training-period patterns motivate the calendar inputs.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8C79C8-C006-4F09-BA60-2AD2284B6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Source: UCI Bike Sharing, 2011-2012. Forecasts use complete 24-hour histories.</a:t>
            </a:r>
          </a:p>
        </p:txBody>
      </p:sp>
      <p:graphicFrame>
        <p:nvGraphicFramePr>
          <p:cNvPr id="9" name="Chart"/>
          <p:cNvGraphicFramePr/>
          <p:nvPr/>
        </p:nvGraphicFramePr>
        <p:xfrm>
          <a:off xmlns:a="http://schemas.openxmlformats.org/drawingml/2006/main" x="619125" y="1533525"/>
          <a:ext xmlns:a="http://schemas.openxmlformats.org/drawingml/2006/main" cx="10925175" cy="3790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d5a16fadd3a4be2"/>
          </a:graphicData>
        </a:graphic>
      </p:graphicFrame>
    </p:spTree>
    <p:extLst>
      <p:ext uri="{BB962C8B-B14F-4D97-AF65-F5344CB8AC3E}">
        <p14:creationId xmlns:p14="http://schemas.microsoft.com/office/powerpoint/2010/main" val="230990841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998C1A2-E365-4EAD-A777-10EF9BD258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Analyze: Deep Learning Models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58EF4E-5646-46BB-B9EF-0093A85EB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25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All neural models use the same information and output one rental count. Two simple baselines use the previous hour or the same hour yesterday.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21AE7D-3D4E-4D9F-B241-00F3BDFE6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Source: UCI Bike Sharing, 2011-2012. Forecasts use complete 24-hour histories.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762125"/>
          <a:ext xmlns:a="http://schemas.openxmlformats.org/drawingml/2006/main" cx="1097280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71700"/>
                <a:gridCol w="3248025"/>
                <a:gridCol w="3743325"/>
                <a:gridCol w="1809750"/>
              </a:tblGrid>
              <a:tr h="809625"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Model</a:t>
                      </a:r>
                    </a:p>
                  </a:txBody>
                  <a:tcPr marL="114300" marR="95250" marT="95250" marB="76200" anchor="ctr">
                    <a:solidFill>
                      <a:srgbClr val="E9EE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Hidden layers</a:t>
                      </a:r>
                    </a:p>
                  </a:txBody>
                  <a:tcPr marL="114300" marR="95250" marT="95250" marB="76200" anchor="ctr">
                    <a:solidFill>
                      <a:srgbClr val="E9EE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How it uses history</a:t>
                      </a:r>
                    </a:p>
                  </a:txBody>
                  <a:tcPr marL="114300" marR="95250" marT="95250" marB="76200" anchor="ctr">
                    <a:solidFill>
                      <a:srgbClr val="E9EE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Parameters</a:t>
                      </a:r>
                    </a:p>
                  </a:txBody>
                  <a:tcPr marL="114300" marR="95250" marT="95250" marB="76200" anchor="ctr">
                    <a:solidFill>
                      <a:srgbClr val="E9EEF2"/>
                    </a:solidFill>
                  </a:tcPr>
                </a:tc>
              </a:tr>
              <a:tr h="809625"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Dense network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64, then 32 units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Reads all 24 lags together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4,161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</a:tr>
              <a:tr h="809625"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Basic RNN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2 recurrent layers of 32; dense 16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Updates a hidden state in order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3,889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</a:tr>
              <a:tr h="809625"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LSTM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2 recurrent layers of 32; dense 16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An RNN with gated memory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13,585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2410874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B2A7252-6823-44F9-B464-D7A15D12BB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Analyze: Training and Checkpoints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23FBC1-68A6-44F9-A9BE-1CEB5AAE9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25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Adam, learning rate 0.001, batches of 256, at most 60 epochs. Restore the checkpoint with the lowest validation RMSE.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9DB586-0F43-4831-94EE-4BEEBABBB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Source: UCI Bike Sharing, 2011-2012. Forecasts use complete 24-hour histories.</a:t>
            </a:r>
          </a:p>
        </p:txBody>
      </p:sp>
      <p:graphicFrame>
        <p:nvGraphicFramePr>
          <p:cNvPr id="9" name="Chart"/>
          <p:cNvGraphicFramePr/>
          <p:nvPr/>
        </p:nvGraphicFramePr>
        <p:xfrm>
          <a:off xmlns:a="http://schemas.openxmlformats.org/drawingml/2006/main" x="619125" y="1533525"/>
          <a:ext xmlns:a="http://schemas.openxmlformats.org/drawingml/2006/main" cx="10925175" cy="3790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586dbb59e144aca"/>
          </a:graphicData>
        </a:graphic>
      </p:graphicFrame>
    </p:spTree>
    <p:extLst>
      <p:ext uri="{BB962C8B-B14F-4D97-AF65-F5344CB8AC3E}">
        <p14:creationId xmlns:p14="http://schemas.microsoft.com/office/powerpoint/2010/main" val="6979804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B2A7252-6823-44F9-B464-D7A15D12BB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Analyze: Validation Results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32CCCC-E5FD-4A51-AF52-FEBA877D2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25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Dense network has the lowest validation RMSE. Selection is fixed before test scoring. One seed and one configuration per architecture.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F948D8-D165-48DB-BDEB-F4FB5887F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Source: UCI Bike Sharing, 2011-2012. Forecasts use complete 24-hour histories.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762125"/>
          <a:ext xmlns:a="http://schemas.openxmlformats.org/drawingml/2006/main" cx="109728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48125"/>
                <a:gridCol w="2733675"/>
                <a:gridCol w="2095500"/>
                <a:gridCol w="2095500"/>
              </a:tblGrid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Model</a:t>
                      </a:r>
                    </a:p>
                  </a:txBody>
                  <a:tcPr marL="114300" marR="95250" marT="95250" marB="76200" anchor="ctr">
                    <a:solidFill>
                      <a:srgbClr val="E9EE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Validation RMSE</a:t>
                      </a:r>
                    </a:p>
                  </a:txBody>
                  <a:tcPr marL="114300" marR="95250" marT="95250" marB="76200" anchor="ctr">
                    <a:solidFill>
                      <a:srgbClr val="E9EE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Best epoch</a:t>
                      </a:r>
                    </a:p>
                  </a:txBody>
                  <a:tcPr marL="114300" marR="95250" marT="95250" marB="76200" anchor="ctr">
                    <a:solidFill>
                      <a:srgbClr val="E9EE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Epochs run</a:t>
                      </a:r>
                    </a:p>
                  </a:txBody>
                  <a:tcPr marL="114300" marR="95250" marT="95250" marB="76200" anchor="ctr">
                    <a:solidFill>
                      <a:srgbClr val="E9EEF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Previous hour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113.42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N/A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N/A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Same hour yesterday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123.61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N/A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N/A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Dense network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44.78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45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53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Basic RNN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59.58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45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53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LSTM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64.09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33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41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979804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B2A7252-6823-44F9-B464-D7A15D12BB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Report: Test Results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A3297D-9140-4EA5-AEEA-040D17E1D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25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Same 4,258 eligible test hours for all models. Lower MAE/RMSE is better. The validation choice remains dense network.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40A57A-CFBC-4E4F-9066-3815389D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Source: UCI Bike Sharing, 2011-2012. Forecasts use complete 24-hour histories.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1762125"/>
          <a:ext xmlns:a="http://schemas.openxmlformats.org/drawingml/2006/main" cx="10972800" cy="3429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114800"/>
                <a:gridCol w="2286000"/>
                <a:gridCol w="2286000"/>
                <a:gridCol w="2286000"/>
              </a:tblGrid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Model</a:t>
                      </a:r>
                    </a:p>
                  </a:txBody>
                  <a:tcPr marL="114300" marR="95250" marT="95250" marB="76200" anchor="ctr">
                    <a:solidFill>
                      <a:srgbClr val="E9EE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MAE</a:t>
                      </a:r>
                    </a:p>
                  </a:txBody>
                  <a:tcPr marL="114300" marR="95250" marT="95250" marB="76200" anchor="ctr">
                    <a:solidFill>
                      <a:srgbClr val="E9EE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RMSE</a:t>
                      </a:r>
                    </a:p>
                  </a:txBody>
                  <a:tcPr marL="114300" marR="95250" marT="95250" marB="76200" anchor="ctr">
                    <a:solidFill>
                      <a:srgbClr val="E9EE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R-squared</a:t>
                      </a:r>
                    </a:p>
                  </a:txBody>
                  <a:tcPr marL="114300" marR="95250" marT="95250" marB="76200" anchor="ctr">
                    <a:solidFill>
                      <a:srgbClr val="E9EEF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Previous hour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86.91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130.90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0.647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Same hour yesterday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80.94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134.87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0.625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Dense network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35.61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55.18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0.937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Basic RNN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48.60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79.65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0.869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LSTM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51.30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85.70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0.849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005A80-5EF4-4E97-B218-DD919772F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MAE and RMSE are in rentals per hour. Test period: July-December 2012.</a:t>
            </a:r>
          </a:p>
        </p:txBody>
      </p:sp>
    </p:spTree>
    <p:extLst>
      <p:ext uri="{BB962C8B-B14F-4D97-AF65-F5344CB8AC3E}">
        <p14:creationId xmlns:p14="http://schemas.microsoft.com/office/powerpoint/2010/main" val="6979804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B2A7252-6823-44F9-B464-D7A15D12BB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Report: Comparing Forecast Errors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8E7DCC-659E-4D91-9E20-532028EEF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25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Dense network reduces test RMSE by 57.8% versus the validation-selected baseline (previous hour).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C1272D-9A84-4DB5-B595-9F7884F67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Source: UCI Bike Sharing, 2011-2012. Forecasts use complete 24-hour histories.</a:t>
            </a:r>
          </a:p>
        </p:txBody>
      </p:sp>
      <p:graphicFrame>
        <p:nvGraphicFramePr>
          <p:cNvPr id="9" name="Chart"/>
          <p:cNvGraphicFramePr/>
          <p:nvPr/>
        </p:nvGraphicFramePr>
        <p:xfrm>
          <a:off xmlns:a="http://schemas.openxmlformats.org/drawingml/2006/main" x="609600" y="156210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698b89acaeb4a95"/>
          </a:graphicData>
        </a:graphic>
      </p:graphicFrame>
    </p:spTree>
    <p:extLst>
      <p:ext uri="{BB962C8B-B14F-4D97-AF65-F5344CB8AC3E}">
        <p14:creationId xmlns:p14="http://schemas.microsoft.com/office/powerpoint/2010/main" val="6979804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B2A7252-6823-44F9-B464-D7A15D12BB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Report: First Test Week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08401A-450E-4557-9C79-83E03B02A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25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July 1-7, 2012 was chosen by date, not forecast accuracy. These are rolling one-hour forecasts using newly observed counts each hour.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6AFFEB-8894-4473-B375-E858C44F8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Source: UCI Bike Sharing, 2011-2012. Forecasts use complete 24-hour histories.</a:t>
            </a:r>
          </a:p>
        </p:txBody>
      </p:sp>
      <p:graphicFrame>
        <p:nvGraphicFramePr>
          <p:cNvPr id="9" name="Chart"/>
          <p:cNvGraphicFramePr/>
          <p:nvPr/>
        </p:nvGraphicFramePr>
        <p:xfrm>
          <a:off xmlns:a="http://schemas.openxmlformats.org/drawingml/2006/main" x="619125" y="1533525"/>
          <a:ext xmlns:a="http://schemas.openxmlformats.org/drawingml/2006/main" cx="10925175" cy="3790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dd149a1409d43a3"/>
          </a:graphicData>
        </a:graphic>
      </p:graphicFrame>
    </p:spTree>
    <p:extLst>
      <p:ext uri="{BB962C8B-B14F-4D97-AF65-F5344CB8AC3E}">
        <p14:creationId xmlns:p14="http://schemas.microsoft.com/office/powerpoint/2010/main" val="6979804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B2A7252-6823-44F9-B464-D7A15D12BB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Report: Error by Clock Hour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D0C71E-AFC3-409D-B7DD-CB86C6FDB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25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largest average error is at 08:00: 105.48 rentals (n = 177). Group sizes range from 175 to 178.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16DDA9-C496-4407-915C-6E752C79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Source: UCI Bike Sharing, 2011-2012. Forecasts use complete 24-hour histories.</a:t>
            </a:r>
          </a:p>
        </p:txBody>
      </p:sp>
      <p:graphicFrame>
        <p:nvGraphicFramePr>
          <p:cNvPr id="9" name="Chart"/>
          <p:cNvGraphicFramePr/>
          <p:nvPr/>
        </p:nvGraphicFramePr>
        <p:xfrm>
          <a:off xmlns:a="http://schemas.openxmlformats.org/drawingml/2006/main" x="609600" y="1562100"/>
          <a:ext xmlns:a="http://schemas.openxmlformats.org/drawingml/2006/main" cx="109728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dad54f76a9a4b04"/>
          </a:graphicData>
        </a:graphic>
      </p:graphicFrame>
    </p:spTree>
    <p:extLst>
      <p:ext uri="{BB962C8B-B14F-4D97-AF65-F5344CB8AC3E}">
        <p14:creationId xmlns:p14="http://schemas.microsoft.com/office/powerpoint/2010/main" val="69798042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B2A7252-6823-44F9-B464-D7A15D12BB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Report: Findings and Limitations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FEAE391-6366-4E20-A14E-0ECFAEA8029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28600" indent="-114300">
              <a:spcAft>
                <a:spcPts val="1700"/>
              </a:spcAft>
              <a:buChar char="•"/>
              <a:def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Dense network was selected on validation data and also has the lowest test RMSE (55.18 rentals). Its MAE is 35.61 and R-squared is 0.937.</a:t>
            </a:r>
          </a:p>
          <a:p xmlns:a="http://schemas.openxmlformats.org/drawingml/2006/main">
            <a:pPr marL="228600" indent="-114300">
              <a:spcAft>
                <a:spcPts val="1700"/>
              </a:spcAft>
              <a:buChar char="•"/>
              <a:def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The selected model beats both simple baselines on this test period, supporting the predictive hypothesis. The basic RNN and LSTM also improve on the baselines.</a:t>
            </a:r>
          </a:p>
          <a:p xmlns:a="http://schemas.openxmlformats.org/drawingml/2006/main">
            <a:pPr marL="228600" indent="-114300">
              <a:spcAft>
                <a:spcPts val="1700"/>
              </a:spcAft>
              <a:buChar char="•"/>
              <a:def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A recurrent architecture did not win this comparison. Different sizes, one random seed, and one time split limit general conclusions.</a:t>
            </a:r>
          </a:p>
          <a:p xmlns:a="http://schemas.openxmlformats.org/drawingml/2006/main">
            <a:pPr marL="228600" indent="-114300">
              <a:spcAft>
                <a:spcPts val="1700"/>
              </a:spcAft>
              <a:buChar char="•"/>
              <a:def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Historical data, excluded gap periods, omitted weather, and immediate-count availability limit practical use. Timezone offsets are not supplied.</a:t>
            </a:r>
          </a:p>
          <a:p xmlns:a="http://schemas.openxmlformats.org/drawingml/2006/main">
            <a:pPr marL="228600" indent="-114300">
              <a:spcAft>
                <a:spcPts val="1700"/>
              </a:spcAft>
              <a:buChar char="•"/>
              <a:def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Forecasts are point estimates without calibrated uncertainty intervals. They do not measure unmet demand or establish causes.</a:t>
            </a:r>
          </a:p>
        </p:txBody>
      </p:sp>
    </p:spTree>
    <p:extLst>
      <p:ext uri="{BB962C8B-B14F-4D97-AF65-F5344CB8AC3E}">
        <p14:creationId xmlns:p14="http://schemas.microsoft.com/office/powerpoint/2010/main" val="69798042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B2A7252-6823-44F9-B464-D7A15D12BB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Act: Apply the Selected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F5BC3A-13FE-4888-829F-1D39861AA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097280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25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First three eligible test hours, in chronological order. Forecasts estimate system-wide activity and do not specify station inventory.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0C4CA4-CF98-45AC-A900-17BDD463C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972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2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Source: UCI Bike Sharing, 2011-2012. Forecasts use complete 24-hour histories.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609600" y="1762125"/>
          <a:ext xmlns:a="http://schemas.openxmlformats.org/drawingml/2006/main" cx="10972800" cy="2667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876800"/>
                <a:gridCol w="3048000"/>
                <a:gridCol w="3048000"/>
              </a:tblGrid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950" b="1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Forecast hour</a:t>
                      </a:r>
                    </a:p>
                  </a:txBody>
                  <a:tcPr marL="114300" marR="95250" marT="95250" marB="76200" anchor="ctr">
                    <a:solidFill>
                      <a:srgbClr val="E9EE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Actual rentals</a:t>
                      </a:r>
                    </a:p>
                  </a:txBody>
                  <a:tcPr marL="114300" marR="95250" marT="95250" marB="76200" anchor="ctr">
                    <a:solidFill>
                      <a:srgbClr val="E9EE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1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Forecast rentals</a:t>
                      </a:r>
                    </a:p>
                  </a:txBody>
                  <a:tcPr marL="114300" marR="95250" marT="95250" marB="76200" anchor="ctr">
                    <a:solidFill>
                      <a:srgbClr val="E9EEF2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2012-07-01 00:00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149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110.2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2012-07-01 01:00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93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103.9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pPr algn="l"/>
                      <a:r>
                        <a:rPr sz="195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2012-07-01 02:00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90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50" b="0">
                          <a:solidFill>
                            <a:srgbClr val="222222"/>
                          </a:solidFill>
                          <a:latin typeface="Calibri"/>
                          <a:ea typeface="Calibri"/>
                          <a:cs typeface="Calibri"/>
                        </a:rPr>
                        <a:t>65.7</a:t>
                      </a:r>
                    </a:p>
                  </a:txBody>
                  <a:tcPr marL="114300" marR="95250" marT="95250" marB="762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F8BB44-AB51-4878-8707-B8680CBC4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67275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875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Selected method: Dense network. Average test miss: 35.61 rentals per hour.</a:t>
            </a:r>
          </a:p>
        </p:txBody>
      </p:sp>
    </p:spTree>
    <p:extLst>
      <p:ext uri="{BB962C8B-B14F-4D97-AF65-F5344CB8AC3E}">
        <p14:creationId xmlns:p14="http://schemas.microsoft.com/office/powerpoint/2010/main" val="69798042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B2A7252-6823-44F9-B464-D7A15D12BB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Act: Decision and Next Steps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FEAE391-6366-4E20-A14E-0ECFAEA8029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 marL="228600" indent="-114300">
              <a:spcAft>
                <a:spcPts val="1700"/>
              </a:spcAft>
              <a:buChar char="•"/>
              <a:def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Use dense network as a candidate for a monitored trial with current data. Keep the simple baselines for comparison.</a:t>
            </a:r>
          </a:p>
          <a:p xmlns:a="http://schemas.openxmlformats.org/drawingml/2006/main">
            <a:pPr marL="228600" indent="-114300">
              <a:spcAft>
                <a:spcPts val="1700"/>
              </a:spcAft>
              <a:buChar char="•"/>
              <a:def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Record each forecast before the hour begins. Review weekly errors, agree on acceptable error with the operator, and flag incomplete histories.</a:t>
            </a:r>
          </a:p>
          <a:p xmlns:a="http://schemas.openxmlformats.org/drawingml/2006/main">
            <a:pPr marL="228600" indent="-114300">
              <a:spcAft>
                <a:spcPts val="1700"/>
              </a:spcAft>
              <a:buChar char="•"/>
              <a:def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Before operational use, test additional time periods and seeds, reporting delays, and prediction intervals. Station decisions need station and inventory data.</a:t>
            </a:r>
          </a:p>
          <a:p xmlns:a="http://schemas.openxmlformats.org/drawingml/2006/main">
            <a:pPr marL="228600" indent="-114300">
              <a:spcAft>
                <a:spcPts val="1700"/>
              </a:spcAft>
              <a:buChar char="•"/>
              <a:def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950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This completes Step 5, Act, with a practical proposal and application to held-out hours. It is not a live deployment.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557D8E-8557-41FC-955A-1CF808DFE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725">
                <a:solidFill>
                  <a:srgbClr val="000000"/>
                </a:solidFill>
                <a:latin typeface="Calibri"/>
                <a:ea typeface="Calibri"/>
                <a:cs typeface="Calibri"/>
                <a:hlinkClick xmlns:ns0="http://schemas.openxmlformats.org/officeDocument/2006/relationships" ns0:id="rIdLink3"/>
              </a:rPr>
              <a:t>https://github.com/mascon0423/ANA500/tree/main/week4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59ABFF-B09D-4603-A137-A3EA79878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53175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25">
                <a:solidFill>
                  <a:srgbClr val="000000"/>
                </a:solidFill>
                <a:latin typeface="Calibri"/>
                <a:ea typeface="Calibri"/>
                <a:cs typeface="Calibri"/>
                <a:hlinkClick xmlns:ns1="http://schemas.openxmlformats.org/officeDocument/2006/relationships" ns1:id="rIdLink4"/>
              </a:rPr>
              <a:t>Data and license: https://doi.org/10.24432/C5W894</a:t>
            </a:r>
          </a:p>
        </p:txBody>
      </p:sp>
    </p:spTree>
    <p:extLst>
      <p:ext uri="{BB962C8B-B14F-4D97-AF65-F5344CB8AC3E}">
        <p14:creationId xmlns:p14="http://schemas.microsoft.com/office/powerpoint/2010/main" val="6979804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2026-10-11T14:02:26.4700000Z</dcterms:created>
  <dcterms:modified xsi:type="dcterms:W3CDTF">2026-10-11T14:02:26.4700000Z</dcterms:modified>
</coreProperties>
</file>