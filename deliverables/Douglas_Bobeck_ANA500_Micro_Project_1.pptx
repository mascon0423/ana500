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aa05ab21a245f0" /><Relationship Type="http://schemas.openxmlformats.org/officeDocument/2006/relationships/extended-properties" Target="/docProps/app.xml" Id="Rbb883fd8c7db4466" /><Relationship Type="http://schemas.openxmlformats.org/officeDocument/2006/relationships/officeDocument" Target="/ppt/presentation.xml" Id="R65b2abb64d794ff9" /></Relationships>
</file>

<file path=ppt/presentation.xml><?xml version="1.0" encoding="utf-8"?>
<p:presentation xmlns:p="http://schemas.openxmlformats.org/presentationml/2006/main">
  <p:sldMasterIdLst>
    <p:sldMasterId xmlns:r="http://schemas.openxmlformats.org/officeDocument/2006/relationships" id="2147483648" r:id="R3504c176dd0344c3"/>
  </p:sldMasterIdLst>
  <p:notesMasterIdLst>
    <p:notesMasterId xmlns:r="http://schemas.openxmlformats.org/officeDocument/2006/relationships" r:id="R5a24f07945314ee2"/>
  </p:notesMasterIdLst>
  <p:sldIdLst>
    <p:sldId xmlns:r="http://schemas.openxmlformats.org/officeDocument/2006/relationships" id="256" r:id="R92d6da84e3df4182"/>
    <p:sldId xmlns:r="http://schemas.openxmlformats.org/officeDocument/2006/relationships" id="257" r:id="Rcfa26df8a52a44f7"/>
    <p:sldId xmlns:r="http://schemas.openxmlformats.org/officeDocument/2006/relationships" id="258" r:id="Rb84f866801d54a2d"/>
    <p:sldId xmlns:r="http://schemas.openxmlformats.org/officeDocument/2006/relationships" id="259" r:id="Rcdf36fd4ef4a4d95"/>
    <p:sldId xmlns:r="http://schemas.openxmlformats.org/officeDocument/2006/relationships" id="260" r:id="Rfbe48cb79ddd4495"/>
    <p:sldId xmlns:r="http://schemas.openxmlformats.org/officeDocument/2006/relationships" id="261" r:id="R7c550bba107545b1"/>
    <p:sldId xmlns:r="http://schemas.openxmlformats.org/officeDocument/2006/relationships" id="262" r:id="Ra991f63e70d948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5e50979dd75471f" /><Relationship Type="http://schemas.openxmlformats.org/officeDocument/2006/relationships/slideMaster" Target="/ppt/slideMasters/slideMaster1.xml" Id="R3504c176dd0344c3" /><Relationship Type="http://schemas.openxmlformats.org/officeDocument/2006/relationships/notesMaster" Target="/ppt/notesMasters/notesMaster1.xml" Id="R5a24f07945314ee2" /><Relationship Type="http://schemas.openxmlformats.org/officeDocument/2006/relationships/presProps" Target="/ppt/presProps.xml" Id="R1b82f950331b4114" /><Relationship Type="http://schemas.openxmlformats.org/officeDocument/2006/relationships/viewProps" Target="/ppt/viewProps.xml" Id="Rbd81e5b55a734566" /><Relationship Type="http://schemas.openxmlformats.org/officeDocument/2006/relationships/tableStyles" Target="/ppt/tableStyles.xml" Id="Rd519b3571d504660" /><Relationship Type="http://schemas.openxmlformats.org/officeDocument/2006/relationships/slide" Target="/ppt/slides/slide1.xml" Id="R92d6da84e3df4182" /><Relationship Type="http://schemas.openxmlformats.org/officeDocument/2006/relationships/slide" Target="/ppt/slides/slide2.xml" Id="Rcfa26df8a52a44f7" /><Relationship Type="http://schemas.openxmlformats.org/officeDocument/2006/relationships/slide" Target="/ppt/slides/slide3.xml" Id="Rb84f866801d54a2d" /><Relationship Type="http://schemas.openxmlformats.org/officeDocument/2006/relationships/slide" Target="/ppt/slides/slide4.xml" Id="Rcdf36fd4ef4a4d95" /><Relationship Type="http://schemas.openxmlformats.org/officeDocument/2006/relationships/slide" Target="/ppt/slides/slide5.xml" Id="Rfbe48cb79ddd4495" /><Relationship Type="http://schemas.openxmlformats.org/officeDocument/2006/relationships/slide" Target="/ppt/slides/slide6.xml" Id="R7c550bba107545b1" /><Relationship Type="http://schemas.openxmlformats.org/officeDocument/2006/relationships/slide" Target="/ppt/slides/slide7.xml" Id="Ra991f63e70d948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4d922f902546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538b13701ed4902" /><Relationship Type="http://schemas.openxmlformats.org/officeDocument/2006/relationships/notesMaster" Target="/ppt/notesMasters/notesMaster1.xml" Id="Raae542b6c8cb458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73151344f041f7" /><Relationship Type="http://schemas.openxmlformats.org/officeDocument/2006/relationships/notesMaster" Target="/ppt/notesMasters/notesMaster1.xml" Id="R4381034be74345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d5af535447459d" /><Relationship Type="http://schemas.openxmlformats.org/officeDocument/2006/relationships/notesMaster" Target="/ppt/notesMasters/notesMaster1.xml" Id="Ra983b6141c1c4a5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7eb63da5444844" /><Relationship Type="http://schemas.openxmlformats.org/officeDocument/2006/relationships/notesMaster" Target="/ppt/notesMasters/notesMaster1.xml" Id="R6e49da53853e4f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96397c55734fe8" /><Relationship Type="http://schemas.openxmlformats.org/officeDocument/2006/relationships/notesMaster" Target="/ppt/notesMasters/notesMaster1.xml" Id="Rb2594950c1294f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8843e451164260" /><Relationship Type="http://schemas.openxmlformats.org/officeDocument/2006/relationships/notesMaster" Target="/ppt/notesMasters/notesMaster1.xml" Id="R1e656aa45d5142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bc3c937eba4396" /><Relationship Type="http://schemas.openxmlformats.org/officeDocument/2006/relationships/notesMaster" Target="/ppt/notesMasters/notesMaster1.xml" Id="Rbb556930dec840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ANA500: Python for Data Science. Micro-Project 1 ends at Step 2, Prepare. Repository: https://github.com/mascon0423/ANA500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Becker, B., &amp; Kohavi, R. (1996). Adult [Dataset]. UCI Machine Learning Repository. https://doi.org/10.24432/C5XW20</a:t>
            </a:r>
          </a:p>
          <a:p xmlns:a="http://schemas.openxmlformats.org/drawingml/2006/main">
            <a:r>
              <a:t>Documentation: https://archive.ics.uci.edu/dataset/2/adult</a:t>
            </a:r>
          </a:p>
          <a:p xmlns:a="http://schemas.openxmlformats.org/drawingml/2006/main">
            <a:r>
              <a:t>Attribute and split notes: https://archive.ics.uci.edu/ml/machine-learning-databases/adult/adult.names</a:t>
            </a:r>
          </a:p>
          <a:p xmlns:a="http://schemas.openxmlformats.org/drawingml/2006/main">
            <a:r>
              <a:t>The problem statement names an association to investigate, not a verified difference. Counts refer to the supplied historical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Becker, B., &amp; Kohavi, R. (1996). Adult [Dataset]. UCI Machine Learning Repository. https://doi.org/10.24432/C5XW20</a:t>
            </a:r>
          </a:p>
          <a:p xmlns:a="http://schemas.openxmlformats.org/drawingml/2006/main">
            <a:r>
              <a:t>Documentation: https://archive.ics.uci.edu/dataset/2/adult</a:t>
            </a:r>
          </a:p>
          <a:p xmlns:a="http://schemas.openxmlformats.org/drawingml/2006/main">
            <a:r>
              <a:t>Attribute and split notes: https://archive.ics.uci.edu/ml/machine-learning-databases/adult/adult.names</a:t>
            </a:r>
          </a:p>
          <a:p xmlns:a="http://schemas.openxmlformats.org/drawingml/2006/main">
            <a:r>
              <a:t>No significance test, regression, predictive model, or causal estimate is included. A future association would not establish that education causes higher income.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Becker, B., &amp; Kohavi, R. (1996). Adult [Dataset]. UCI Machine Learning Repository. https://doi.org/10.24432/C5XW20</a:t>
            </a:r>
          </a:p>
          <a:p xmlns:a="http://schemas.openxmlformats.org/drawingml/2006/main">
            <a:r>
              <a:t>Documentation: https://archive.ics.uci.edu/dataset/2/adult</a:t>
            </a:r>
          </a:p>
          <a:p xmlns:a="http://schemas.openxmlformats.org/drawingml/2006/main">
            <a:r>
              <a:t>Attribute and split notes: https://archive.ics.uci.edu/ml/machine-learning-databases/adult/adult.names</a:t>
            </a:r>
          </a:p>
          <a:p xmlns:a="http://schemas.openxmlformats.org/drawingml/2006/main">
            <a:r>
              <a:t>Computed from the supplied adult income.csv using micro_project_1.py. Evidence: preparation_audit.json and preparation_output.txt. Local values and row order were independently verified against UCI adult.data on September 20, 2026. Source CSV SHA-256: f2c62076f19504d99a38b22badf445a7f42530ade6b827acf78dd143fbce38bb</a:t>
            </a:r>
          </a:p>
          <a:p xmlns:a="http://schemas.openxmlformats.org/drawingml/2006/main">
            <a:r>
              <a:t>The full UCI dataset has 48,842 records, while the supplied training subset has 32,561. All project summaries describe unweighted sample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Computed from the supplied adult income.csv using micro_project_1.py. Evidence: preparation_audit.json and preparation_output.txt. Local values and row order were independently verified against UCI adult.data on September 20, 2026. Source CSV SHA-256: f2c62076f19504d99a38b22badf445a7f42530ade6b827acf78dd143fbce38bb</a:t>
            </a:r>
          </a:p>
          <a:p xmlns:a="http://schemas.openxmlformats.org/drawingml/2006/main">
            <a:r>
              <a:t>Missing-field counts overlap; their sum is not the number of affected rows. Education and income are fully observed, so the missing ancillary categories do not require deleting records for the planned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Computed from the supplied adult income.csv using micro_project_1.py. Evidence: preparation_audit.json and preparation_output.txt. Local values and row order were independently verified against UCI adult.data on September 20, 2026. Source CSV SHA-256: f2c62076f19504d99a38b22badf445a7f42530ade6b827acf78dd143fbce38bb</a:t>
            </a:r>
          </a:p>
          <a:p xmlns:a="http://schemas.openxmlformats.org/drawingml/2006/main">
            <a:r>
              <a:t>The same script recognizes the two period-suffixed UCI test-label variants, although neither appears in the supplied file. Numerical validation rejects missing, fractional, nonfinite, or implausible values before outputs are written. The education code is ordinal, not literal years of schooling. No survey weighting or imputation is performed.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Computed from the supplied adult income.csv using micro_project_1.py. Evidence: preparation_audit.json and preparation_output.txt. Local values and row order were independently verified against UCI adult.data on September 20, 2026. Source CSV SHA-256: f2c62076f19504d99a38b22badf445a7f42530ade6b827acf78dd143fbce38bb</a:t>
            </a:r>
          </a:p>
          <a:p xmlns:a="http://schemas.openxmlformats.org/drawingml/2006/main">
            <a:r>
              <a:t>Becker, B., &amp; Kohavi, R. (1996). Adult [Dataset]. UCI Machine Learning Repository. https://doi.org/10.24432/C5XW20</a:t>
            </a:r>
          </a:p>
          <a:p xmlns:a="http://schemas.openxmlformats.org/drawingml/2006/main">
            <a:r>
              <a:t>Documentation: https://archive.ics.uci.edu/dataset/2/adult</a:t>
            </a:r>
          </a:p>
          <a:p xmlns:a="http://schemas.openxmlformats.org/drawingml/2006/main">
            <a:r>
              <a:t>Attribute and split notes: https://archive.ics.uci.edu/ml/machine-learning-databases/adult/adult.names</a:t>
            </a:r>
          </a:p>
          <a:p xmlns:a="http://schemas.openxmlformats.org/drawingml/2006/main">
            <a:r>
              <a:t>The Python code and output PDF includes the full script, comments explaining each section, output, and the reasons for the cleaning decisions. A later analysis would need to decide how to handle survey weights and missing values in any additional variables.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170872881642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c431ae989ce4b1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3f47a9b94224c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7c30c8174ac480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2519f54374840b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e5a9d21593d416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8a3829ef4cb43f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bce60fa26164d9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b331a5e6ba1442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1c8167801094cc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60801c6fd694d6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F784A48-ED60-4C3D-8040-EA420D137689}"/>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69950468-0315-4B9D-B09C-8C8C8EBD6A84}"/>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B77C4A60-6695-4CB3-AF2E-ACFA3C0B87F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842D2078-2F8D-45FB-9C14-17036DA5D35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FDD9676-FA59-4F47-9033-2CFC7976370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C04559-4EA9-4030-8CD7-225515C39D9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34A446E6-DF6C-44D2-BA71-5D6445655C1D}"/>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4F5ECAD-0D49-425E-99BE-4E9A279761F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01B6268D-3BF4-472B-B1D5-518489674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4BF4C8E-AFA1-48CB-9BE5-583A376604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30CC60D-06AE-4839-A5F6-DB50DF8789E9}"/>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B8C870F-1989-4744-AA64-C97EBC3080FB}"/>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33CF60B-312D-4E68-B904-78A68C9AF98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0A05CA4F-B8D7-4A59-A5BA-74DF90CC1D1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E1BAD61-51E4-4D1D-8E14-1EB20C0ECB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851454-95B8-455D-BFC1-6C6DA360317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13FBC0B-D342-4647-B5BA-5B6ADF294E24}"/>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969BC10-2FBB-4372-AE80-21EC4AB47AF0}"/>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19FE6231-D355-4CB0-AB68-1D21D4EB6AC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6" name="Footer Placeholder 5">
            <a:extLst xmlns:a="http://schemas.openxmlformats.org/drawingml/2006/main">
              <a:ext uri="{FF2B5EF4-FFF2-40B4-BE49-F238E27FC236}">
                <a16:creationId xmlns:a16="http://schemas.microsoft.com/office/drawing/2014/main" id="{AB01BF01-A233-43E9-8949-BAADCAF957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4EA8DA2-49A7-4CD4-AD2A-B4AE89F09C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A9A6AAD-2645-4527-94B3-3A3BECB92816}"/>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27031552-937E-4EAB-883E-C29FBC415BEA}"/>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73455D9-4697-44D3-AB55-9CADBE716D0B}"/>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F258DC7D-BF9A-4F54-AB58-1C49FFA17D71}"/>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D1D3AE0C-DB47-4E16-828A-3429714FADD7}"/>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4B3C3C45-525E-4801-90AF-776B7EFC5AD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8" name="Footer Placeholder 7">
            <a:extLst xmlns:a="http://schemas.openxmlformats.org/drawingml/2006/main">
              <a:ext uri="{FF2B5EF4-FFF2-40B4-BE49-F238E27FC236}">
                <a16:creationId xmlns:a16="http://schemas.microsoft.com/office/drawing/2014/main" id="{F3B6704D-F5BC-4598-B7E7-5F53967A678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22D9A6A6-BB3C-4DD0-A205-F8593CED10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B609AA-EE0C-4FE6-8E30-99E91A13B5C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57DA744A-AA0E-40C1-82B4-1865879ADE9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4" name="Footer Placeholder 3">
            <a:extLst xmlns:a="http://schemas.openxmlformats.org/drawingml/2006/main">
              <a:ext uri="{FF2B5EF4-FFF2-40B4-BE49-F238E27FC236}">
                <a16:creationId xmlns:a16="http://schemas.microsoft.com/office/drawing/2014/main" id="{AD1794A4-DA55-49C9-9EE1-51AFA79807A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583A595F-05DA-41C2-AFB0-CC51AFDB903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285F4ACF-3F96-4D20-91DE-5A7A89B4A2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3" name="Footer Placeholder 2">
            <a:extLst xmlns:a="http://schemas.openxmlformats.org/drawingml/2006/main">
              <a:ext uri="{FF2B5EF4-FFF2-40B4-BE49-F238E27FC236}">
                <a16:creationId xmlns:a16="http://schemas.microsoft.com/office/drawing/2014/main" id="{4D2B232B-2221-443B-9621-C2FFF416019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22970A4F-5257-4439-983C-D802F7190B3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85D602-AEC1-494B-9EC8-423C9605B18A}"/>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2AC75CB-286B-4E0D-946F-B2152E7923CE}"/>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4B6FE692-594E-4FE0-A040-69DCF74AAAA6}"/>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4E66829-7538-463B-99D9-8920CBDF406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6" name="Footer Placeholder 5">
            <a:extLst xmlns:a="http://schemas.openxmlformats.org/drawingml/2006/main">
              <a:ext uri="{FF2B5EF4-FFF2-40B4-BE49-F238E27FC236}">
                <a16:creationId xmlns:a16="http://schemas.microsoft.com/office/drawing/2014/main" id="{EAB5AFDF-77FC-4354-AF3B-008607F927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C77315B-5282-41D1-99A3-2ADE83DA19E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477A91-0A20-466E-9CA8-86B63BE8AF25}"/>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A78C2C4C-22CA-4398-A23B-4F068FB5A78E}"/>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33574D67-2A27-42C6-815E-BE5AD10D36A6}"/>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9BB23AA-5E29-4400-B52D-822F13ED6B9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6" name="Footer Placeholder 5">
            <a:extLst xmlns:a="http://schemas.openxmlformats.org/drawingml/2006/main">
              <a:ext uri="{FF2B5EF4-FFF2-40B4-BE49-F238E27FC236}">
                <a16:creationId xmlns:a16="http://schemas.microsoft.com/office/drawing/2014/main" id="{FA368ADC-B329-411C-AA83-9EEADAE8A9B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778A6D9-A5FD-46E3-8F58-CDC4CC4B89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7C59857-0725-4AFD-ADA1-93DE6885A96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A742F07-D500-4235-A3BD-4E9FA3C9269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6AB7CF7-F61A-47E7-B601-419FF069E76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6918C1B3-4CDE-4267-AF19-9C2FCF86025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D38641-A10F-457F-B6A9-3F574B2B266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A3A314E-DAF4-459C-AF7B-C7347C76393A}"/>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027BE33E-4004-41A3-B3E6-14272F53B3B6}"/>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BE1A99DB-D8D6-44B2-B140-B5C0DD69889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131BF21E-4345-40CE-88C3-7C77ECC010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D1F20F6-FD42-49EE-AE17-171924F498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7BC5D697-CC64-4CAF-A466-D1105DD36B62}"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595c15300b4020" /><Relationship Type="http://schemas.openxmlformats.org/officeDocument/2006/relationships/slideLayout" Target="/ppt/slideLayouts/slideLayout1.xml" Id="Rd6194d3a089d433d" /><Relationship Type="http://schemas.openxmlformats.org/officeDocument/2006/relationships/slideLayout" Target="/ppt/slideLayouts/slideLayout2.xml" Id="R75e5700facd742ad" /><Relationship Type="http://schemas.openxmlformats.org/officeDocument/2006/relationships/slideLayout" Target="/ppt/slideLayouts/slideLayout3.xml" Id="Rea19f176346844c7" /><Relationship Type="http://schemas.openxmlformats.org/officeDocument/2006/relationships/slideLayout" Target="/ppt/slideLayouts/slideLayout4.xml" Id="R1fdb54cf8ecb4aea" /><Relationship Type="http://schemas.openxmlformats.org/officeDocument/2006/relationships/slideLayout" Target="/ppt/slideLayouts/slideLayout5.xml" Id="Rbfa7a3a80d874f7f" /><Relationship Type="http://schemas.openxmlformats.org/officeDocument/2006/relationships/slideLayout" Target="/ppt/slideLayouts/slideLayout6.xml" Id="R4c2dda50e1df4780" /><Relationship Type="http://schemas.openxmlformats.org/officeDocument/2006/relationships/slideLayout" Target="/ppt/slideLayouts/slideLayout7.xml" Id="R66c7c301f7934a22" /><Relationship Type="http://schemas.openxmlformats.org/officeDocument/2006/relationships/slideLayout" Target="/ppt/slideLayouts/slideLayout8.xml" Id="R57d0b8450d2a4084" /><Relationship Type="http://schemas.openxmlformats.org/officeDocument/2006/relationships/slideLayout" Target="/ppt/slideLayouts/slideLayout9.xml" Id="Ra1d65918e5b54162" /><Relationship Type="http://schemas.openxmlformats.org/officeDocument/2006/relationships/slideLayout" Target="/ppt/slideLayouts/slideLayout10.xml" Id="Rae6c7a80d9ba4d2c" /><Relationship Type="http://schemas.openxmlformats.org/officeDocument/2006/relationships/slideLayout" Target="/ppt/slideLayouts/slideLayout11.xml" Id="R4936b75682db426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0B5F7E3-61B5-4449-80CF-04DA4D37AB71}"/>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ECFC45A-DECF-4B86-87F6-C12B501A4F24}"/>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EC712EE-4BB3-49D3-9FAF-733EA6255E99}"/>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3F52AFC1-4F45-459D-BC95-0F8F5E3A4294}" type="datetimeFigureOut">
              <a:t>3/1/2022</a:t>
            </a:fld>
            <a:endParaRPr/>
          </a:p>
        </p:txBody>
      </p:sp>
      <p:sp>
        <p:nvSpPr>
          <p:cNvPr id="5" name="Footer Placeholder 4">
            <a:extLst xmlns:a="http://schemas.openxmlformats.org/drawingml/2006/main">
              <a:ext uri="{FF2B5EF4-FFF2-40B4-BE49-F238E27FC236}">
                <a16:creationId xmlns:a16="http://schemas.microsoft.com/office/drawing/2014/main" id="{83DFC8A3-CA43-47DE-88A0-18EE8FB2D2A0}"/>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38CC4C2-DBD2-41A0-8542-0ED48583DA2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7BC5D697-CC64-4CAF-A466-D1105DD36B62}"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194d3a089d433d"/>
    <p:sldLayoutId xmlns:r="http://schemas.openxmlformats.org/officeDocument/2006/relationships" id="2147483650" r:id="R75e5700facd742ad"/>
    <p:sldLayoutId xmlns:r="http://schemas.openxmlformats.org/officeDocument/2006/relationships" id="2147483651" r:id="Rea19f176346844c7"/>
    <p:sldLayoutId xmlns:r="http://schemas.openxmlformats.org/officeDocument/2006/relationships" id="2147483652" r:id="R1fdb54cf8ecb4aea"/>
    <p:sldLayoutId xmlns:r="http://schemas.openxmlformats.org/officeDocument/2006/relationships" id="2147483653" r:id="Rbfa7a3a80d874f7f"/>
    <p:sldLayoutId xmlns:r="http://schemas.openxmlformats.org/officeDocument/2006/relationships" id="2147483654" r:id="R4c2dda50e1df4780"/>
    <p:sldLayoutId xmlns:r="http://schemas.openxmlformats.org/officeDocument/2006/relationships" id="2147483655" r:id="R66c7c301f7934a22"/>
    <p:sldLayoutId xmlns:r="http://schemas.openxmlformats.org/officeDocument/2006/relationships" id="2147483656" r:id="R57d0b8450d2a4084"/>
    <p:sldLayoutId xmlns:r="http://schemas.openxmlformats.org/officeDocument/2006/relationships" id="2147483657" r:id="Ra1d65918e5b54162"/>
    <p:sldLayoutId xmlns:r="http://schemas.openxmlformats.org/officeDocument/2006/relationships" id="2147483658" r:id="Rae6c7a80d9ba4d2c"/>
    <p:sldLayoutId xmlns:r="http://schemas.openxmlformats.org/officeDocument/2006/relationships" id="2147483659" r:id="R4936b75682db426a"/>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4cd340733345f2" /><Relationship Type="http://schemas.openxmlformats.org/officeDocument/2006/relationships/hyperlink" Target="https://github.com/mascon0423/ANA500" TargetMode="External" Id="Re10c9a4e07f646f0" /><Relationship Type="http://schemas.openxmlformats.org/officeDocument/2006/relationships/notesSlide" Target="/ppt/notesSlides/notesSlide1.xml" Id="Rfaf104deac7442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91aec1e3e554b87" /><Relationship Type="http://schemas.openxmlformats.org/officeDocument/2006/relationships/notesSlide" Target="/ppt/notesSlides/notesSlide2.xml" Id="Rfa27070413fc4e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0310f81141764bc3" /><Relationship Type="http://schemas.openxmlformats.org/officeDocument/2006/relationships/notesSlide" Target="/ppt/notesSlides/notesSlide3.xml" Id="R22a55e2e9ef749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885cf921553c4441" /><Relationship Type="http://schemas.openxmlformats.org/officeDocument/2006/relationships/notesSlide" Target="/ppt/notesSlides/notesSlide4.xml" Id="Rea38a49a88a04f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b51d5b740134cf7" /><Relationship Type="http://schemas.openxmlformats.org/officeDocument/2006/relationships/notesSlide" Target="/ppt/notesSlides/notesSlide5.xml" Id="Rd5152e253fcd4b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df72104732a64e93" /><Relationship Type="http://schemas.openxmlformats.org/officeDocument/2006/relationships/notesSlide" Target="/ppt/notesSlides/notesSlide6.xml" Id="R2a7f72a114434a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dbd5d07a78a346f1" /><Relationship Type="http://schemas.openxmlformats.org/officeDocument/2006/relationships/notesSlide" Target="/ppt/notesSlides/notesSlide7.xml" Id="Rf958d31f4c674ac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FEFD3DB-B193-4E72-861B-FE835A2E1FAD}"/>
              </a:ext>
            </a:extLst>
          </p:cNvPr>
          <p:cNvSpPr>
            <a:spLocks xmlns:a="http://schemas.openxmlformats.org/drawingml/2006/main" noGrp="1"/>
          </p:cNvSpPr>
          <p:nvPr>
            <p:ph type="ctrTitle" idx="0"/>
          </p:nvPr>
        </p:nvSpPr>
        <p:spPr/>
        <p:txBody>
          <a:bodyPr xmlns:a="http://schemas.openxmlformats.org/drawingml/2006/main">
            <a:normAutofit fontScale="100000"/>
          </a:bodyPr>
          <a:lstStyle xmlns:a="http://schemas.openxmlformats.org/drawingml/2006/main"/>
          <a:p xmlns:a="http://schemas.openxmlformats.org/drawingml/2006/main">
            <a:r>
              <a:rPr sz="6000">
                <a:latin typeface="Calibri Light"/>
                <a:ea typeface="Calibri Light"/>
                <a:cs typeface="Calibri Light"/>
              </a:rPr>
              <a:t>Education and Income</a:t>
            </a:r>
          </a:p>
          <a:p xmlns:a="http://schemas.openxmlformats.org/drawingml/2006/main">
            <a:r>
              <a:rPr sz="4800">
                <a:latin typeface="Calibri Light"/>
                <a:ea typeface="Calibri Light"/>
                <a:cs typeface="Calibri Light"/>
              </a:rPr>
              <a:t>Micro-Project 1</a:t>
            </a:r>
          </a:p>
          <a:p xmlns:a="http://schemas.openxmlformats.org/drawingml/2006/main">
            <a:r>
              <a:rPr sz="1800">
                <a:latin typeface="Calibri Light"/>
                <a:ea typeface="Calibri Light"/>
                <a:cs typeface="Calibri Light"/>
                <a:hlinkClick xmlns:r="http://schemas.openxmlformats.org/officeDocument/2006/relationships" r:id="Re10c9a4e07f646f0"/>
              </a:rPr>
              <a:t>github.com/mascon0423/ANA500</a:t>
            </a:r>
          </a:p>
        </p:txBody>
      </p:sp>
      <p:sp>
        <p:nvSpPr>
          <p:cNvPr id="3" name="Subtitle 2">
            <a:extLst xmlns:a="http://schemas.openxmlformats.org/drawingml/2006/main">
              <a:ext uri="{FF2B5EF4-FFF2-40B4-BE49-F238E27FC236}">
                <a16:creationId xmlns:a16="http://schemas.microsoft.com/office/drawing/2014/main" id="{76B5E315-C208-479B-A6B8-0DCBEF2B5FB3}"/>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Douglas Bobeck</a:t>
            </a:r>
          </a:p>
          <a:p xmlns:a="http://schemas.openxmlformats.org/drawingml/2006/main">
            <a:r>
              <a:t>September 20, 2026</a:t>
            </a:r>
          </a:p>
        </p:txBody>
      </p:sp>
    </p:spTree>
    <p:extLst>
      <p:ext uri="{BB962C8B-B14F-4D97-AF65-F5344CB8AC3E}">
        <p14:creationId xmlns:p14="http://schemas.microsoft.com/office/powerpoint/2010/main" val="36512514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302AB-CEDA-4E89-A1DC-6BABC9C3F7D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Problem Statement</a:t>
            </a:r>
          </a:p>
        </p:txBody>
      </p:sp>
      <p:sp>
        <p:nvSpPr>
          <p:cNvPr id="3" name="Content Placeholder 2">
            <a:extLst xmlns:a="http://schemas.openxmlformats.org/drawingml/2006/main">
              <a:ext uri="{FF2B5EF4-FFF2-40B4-BE49-F238E27FC236}">
                <a16:creationId xmlns:a16="http://schemas.microsoft.com/office/drawing/2014/main" id="{05AD07EA-4B74-4BFA-A23D-5147B6A28FC4}"/>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This project looks at the relationship between education and income in the Adult dataset.</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Question: Is the share earning above $50,000 higher among adults with a bachelor's degree or higher than among adults with less education?</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Income is recorded in two groups: at or below $50,000 per year and above $50,000. The dataset does not give exact incomes.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The work for this week is to load, explore, and clean the data so it can be used for a later comparison.</a:t>
            </a:r>
          </a:p>
        </p:txBody>
      </p:sp>
    </p:spTree>
    <p:extLst>
      <p:ext uri="{BB962C8B-B14F-4D97-AF65-F5344CB8AC3E}">
        <p14:creationId xmlns:p14="http://schemas.microsoft.com/office/powerpoint/2010/main" val="188067840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F29C91F-7913-4D5C-A911-ADD4837DAA0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Hypothesis Formulation</a:t>
            </a:r>
          </a:p>
        </p:txBody>
      </p:sp>
      <p:sp>
        <p:nvSpPr>
          <p:cNvPr id="3" name="Content Placeholder 2">
            <a:extLst xmlns:a="http://schemas.openxmlformats.org/drawingml/2006/main">
              <a:ext uri="{FF2B5EF4-FFF2-40B4-BE49-F238E27FC236}">
                <a16:creationId xmlns:a16="http://schemas.microsoft.com/office/drawing/2014/main" id="{905A42CE-FCD3-41B9-A629-5F3C6031F3C0}"/>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Hypothesis: Adults with at least a bachelor's degree are more likely to earn above $50,000 than adults with less education.</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Possible explanation: More education may help people qualify for jobs with higher pay. This explanation would need to be tested.</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The degree group includes Bachelors, Masters, Prof-school, and Doctorate. The comparison group includes all other education levels.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Age, occupation, and hours worked may also affect income. This week's project prepares the data and leaves the hypothesis untested.</a:t>
            </a:r>
          </a:p>
        </p:txBody>
      </p:sp>
    </p:spTree>
    <p:extLst>
      <p:ext uri="{BB962C8B-B14F-4D97-AF65-F5344CB8AC3E}">
        <p14:creationId xmlns:p14="http://schemas.microsoft.com/office/powerpoint/2010/main" val="330695879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B2A7252-6823-44F9-B464-D7A15D12BB6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Acquire</a:t>
            </a:r>
          </a:p>
        </p:txBody>
      </p:sp>
      <p:sp>
        <p:nvSpPr>
          <p:cNvPr id="3" name="Content Placeholder 2">
            <a:extLst xmlns:a="http://schemas.openxmlformats.org/drawingml/2006/main">
              <a:ext uri="{FF2B5EF4-FFF2-40B4-BE49-F238E27FC236}">
                <a16:creationId xmlns:a16="http://schemas.microsoft.com/office/drawing/2014/main" id="{7FEAE391-6366-4E20-A14E-0ECFAEA8029A}"/>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Source: UCI Adult dataset, created by Barry Becker and Ronny Kohavi from the 1994 Census database.</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Supplied file: adult income.csv. It contains 32,561 records and 15 columns: 14 attributes plus the income label.</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The supplied records match UCI's training split. The separate test split is not used in this micro-project.</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Tools used: Python in PyCharm, Pandas to load and organize the CSV as a DataFrame, and NumPy for numerical operations. The original CSV is kept unchanged.</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The main fields are education, education-num, and income. Age, occupation, and hours worked add context. fnlwgt is the final survey weight.</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Reference: Becker &amp; Kohavi (1996), Adult. https://doi.org/10.24432/C5XW20</a:t>
            </a:r>
          </a:p>
        </p:txBody>
      </p:sp>
    </p:spTree>
    <p:extLst>
      <p:ext uri="{BB962C8B-B14F-4D97-AF65-F5344CB8AC3E}">
        <p14:creationId xmlns:p14="http://schemas.microsoft.com/office/powerpoint/2010/main" val="42702315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B2A7252-6823-44F9-B464-D7A15D12BB6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Prepare: Initial Exploration</a:t>
            </a:r>
          </a:p>
        </p:txBody>
      </p:sp>
      <p:sp>
        <p:nvSpPr>
          <p:cNvPr id="3" name="Content Placeholder 2">
            <a:extLst xmlns:a="http://schemas.openxmlformats.org/drawingml/2006/main">
              <a:ext uri="{FF2B5EF4-FFF2-40B4-BE49-F238E27FC236}">
                <a16:creationId xmlns:a16="http://schemas.microsoft.com/office/drawing/2014/main" id="{7FEAE391-6366-4E20-A14E-0ECFAEA8029A}"/>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Income categories: 24,720 records at or below $50,000 and 7,841 above $50,000. These are sample counts.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Missing workclass: 1,836. Missing occupation: 1,843. Missing native-country: 583.</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2,399 records contain at least one missing value. The original marker is ?. Education and income have no missing values.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24 records repeat the same values as an earlier row. The file has no person ID, so these could represent different people.</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NumPy summaries: age ranges from 17 to 90, with median 37. Work hours range from 1 to 99 per week, with median 40.</a:t>
            </a:r>
          </a:p>
        </p:txBody>
      </p:sp>
    </p:spTree>
    <p:extLst>
      <p:ext uri="{BB962C8B-B14F-4D97-AF65-F5344CB8AC3E}">
        <p14:creationId xmlns:p14="http://schemas.microsoft.com/office/powerpoint/2010/main" val="278821798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B2A7252-6823-44F9-B464-D7A15D12BB6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Prepare: Cleaning Decisions</a:t>
            </a:r>
          </a:p>
        </p:txBody>
      </p:sp>
      <p:sp>
        <p:nvSpPr>
          <p:cNvPr id="3" name="Content Placeholder 2">
            <a:extLst xmlns:a="http://schemas.openxmlformats.org/drawingml/2006/main">
              <a:ext uri="{FF2B5EF4-FFF2-40B4-BE49-F238E27FC236}">
                <a16:creationId xmlns:a16="http://schemas.microsoft.com/office/drawing/2014/main" id="{7FEAE391-6366-4E20-A14E-0ECFAEA8029A}"/>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Remove extra spaces and mark ? or blank cells as missing in Pandas. Leave unknown values missing instead of filling them with guesses.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Change six numeric fields to integers and nine text fields to categorical data. Check that income labels are valid and education codes match their labels.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Keep all records, including repeated rows. Record how many repeat so their effect can be checked in a later project.</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Keep valid zero capital gains and losses. Keep the observed age and work-hour values because they pass the range checks.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Use NumPy to create education_group and income_gt_50k. The income flag is 1 for above $50,000 and 0 for at or below $50,000. Keep every original field.</a:t>
            </a:r>
          </a:p>
        </p:txBody>
      </p:sp>
    </p:spTree>
    <p:extLst>
      <p:ext uri="{BB962C8B-B14F-4D97-AF65-F5344CB8AC3E}">
        <p14:creationId xmlns:p14="http://schemas.microsoft.com/office/powerpoint/2010/main" val="278821798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B2A7252-6823-44F9-B464-D7A15D12BB6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Prepare: Final Dataset</a:t>
            </a:r>
          </a:p>
        </p:txBody>
      </p:sp>
      <p:sp>
        <p:nvSpPr>
          <p:cNvPr id="3" name="Content Placeholder 2">
            <a:extLst xmlns:a="http://schemas.openxmlformats.org/drawingml/2006/main">
              <a:ext uri="{FF2B5EF4-FFF2-40B4-BE49-F238E27FC236}">
                <a16:creationId xmlns:a16="http://schemas.microsoft.com/office/drawing/2014/main" id="{7FEAE391-6366-4E20-A14E-0ECFAEA8029A}"/>
              </a:ext>
            </a:extLst>
          </p:cNvPr>
          <p:cNvSpPr>
            <a:spLocks xmlns:a="http://schemas.openxmlformats.org/drawingml/2006/main" noGrp="1"/>
          </p:cNvSpPr>
          <p:nvPr>
            <p:ph idx="1"/>
          </p:nvPr>
        </p:nvSpPr>
        <p:spPr/>
        <p:txBody>
          <a:bodyPr xmlns:a="http://schemas.openxmlformats.org/drawingml/2006/main" anchor="t">
            <a:noAutofit/>
          </a:bodyPr>
          <a:lstStyle xmlns:a="http://schemas.openxmlformats.org/drawingml/2006/main"/>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Prepared dataset: 32,561 records and 17 columns. No rows removed. Two derived fields added.</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Education groups: 8,067 bachelor's or higher, and 24,494 below bachelor's. Income rates by group have not been compared.</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Checks passed for column names, required values, numeric ranges, income labels, and matching education codes.</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Missing workclass, occupation, and native-country values remain recorded as missing. Education and income are complete for the planned comparison.</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These results describe the 1994 sample, with each row counted equally. They do not show that education causes higher income.</a:t>
            </a:r>
          </a:p>
          <a:p xmlns:a="http://schemas.openxmlformats.org/drawingml/2006/main">
            <a:pPr marL="228600" indent="-114300">
              <a:spcAft>
                <a:spcPts val="1600"/>
              </a:spcAft>
              <a:buFont typeface="Times New Roman"/>
              <a:buChar char="•"/>
              <a:defRPr sz="1800">
                <a:solidFill>
                  <a:srgbClr val="000000"/>
                </a:solidFill>
                <a:latin typeface="Times New Roman"/>
                <a:ea typeface="Times New Roman"/>
                <a:cs typeface="Times New Roman"/>
              </a:defRPr>
            </a:pPr>
            <a:r>
              <a:rPr sz="1800">
                <a:solidFill>
                  <a:srgbClr val="000000"/>
                </a:solidFill>
                <a:latin typeface="Times New Roman"/>
                <a:ea typeface="Times New Roman"/>
                <a:cs typeface="Times New Roman"/>
              </a:rPr>
              <a:t>This project ends at Step 2, Prepare. The hypothesis is still untested. Analyze, Report, and Act come later.</a:t>
            </a:r>
          </a:p>
        </p:txBody>
      </p:sp>
    </p:spTree>
    <p:extLst>
      <p:ext uri="{BB962C8B-B14F-4D97-AF65-F5344CB8AC3E}">
        <p14:creationId xmlns:p14="http://schemas.microsoft.com/office/powerpoint/2010/main" val="278821798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2026-09-20T23:26:51.9640000Z</dcterms:created>
  <dcterms:modified xsi:type="dcterms:W3CDTF">2026-09-20T23:26:51.9640000Z</dcterms:modified>
</coreProperties>
</file>