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df8fd101cb40eb" /><Relationship Type="http://schemas.openxmlformats.org/officeDocument/2006/relationships/extended-properties" Target="/docProps/app.xml" Id="Ra344eb3ab62c49e8" /><Relationship Type="http://schemas.openxmlformats.org/officeDocument/2006/relationships/officeDocument" Target="/ppt/presentation.xml" Id="R4aab606bb7694d9e" /></Relationships>
</file>

<file path=ppt/presentation.xml><?xml version="1.0" encoding="utf-8"?>
<p:presentation xmlns:p="http://schemas.openxmlformats.org/presentationml/2006/main">
  <p:sldMasterIdLst>
    <p:sldMasterId xmlns:r="http://schemas.openxmlformats.org/officeDocument/2006/relationships" id="2147483648" r:id="R0da183c9f15c4a06"/>
  </p:sldMasterIdLst>
  <p:notesMasterIdLst>
    <p:notesMasterId xmlns:r="http://schemas.openxmlformats.org/officeDocument/2006/relationships" r:id="Rba90f96645f34bb2"/>
  </p:notesMasterIdLst>
  <p:sldIdLst>
    <p:sldId xmlns:r="http://schemas.openxmlformats.org/officeDocument/2006/relationships" id="256" r:id="R6f508ad22c294d80"/>
    <p:sldId xmlns:r="http://schemas.openxmlformats.org/officeDocument/2006/relationships" id="257" r:id="Rafaa3ab7ea574ac4"/>
    <p:sldId xmlns:r="http://schemas.openxmlformats.org/officeDocument/2006/relationships" id="258" r:id="R0f489e16030548b0"/>
    <p:sldId xmlns:r="http://schemas.openxmlformats.org/officeDocument/2006/relationships" id="259" r:id="R6fdcf017cdfb4f68"/>
    <p:sldId xmlns:r="http://schemas.openxmlformats.org/officeDocument/2006/relationships" id="260" r:id="R689be0b4fec9424b"/>
    <p:sldId xmlns:r="http://schemas.openxmlformats.org/officeDocument/2006/relationships" id="261" r:id="R54cfeac5251848e1"/>
    <p:sldId xmlns:r="http://schemas.openxmlformats.org/officeDocument/2006/relationships" id="262" r:id="R9e2a4e499a0847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f29e0fd09024d09" /><Relationship Type="http://schemas.openxmlformats.org/officeDocument/2006/relationships/slideMaster" Target="/ppt/slideMasters/slideMaster1.xml" Id="R0da183c9f15c4a06" /><Relationship Type="http://schemas.openxmlformats.org/officeDocument/2006/relationships/notesMaster" Target="/ppt/notesMasters/notesMaster1.xml" Id="Rba90f96645f34bb2" /><Relationship Type="http://schemas.openxmlformats.org/officeDocument/2006/relationships/presProps" Target="/ppt/presProps.xml" Id="Rba9909b92eea42d3" /><Relationship Type="http://schemas.openxmlformats.org/officeDocument/2006/relationships/viewProps" Target="/ppt/viewProps.xml" Id="Raa768e353d174d85" /><Relationship Type="http://schemas.openxmlformats.org/officeDocument/2006/relationships/tableStyles" Target="/ppt/tableStyles.xml" Id="R96901989d7ec4ddb" /><Relationship Type="http://schemas.openxmlformats.org/officeDocument/2006/relationships/slide" Target="/ppt/slides/slide1.xml" Id="R6f508ad22c294d80" /><Relationship Type="http://schemas.openxmlformats.org/officeDocument/2006/relationships/slide" Target="/ppt/slides/slide2.xml" Id="Rafaa3ab7ea574ac4" /><Relationship Type="http://schemas.openxmlformats.org/officeDocument/2006/relationships/slide" Target="/ppt/slides/slide3.xml" Id="R0f489e16030548b0" /><Relationship Type="http://schemas.openxmlformats.org/officeDocument/2006/relationships/slide" Target="/ppt/slides/slide4.xml" Id="R6fdcf017cdfb4f68" /><Relationship Type="http://schemas.openxmlformats.org/officeDocument/2006/relationships/slide" Target="/ppt/slides/slide5.xml" Id="R689be0b4fec9424b" /><Relationship Type="http://schemas.openxmlformats.org/officeDocument/2006/relationships/slide" Target="/ppt/slides/slide6.xml" Id="R54cfeac5251848e1" /><Relationship Type="http://schemas.openxmlformats.org/officeDocument/2006/relationships/slide" Target="/ppt/slides/slide7.xml" Id="R9e2a4e499a0847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843486560245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e4871f4acc4d64" /><Relationship Type="http://schemas.openxmlformats.org/officeDocument/2006/relationships/notesMaster" Target="/ppt/notesMasters/notesMaster1.xml" Id="Ra146c7fb5a074a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9f23bafced40d7" /><Relationship Type="http://schemas.openxmlformats.org/officeDocument/2006/relationships/notesMaster" Target="/ppt/notesMasters/notesMaster1.xml" Id="Rf1f5e30edb0847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57645a2cee4198" /><Relationship Type="http://schemas.openxmlformats.org/officeDocument/2006/relationships/notesMaster" Target="/ppt/notesMasters/notesMaster1.xml" Id="Rb0d7c4d2a78a47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c88f01939c4d67" /><Relationship Type="http://schemas.openxmlformats.org/officeDocument/2006/relationships/notesMaster" Target="/ppt/notesMasters/notesMaster1.xml" Id="R9c29d4973a7746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974c74a52c41d8" /><Relationship Type="http://schemas.openxmlformats.org/officeDocument/2006/relationships/notesMaster" Target="/ppt/notesMasters/notesMaster1.xml" Id="R52d42917bbd544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9cf29a621b44ab" /><Relationship Type="http://schemas.openxmlformats.org/officeDocument/2006/relationships/notesMaster" Target="/ppt/notesMasters/notesMaster1.xml" Id="R1231d03411324c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fc202c93844355" /><Relationship Type="http://schemas.openxmlformats.org/officeDocument/2006/relationships/notesMaster" Target="/ppt/notesMasters/notesMaster1.xml" Id="R8cac3fdb3b3e4f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ANA500: Python for Data Science. Micro-Project 1 ends at Step 2, Prepare. Repository: https://github.com/mascon0423/ANA500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Becker, B., &amp; Kohavi, R. (1996). Adult [Dataset]. UCI Machine Learning Repository. https://doi.org/10.24432/C5XW20</a:t>
            </a:r>
          </a:p>
          <a:p xmlns:a="http://schemas.openxmlformats.org/drawingml/2006/main">
            <a:r>
              <a:t>Documentation: https://archive.ics.uci.edu/dataset/2/adult</a:t>
            </a:r>
          </a:p>
          <a:p xmlns:a="http://schemas.openxmlformats.org/drawingml/2006/main">
            <a:r>
              <a:t>Attribute and split notes: https://archive.ics.uci.edu/ml/machine-learning-databases/adult/adult.names</a:t>
            </a:r>
          </a:p>
          <a:p xmlns:a="http://schemas.openxmlformats.org/drawingml/2006/main">
            <a:r>
              <a:t>The problem statement names an association to investigate, not a verified difference. Counts refer to the supplied historical 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Becker, B., &amp; Kohavi, R. (1996). Adult [Dataset]. UCI Machine Learning Repository. https://doi.org/10.24432/C5XW20</a:t>
            </a:r>
          </a:p>
          <a:p xmlns:a="http://schemas.openxmlformats.org/drawingml/2006/main">
            <a:r>
              <a:t>Documentation: https://archive.ics.uci.edu/dataset/2/adult</a:t>
            </a:r>
          </a:p>
          <a:p xmlns:a="http://schemas.openxmlformats.org/drawingml/2006/main">
            <a:r>
              <a:t>Attribute and split notes: https://archive.ics.uci.edu/ml/machine-learning-databases/adult/adult.names</a:t>
            </a:r>
          </a:p>
          <a:p xmlns:a="http://schemas.openxmlformats.org/drawingml/2006/main">
            <a:r>
              <a:t>No significance test, regression, predictive model, or causal estimate is included. A future association would not establish that education causes higher income.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Becker, B., &amp; Kohavi, R. (1996). Adult [Dataset]. UCI Machine Learning Repository. https://doi.org/10.24432/C5XW20</a:t>
            </a:r>
          </a:p>
          <a:p xmlns:a="http://schemas.openxmlformats.org/drawingml/2006/main">
            <a:r>
              <a:t>Documentation: https://archive.ics.uci.edu/dataset/2/adult</a:t>
            </a:r>
          </a:p>
          <a:p xmlns:a="http://schemas.openxmlformats.org/drawingml/2006/main">
            <a:r>
              <a:t>Attribute and split notes: https://archive.ics.uci.edu/ml/machine-learning-databases/adult/adult.names</a:t>
            </a:r>
          </a:p>
          <a:p xmlns:a="http://schemas.openxmlformats.org/drawingml/2006/main">
            <a:r>
              <a:t>Computed from the supplied adult income.csv using micro_project_1.py. Evidence: preparation_audit.json and preparation_output.txt. Local values and row order were independently verified against UCI adult.data on September 20, 2026. Source CSV SHA-256: f2c62076f19504d99a38b22badf445a7f42530ade6b827acf78dd143fbce38bb</a:t>
            </a:r>
          </a:p>
          <a:p xmlns:a="http://schemas.openxmlformats.org/drawingml/2006/main">
            <a:r>
              <a:t>The full UCI dataset has 48,842 records, while the supplied training subset has 32,561. All project summaries describe unweighted sample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Computed from the supplied adult income.csv using micro_project_1.py. Evidence: preparation_audit.json and preparation_output.txt. Local values and row order were independently verified against UCI adult.data on September 20, 2026. Source CSV SHA-256: f2c62076f19504d99a38b22badf445a7f42530ade6b827acf78dd143fbce38bb</a:t>
            </a:r>
          </a:p>
          <a:p xmlns:a="http://schemas.openxmlformats.org/drawingml/2006/main">
            <a:r>
              <a:t>Missing-field counts overlap; their sum is not the number of affected rows. Education and income are fully observed, so the missing ancillary categories do not require deleting records for the planned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Computed from the supplied adult income.csv using micro_project_1.py. Evidence: preparation_audit.json and preparation_output.txt. Local values and row order were independently verified against UCI adult.data on September 20, 2026. Source CSV SHA-256: f2c62076f19504d99a38b22badf445a7f42530ade6b827acf78dd143fbce38bb</a:t>
            </a:r>
          </a:p>
          <a:p xmlns:a="http://schemas.openxmlformats.org/drawingml/2006/main">
            <a:r>
              <a:t>The same script recognizes the two period-suffixed UCI test-label variants, although neither appears in the supplied file. Numerical validation rejects missing, fractional, nonfinite, or implausible values before outputs are written. The education code is ordinal, not literal years of schooling. No survey weighting or imputation is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Computed from the supplied adult income.csv using micro_project_1.py. Evidence: preparation_audit.json and preparation_output.txt. Local values and row order were independently verified against UCI adult.data on September 20, 2026. Source CSV SHA-256: f2c62076f19504d99a38b22badf445a7f42530ade6b827acf78dd143fbce38bb</a:t>
            </a:r>
          </a:p>
          <a:p xmlns:a="http://schemas.openxmlformats.org/drawingml/2006/main">
            <a:r>
              <a:t>Becker, B., &amp; Kohavi, R. (1996). Adult [Dataset]. UCI Machine Learning Repository. https://doi.org/10.24432/C5XW20</a:t>
            </a:r>
          </a:p>
          <a:p xmlns:a="http://schemas.openxmlformats.org/drawingml/2006/main">
            <a:r>
              <a:t>Documentation: https://archive.ics.uci.edu/dataset/2/adult</a:t>
            </a:r>
          </a:p>
          <a:p xmlns:a="http://schemas.openxmlformats.org/drawingml/2006/main">
            <a:r>
              <a:t>Attribute and split notes: https://archive.ics.uci.edu/ml/machine-learning-databases/adult/adult.names</a:t>
            </a:r>
          </a:p>
          <a:p xmlns:a="http://schemas.openxmlformats.org/drawingml/2006/main">
            <a:r>
              <a:t>The final code document includes the executed script, detailed comments, actual output, and interpretation of preparation choices. Readiness applies to the defined education-income comparison, not every possible analysis using this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c5449986584f7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b66b46d12d047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322998a7ca463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d55dd6105294f2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97a5203f0e7445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a52dc1e44094e8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b360055eec34f2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8d4f3074daf40f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d45e8725896479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7a07725178b441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7aa9b8f98574fbf"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F784A48-ED60-4C3D-8040-EA420D137689}"/>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69950468-0315-4B9D-B09C-8C8C8EBD6A84}"/>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B77C4A60-6695-4CB3-AF2E-ACFA3C0B87F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F52AFC1-4F45-459D-BC95-0F8F5E3A4294}" type="datetimeFigureOut">
              <a:t>3/1/2022</a:t>
            </a:fld>
            <a:endParaRPr/>
          </a:p>
        </p:txBody>
      </p:sp>
      <p:sp>
        <p:nvSpPr>
          <p:cNvPr id="5" name="Footer Placeholder 4">
            <a:extLst xmlns:a="http://schemas.openxmlformats.org/drawingml/2006/main">
              <a:ext uri="{FF2B5EF4-FFF2-40B4-BE49-F238E27FC236}">
                <a16:creationId xmlns:a16="http://schemas.microsoft.com/office/drawing/2014/main" id="{842D2078-2F8D-45FB-9C14-17036DA5D35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FDD9676-FA59-4F47-9033-2CFC7976370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BC5D697-CC64-4CAF-A466-D1105DD36B62}"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5C04559-4EA9-4030-8CD7-225515C39D9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4A446E6-DF6C-44D2-BA71-5D6445655C1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4F5ECAD-0D49-425E-99BE-4E9A279761F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F52AFC1-4F45-459D-BC95-0F8F5E3A4294}" type="datetimeFigureOut">
              <a:t>3/1/2022</a:t>
            </a:fld>
            <a:endParaRPr/>
          </a:p>
        </p:txBody>
      </p:sp>
      <p:sp>
        <p:nvSpPr>
          <p:cNvPr id="5" name="Footer Placeholder 4">
            <a:extLst xmlns:a="http://schemas.openxmlformats.org/drawingml/2006/main">
              <a:ext uri="{FF2B5EF4-FFF2-40B4-BE49-F238E27FC236}">
                <a16:creationId xmlns:a16="http://schemas.microsoft.com/office/drawing/2014/main" id="{01B6268D-3BF4-472B-B1D5-51848967439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4BF4C8E-AFA1-48CB-9BE5-583A376604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BC5D697-CC64-4CAF-A466-D1105DD36B62}"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30CC60D-06AE-4839-A5F6-DB50DF8789E9}"/>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B8C870F-1989-4744-AA64-C97EBC3080FB}"/>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E33CF60B-312D-4E68-B904-78A68C9AF98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F52AFC1-4F45-459D-BC95-0F8F5E3A4294}" type="datetimeFigureOut">
              <a:t>3/1/2022</a:t>
            </a:fld>
            <a:endParaRPr/>
          </a:p>
        </p:txBody>
      </p:sp>
      <p:sp>
        <p:nvSpPr>
          <p:cNvPr id="5" name="Footer Placeholder 4">
            <a:extLst xmlns:a="http://schemas.openxmlformats.org/drawingml/2006/main">
              <a:ext uri="{FF2B5EF4-FFF2-40B4-BE49-F238E27FC236}">
                <a16:creationId xmlns:a16="http://schemas.microsoft.com/office/drawing/2014/main" id="{0A05CA4F-B8D7-4A59-A5BA-74DF90CC1D1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E1BAD61-51E4-4D1D-8E14-1EB20C0ECB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BC5D697-CC64-4CAF-A466-D1105DD36B62}"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851454-95B8-455D-BFC1-6C6DA360317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13FBC0B-D342-4647-B5BA-5B6ADF294E24}"/>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A969BC10-2FBB-4372-AE80-21EC4AB47AF0}"/>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19FE6231-D355-4CB0-AB68-1D21D4EB6AC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F52AFC1-4F45-459D-BC95-0F8F5E3A4294}" type="datetimeFigureOut">
              <a:t>3/1/2022</a:t>
            </a:fld>
            <a:endParaRPr/>
          </a:p>
        </p:txBody>
      </p:sp>
      <p:sp>
        <p:nvSpPr>
          <p:cNvPr id="6" name="Footer Placeholder 5">
            <a:extLst xmlns:a="http://schemas.openxmlformats.org/drawingml/2006/main">
              <a:ext uri="{FF2B5EF4-FFF2-40B4-BE49-F238E27FC236}">
                <a16:creationId xmlns:a16="http://schemas.microsoft.com/office/drawing/2014/main" id="{AB01BF01-A233-43E9-8949-BAADCAF9579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4EA8DA2-49A7-4CD4-AD2A-B4AE89F09C2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BC5D697-CC64-4CAF-A466-D1105DD36B62}"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A9A6AAD-2645-4527-94B3-3A3BECB92816}"/>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27031552-937E-4EAB-883E-C29FBC415BEA}"/>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F73455D9-4697-44D3-AB55-9CADBE716D0B}"/>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F258DC7D-BF9A-4F54-AB58-1C49FFA17D71}"/>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D1D3AE0C-DB47-4E16-828A-3429714FADD7}"/>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4B3C3C45-525E-4801-90AF-776B7EFC5AD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F52AFC1-4F45-459D-BC95-0F8F5E3A4294}" type="datetimeFigureOut">
              <a:t>3/1/2022</a:t>
            </a:fld>
            <a:endParaRPr/>
          </a:p>
        </p:txBody>
      </p:sp>
      <p:sp>
        <p:nvSpPr>
          <p:cNvPr id="8" name="Footer Placeholder 7">
            <a:extLst xmlns:a="http://schemas.openxmlformats.org/drawingml/2006/main">
              <a:ext uri="{FF2B5EF4-FFF2-40B4-BE49-F238E27FC236}">
                <a16:creationId xmlns:a16="http://schemas.microsoft.com/office/drawing/2014/main" id="{F3B6704D-F5BC-4598-B7E7-5F53967A678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22D9A6A6-BB3C-4DD0-A205-F8593CED10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BC5D697-CC64-4CAF-A466-D1105DD36B62}"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1B609AA-EE0C-4FE6-8E30-99E91A13B5C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57DA744A-AA0E-40C1-82B4-1865879ADE9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F52AFC1-4F45-459D-BC95-0F8F5E3A4294}" type="datetimeFigureOut">
              <a:t>3/1/2022</a:t>
            </a:fld>
            <a:endParaRPr/>
          </a:p>
        </p:txBody>
      </p:sp>
      <p:sp>
        <p:nvSpPr>
          <p:cNvPr id="4" name="Footer Placeholder 3">
            <a:extLst xmlns:a="http://schemas.openxmlformats.org/drawingml/2006/main">
              <a:ext uri="{FF2B5EF4-FFF2-40B4-BE49-F238E27FC236}">
                <a16:creationId xmlns:a16="http://schemas.microsoft.com/office/drawing/2014/main" id="{AD1794A4-DA55-49C9-9EE1-51AFA79807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583A595F-05DA-41C2-AFB0-CC51AFDB90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BC5D697-CC64-4CAF-A466-D1105DD36B62}"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285F4ACF-3F96-4D20-91DE-5A7A89B4A2B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F52AFC1-4F45-459D-BC95-0F8F5E3A4294}" type="datetimeFigureOut">
              <a:t>3/1/2022</a:t>
            </a:fld>
            <a:endParaRPr/>
          </a:p>
        </p:txBody>
      </p:sp>
      <p:sp>
        <p:nvSpPr>
          <p:cNvPr id="3" name="Footer Placeholder 2">
            <a:extLst xmlns:a="http://schemas.openxmlformats.org/drawingml/2006/main">
              <a:ext uri="{FF2B5EF4-FFF2-40B4-BE49-F238E27FC236}">
                <a16:creationId xmlns:a16="http://schemas.microsoft.com/office/drawing/2014/main" id="{4D2B232B-2221-443B-9621-C2FFF416019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22970A4F-5257-4439-983C-D802F7190B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BC5D697-CC64-4CAF-A466-D1105DD36B62}"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185D602-AEC1-494B-9EC8-423C9605B18A}"/>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2AC75CB-286B-4E0D-946F-B2152E7923CE}"/>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4B6FE692-594E-4FE0-A040-69DCF74AAAA6}"/>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4E66829-7538-463B-99D9-8920CBDF406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F52AFC1-4F45-459D-BC95-0F8F5E3A4294}" type="datetimeFigureOut">
              <a:t>3/1/2022</a:t>
            </a:fld>
            <a:endParaRPr/>
          </a:p>
        </p:txBody>
      </p:sp>
      <p:sp>
        <p:nvSpPr>
          <p:cNvPr id="6" name="Footer Placeholder 5">
            <a:extLst xmlns:a="http://schemas.openxmlformats.org/drawingml/2006/main">
              <a:ext uri="{FF2B5EF4-FFF2-40B4-BE49-F238E27FC236}">
                <a16:creationId xmlns:a16="http://schemas.microsoft.com/office/drawing/2014/main" id="{EAB5AFDF-77FC-4354-AF3B-008607F9277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C77315B-5282-41D1-99A3-2ADE83DA19E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BC5D697-CC64-4CAF-A466-D1105DD36B6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477A91-0A20-466E-9CA8-86B63BE8AF25}"/>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A78C2C4C-22CA-4398-A23B-4F068FB5A78E}"/>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33574D67-2A27-42C6-815E-BE5AD10D36A6}"/>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9BB23AA-5E29-4400-B52D-822F13ED6B9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F52AFC1-4F45-459D-BC95-0F8F5E3A4294}" type="datetimeFigureOut">
              <a:t>3/1/2022</a:t>
            </a:fld>
            <a:endParaRPr/>
          </a:p>
        </p:txBody>
      </p:sp>
      <p:sp>
        <p:nvSpPr>
          <p:cNvPr id="6" name="Footer Placeholder 5">
            <a:extLst xmlns:a="http://schemas.openxmlformats.org/drawingml/2006/main">
              <a:ext uri="{FF2B5EF4-FFF2-40B4-BE49-F238E27FC236}">
                <a16:creationId xmlns:a16="http://schemas.microsoft.com/office/drawing/2014/main" id="{FA368ADC-B329-411C-AA83-9EEADAE8A9B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778A6D9-A5FD-46E3-8F58-CDC4CC4B895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BC5D697-CC64-4CAF-A466-D1105DD36B62}"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7C59857-0725-4AFD-ADA1-93DE6885A96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AA742F07-D500-4235-A3BD-4E9FA3C92698}"/>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6AB7CF7-F61A-47E7-B601-419FF069E7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F52AFC1-4F45-459D-BC95-0F8F5E3A4294}" type="datetimeFigureOut">
              <a:t>3/1/2022</a:t>
            </a:fld>
            <a:endParaRPr/>
          </a:p>
        </p:txBody>
      </p:sp>
      <p:sp>
        <p:nvSpPr>
          <p:cNvPr id="5" name="Footer Placeholder 4">
            <a:extLst xmlns:a="http://schemas.openxmlformats.org/drawingml/2006/main">
              <a:ext uri="{FF2B5EF4-FFF2-40B4-BE49-F238E27FC236}">
                <a16:creationId xmlns:a16="http://schemas.microsoft.com/office/drawing/2014/main" id="{6918C1B3-4CDE-4267-AF19-9C2FCF86025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BD38641-A10F-457F-B6A9-3F574B2B266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BC5D697-CC64-4CAF-A466-D1105DD36B62}"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7A3A314E-DAF4-459C-AF7B-C7347C76393A}"/>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027BE33E-4004-41A3-B3E6-14272F53B3B6}"/>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E1A99DB-D8D6-44B2-B140-B5C0DD69889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F52AFC1-4F45-459D-BC95-0F8F5E3A4294}" type="datetimeFigureOut">
              <a:t>3/1/2022</a:t>
            </a:fld>
            <a:endParaRPr/>
          </a:p>
        </p:txBody>
      </p:sp>
      <p:sp>
        <p:nvSpPr>
          <p:cNvPr id="5" name="Footer Placeholder 4">
            <a:extLst xmlns:a="http://schemas.openxmlformats.org/drawingml/2006/main">
              <a:ext uri="{FF2B5EF4-FFF2-40B4-BE49-F238E27FC236}">
                <a16:creationId xmlns:a16="http://schemas.microsoft.com/office/drawing/2014/main" id="{131BF21E-4345-40CE-88C3-7C77ECC010E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D1F20F6-FD42-49EE-AE17-171924F4982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BC5D697-CC64-4CAF-A466-D1105DD36B62}"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2563eba72b4ac9" /><Relationship Type="http://schemas.openxmlformats.org/officeDocument/2006/relationships/slideLayout" Target="/ppt/slideLayouts/slideLayout1.xml" Id="Rb17e4b2d045c4fad" /><Relationship Type="http://schemas.openxmlformats.org/officeDocument/2006/relationships/slideLayout" Target="/ppt/slideLayouts/slideLayout2.xml" Id="R2c810f244cbe42dd" /><Relationship Type="http://schemas.openxmlformats.org/officeDocument/2006/relationships/slideLayout" Target="/ppt/slideLayouts/slideLayout3.xml" Id="Rf66f9796b6124f07" /><Relationship Type="http://schemas.openxmlformats.org/officeDocument/2006/relationships/slideLayout" Target="/ppt/slideLayouts/slideLayout4.xml" Id="Ra91f1d9095334a9f" /><Relationship Type="http://schemas.openxmlformats.org/officeDocument/2006/relationships/slideLayout" Target="/ppt/slideLayouts/slideLayout5.xml" Id="R7725904521614522" /><Relationship Type="http://schemas.openxmlformats.org/officeDocument/2006/relationships/slideLayout" Target="/ppt/slideLayouts/slideLayout6.xml" Id="Rcbf22c55299e4278" /><Relationship Type="http://schemas.openxmlformats.org/officeDocument/2006/relationships/slideLayout" Target="/ppt/slideLayouts/slideLayout7.xml" Id="R06613c8a9b0b4415" /><Relationship Type="http://schemas.openxmlformats.org/officeDocument/2006/relationships/slideLayout" Target="/ppt/slideLayouts/slideLayout8.xml" Id="R0973e6175d6e484a" /><Relationship Type="http://schemas.openxmlformats.org/officeDocument/2006/relationships/slideLayout" Target="/ppt/slideLayouts/slideLayout9.xml" Id="R3feac4e7803f4c01" /><Relationship Type="http://schemas.openxmlformats.org/officeDocument/2006/relationships/slideLayout" Target="/ppt/slideLayouts/slideLayout10.xml" Id="Ra7d6ccacf93b49d7" /><Relationship Type="http://schemas.openxmlformats.org/officeDocument/2006/relationships/slideLayout" Target="/ppt/slideLayouts/slideLayout11.xml" Id="R1dfd4862b9e94d3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0B5F7E3-61B5-4449-80CF-04DA4D37AB71}"/>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AECFC45A-DECF-4B86-87F6-C12B501A4F24}"/>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EC712EE-4BB3-49D3-9FAF-733EA6255E99}"/>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3F52AFC1-4F45-459D-BC95-0F8F5E3A4294}" type="datetimeFigureOut">
              <a:t>3/1/2022</a:t>
            </a:fld>
            <a:endParaRPr/>
          </a:p>
        </p:txBody>
      </p:sp>
      <p:sp>
        <p:nvSpPr>
          <p:cNvPr id="5" name="Footer Placeholder 4">
            <a:extLst xmlns:a="http://schemas.openxmlformats.org/drawingml/2006/main">
              <a:ext uri="{FF2B5EF4-FFF2-40B4-BE49-F238E27FC236}">
                <a16:creationId xmlns:a16="http://schemas.microsoft.com/office/drawing/2014/main" id="{83DFC8A3-CA43-47DE-88A0-18EE8FB2D2A0}"/>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38CC4C2-DBD2-41A0-8542-0ED48583DA28}"/>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7BC5D697-CC64-4CAF-A466-D1105DD36B62}"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7e4b2d045c4fad"/>
    <p:sldLayoutId xmlns:r="http://schemas.openxmlformats.org/officeDocument/2006/relationships" id="2147483650" r:id="R2c810f244cbe42dd"/>
    <p:sldLayoutId xmlns:r="http://schemas.openxmlformats.org/officeDocument/2006/relationships" id="2147483651" r:id="Rf66f9796b6124f07"/>
    <p:sldLayoutId xmlns:r="http://schemas.openxmlformats.org/officeDocument/2006/relationships" id="2147483652" r:id="Ra91f1d9095334a9f"/>
    <p:sldLayoutId xmlns:r="http://schemas.openxmlformats.org/officeDocument/2006/relationships" id="2147483653" r:id="R7725904521614522"/>
    <p:sldLayoutId xmlns:r="http://schemas.openxmlformats.org/officeDocument/2006/relationships" id="2147483654" r:id="Rcbf22c55299e4278"/>
    <p:sldLayoutId xmlns:r="http://schemas.openxmlformats.org/officeDocument/2006/relationships" id="2147483655" r:id="R06613c8a9b0b4415"/>
    <p:sldLayoutId xmlns:r="http://schemas.openxmlformats.org/officeDocument/2006/relationships" id="2147483656" r:id="R0973e6175d6e484a"/>
    <p:sldLayoutId xmlns:r="http://schemas.openxmlformats.org/officeDocument/2006/relationships" id="2147483657" r:id="R3feac4e7803f4c01"/>
    <p:sldLayoutId xmlns:r="http://schemas.openxmlformats.org/officeDocument/2006/relationships" id="2147483658" r:id="Ra7d6ccacf93b49d7"/>
    <p:sldLayoutId xmlns:r="http://schemas.openxmlformats.org/officeDocument/2006/relationships" id="2147483659" r:id="R1dfd4862b9e94d3c"/>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612f4c191da4ce4" /><Relationship Type="http://schemas.openxmlformats.org/officeDocument/2006/relationships/hyperlink" Target="https://github.com/mascon0423/ANA500" TargetMode="External" Id="Rf37af65d97fd4cce" /><Relationship Type="http://schemas.openxmlformats.org/officeDocument/2006/relationships/notesSlide" Target="/ppt/notesSlides/notesSlide1.xml" Id="R01c6a36ddd084c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164225884ad04576" /><Relationship Type="http://schemas.openxmlformats.org/officeDocument/2006/relationships/notesSlide" Target="/ppt/notesSlides/notesSlide2.xml" Id="R629c444f63264e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2797f4d02924d0d" /><Relationship Type="http://schemas.openxmlformats.org/officeDocument/2006/relationships/notesSlide" Target="/ppt/notesSlides/notesSlide3.xml" Id="Rc591076903b64e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23523d83a2f74b87" /><Relationship Type="http://schemas.openxmlformats.org/officeDocument/2006/relationships/notesSlide" Target="/ppt/notesSlides/notesSlide4.xml" Id="Rb941fa1f770947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ea9db1153804c7b" /><Relationship Type="http://schemas.openxmlformats.org/officeDocument/2006/relationships/notesSlide" Target="/ppt/notesSlides/notesSlide5.xml" Id="R1ff38bce229f4a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39e2ed5ead74b08" /><Relationship Type="http://schemas.openxmlformats.org/officeDocument/2006/relationships/notesSlide" Target="/ppt/notesSlides/notesSlide6.xml" Id="R1cdd82fb99a44f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c33db3f99314e16" /><Relationship Type="http://schemas.openxmlformats.org/officeDocument/2006/relationships/notesSlide" Target="/ppt/notesSlides/notesSlide7.xml" Id="R65cb3558e42a4f4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FEFD3DB-B193-4E72-861B-FE835A2E1FAD}"/>
              </a:ext>
            </a:extLst>
          </p:cNvPr>
          <p:cNvSpPr>
            <a:spLocks xmlns:a="http://schemas.openxmlformats.org/drawingml/2006/main" noGrp="1"/>
          </p:cNvSpPr>
          <p:nvPr>
            <p:ph type="ctrTitle" idx="0"/>
          </p:nvPr>
        </p:nvSpPr>
        <p:spPr/>
        <p:txBody>
          <a:bodyPr xmlns:a="http://schemas.openxmlformats.org/drawingml/2006/main">
            <a:normAutofit fontScale="100000"/>
          </a:bodyPr>
          <a:lstStyle xmlns:a="http://schemas.openxmlformats.org/drawingml/2006/main"/>
          <a:p xmlns:a="http://schemas.openxmlformats.org/drawingml/2006/main">
            <a:r>
              <a:rPr sz="6000">
                <a:latin typeface="Calibri Light"/>
                <a:ea typeface="Calibri Light"/>
                <a:cs typeface="Calibri Light"/>
              </a:rPr>
              <a:t>Education and Income</a:t>
            </a:r>
          </a:p>
          <a:p xmlns:a="http://schemas.openxmlformats.org/drawingml/2006/main">
            <a:r>
              <a:rPr sz="4800">
                <a:latin typeface="Calibri Light"/>
                <a:ea typeface="Calibri Light"/>
                <a:cs typeface="Calibri Light"/>
              </a:rPr>
              <a:t>Micro-Project 1</a:t>
            </a:r>
          </a:p>
          <a:p xmlns:a="http://schemas.openxmlformats.org/drawingml/2006/main">
            <a:r>
              <a:rPr sz="1800">
                <a:latin typeface="Calibri Light"/>
                <a:ea typeface="Calibri Light"/>
                <a:cs typeface="Calibri Light"/>
                <a:hlinkClick xmlns:r="http://schemas.openxmlformats.org/officeDocument/2006/relationships" r:id="Rf37af65d97fd4cce"/>
              </a:rPr>
              <a:t>github.com/mascon0423/ANA500</a:t>
            </a:r>
          </a:p>
        </p:txBody>
      </p:sp>
      <p:sp>
        <p:nvSpPr>
          <p:cNvPr id="3" name="Subtitle 2">
            <a:extLst xmlns:a="http://schemas.openxmlformats.org/drawingml/2006/main">
              <a:ext uri="{FF2B5EF4-FFF2-40B4-BE49-F238E27FC236}">
                <a16:creationId xmlns:a16="http://schemas.microsoft.com/office/drawing/2014/main" id="{76B5E315-C208-479B-A6B8-0DCBEF2B5FB3}"/>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r>
              <a:t>Douglas Bobeck</a:t>
            </a:r>
          </a:p>
          <a:p xmlns:a="http://schemas.openxmlformats.org/drawingml/2006/main">
            <a:r>
              <a:t>September 20, 2026</a:t>
            </a:r>
          </a:p>
        </p:txBody>
      </p:sp>
    </p:spTree>
    <p:extLst>
      <p:ext uri="{BB962C8B-B14F-4D97-AF65-F5344CB8AC3E}">
        <p14:creationId xmlns:p14="http://schemas.microsoft.com/office/powerpoint/2010/main" val="365125148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B8302AB-CEDA-4E89-A1DC-6BABC9C3F7D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Problem Statement</a:t>
            </a:r>
          </a:p>
        </p:txBody>
      </p:sp>
      <p:sp>
        <p:nvSpPr>
          <p:cNvPr id="3" name="Content Placeholder 2">
            <a:extLst xmlns:a="http://schemas.openxmlformats.org/drawingml/2006/main">
              <a:ext uri="{FF2B5EF4-FFF2-40B4-BE49-F238E27FC236}">
                <a16:creationId xmlns:a16="http://schemas.microsoft.com/office/drawing/2014/main" id="{05AD07EA-4B74-4BFA-A23D-5147B6A28FC4}"/>
              </a:ext>
            </a:extLst>
          </p:cNvPr>
          <p:cNvSpPr>
            <a:spLocks xmlns:a="http://schemas.openxmlformats.org/drawingml/2006/main" noGrp="1"/>
          </p:cNvSpPr>
          <p:nvPr>
            <p:ph idx="1"/>
          </p:nvPr>
        </p:nvSpPr>
        <p:spPr/>
        <p:txBody>
          <a:bodyPr xmlns:a="http://schemas.openxmlformats.org/drawingml/2006/main" anchor="t">
            <a:noAutofit/>
          </a:bodyPr>
          <a:lstStyle xmlns:a="http://schemas.openxmlformats.org/drawingml/2006/main"/>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This project investigates how income category varies with educational attainment in the Adult census sample.</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Question: Is the share earning above $50,000 higher among adults with a bachelor's degree or higher than among adults with less education?</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The outcome is an annual income category: at or below $50,000 versus above $50,000. Exact salaries are unavailable.</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Micro-Project 1 establishes the question and prepares the data for a later comparison.</a:t>
            </a:r>
          </a:p>
        </p:txBody>
      </p:sp>
    </p:spTree>
    <p:extLst>
      <p:ext uri="{BB962C8B-B14F-4D97-AF65-F5344CB8AC3E}">
        <p14:creationId xmlns:p14="http://schemas.microsoft.com/office/powerpoint/2010/main" val="188067840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F29C91F-7913-4D5C-A911-ADD4837DAA0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Hypothesis Formulation</a:t>
            </a:r>
          </a:p>
        </p:txBody>
      </p:sp>
      <p:sp>
        <p:nvSpPr>
          <p:cNvPr id="3" name="Content Placeholder 2">
            <a:extLst xmlns:a="http://schemas.openxmlformats.org/drawingml/2006/main">
              <a:ext uri="{FF2B5EF4-FFF2-40B4-BE49-F238E27FC236}">
                <a16:creationId xmlns:a16="http://schemas.microsoft.com/office/drawing/2014/main" id="{905A42CE-FCD3-41B9-A629-5F3C6031F3C0}"/>
              </a:ext>
            </a:extLst>
          </p:cNvPr>
          <p:cNvSpPr>
            <a:spLocks xmlns:a="http://schemas.openxmlformats.org/drawingml/2006/main" noGrp="1"/>
          </p:cNvSpPr>
          <p:nvPr>
            <p:ph idx="1"/>
          </p:nvPr>
        </p:nvSpPr>
        <p:spPr/>
        <p:txBody>
          <a:bodyPr xmlns:a="http://schemas.openxmlformats.org/drawingml/2006/main" anchor="t">
            <a:noAutofit/>
          </a:bodyPr>
          <a:lstStyle xmlns:a="http://schemas.openxmlformats.org/drawingml/2006/main"/>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Hypothesis: The bachelor's-or-higher group has a greater share of adults earning above $50,000 than the group below a bachelor's degree.</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Possible explanation: Higher educational attainment may provide access to occupations with higher earnings. This is a proposed explanation, not a finding.</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Bachelor's or higher includes Bachelors, Masters, Prof-school, and Doctorate. All other education categories form the comparison group.</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The hypothesis remains untested. Age, occupation, and work hours could also influence the observed relationship.</a:t>
            </a:r>
          </a:p>
        </p:txBody>
      </p:sp>
    </p:spTree>
    <p:extLst>
      <p:ext uri="{BB962C8B-B14F-4D97-AF65-F5344CB8AC3E}">
        <p14:creationId xmlns:p14="http://schemas.microsoft.com/office/powerpoint/2010/main" val="330695879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B2A7252-6823-44F9-B464-D7A15D12BB6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Acquire</a:t>
            </a:r>
          </a:p>
        </p:txBody>
      </p:sp>
      <p:sp>
        <p:nvSpPr>
          <p:cNvPr id="3" name="Content Placeholder 2">
            <a:extLst xmlns:a="http://schemas.openxmlformats.org/drawingml/2006/main">
              <a:ext uri="{FF2B5EF4-FFF2-40B4-BE49-F238E27FC236}">
                <a16:creationId xmlns:a16="http://schemas.microsoft.com/office/drawing/2014/main" id="{7FEAE391-6366-4E20-A14E-0ECFAEA8029A}"/>
              </a:ext>
            </a:extLst>
          </p:cNvPr>
          <p:cNvSpPr>
            <a:spLocks xmlns:a="http://schemas.openxmlformats.org/drawingml/2006/main" noGrp="1"/>
          </p:cNvSpPr>
          <p:nvPr>
            <p:ph idx="1"/>
          </p:nvPr>
        </p:nvSpPr>
        <p:spPr/>
        <p:txBody>
          <a:bodyPr xmlns:a="http://schemas.openxmlformats.org/drawingml/2006/main" anchor="t">
            <a:noAutofit/>
          </a:bodyPr>
          <a:lstStyle xmlns:a="http://schemas.openxmlformats.org/drawingml/2006/main"/>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Source: UCI Adult dataset, created by Barry Becker and Ronny Kohavi from the 1994 Census database.</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Supplied file: adult income.csv. It contains 32,561 records and 15 columns: 14 attributes plus the income label.</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The supplied records match UCI's training split. The separate test split is not used in this micro-project.</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Pandas loads the local CSV as a DataFrame. One row represents an adult record. The original file is preserved.</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Key fields are education, education-num, and income. Age, work hours, and occupation provide context. fnlwgt is a survey weight, not a person ID.</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Reference: Becker &amp; Kohavi (1996), Adult. https://doi.org/10.24432/C5XW20</a:t>
            </a:r>
          </a:p>
        </p:txBody>
      </p:sp>
    </p:spTree>
    <p:extLst>
      <p:ext uri="{BB962C8B-B14F-4D97-AF65-F5344CB8AC3E}">
        <p14:creationId xmlns:p14="http://schemas.microsoft.com/office/powerpoint/2010/main" val="42702315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B2A7252-6823-44F9-B464-D7A15D12BB6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Prepare: Initial Exploration</a:t>
            </a:r>
          </a:p>
        </p:txBody>
      </p:sp>
      <p:sp>
        <p:nvSpPr>
          <p:cNvPr id="3" name="Content Placeholder 2">
            <a:extLst xmlns:a="http://schemas.openxmlformats.org/drawingml/2006/main">
              <a:ext uri="{FF2B5EF4-FFF2-40B4-BE49-F238E27FC236}">
                <a16:creationId xmlns:a16="http://schemas.microsoft.com/office/drawing/2014/main" id="{7FEAE391-6366-4E20-A14E-0ECFAEA8029A}"/>
              </a:ext>
            </a:extLst>
          </p:cNvPr>
          <p:cNvSpPr>
            <a:spLocks xmlns:a="http://schemas.openxmlformats.org/drawingml/2006/main" noGrp="1"/>
          </p:cNvSpPr>
          <p:nvPr>
            <p:ph idx="1"/>
          </p:nvPr>
        </p:nvSpPr>
        <p:spPr/>
        <p:txBody>
          <a:bodyPr xmlns:a="http://schemas.openxmlformats.org/drawingml/2006/main" anchor="t">
            <a:noAutofit/>
          </a:bodyPr>
          <a:lstStyle xmlns:a="http://schemas.openxmlformats.org/drawingml/2006/main"/>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Income categories: 24,720 records at or below $50,000 and 7,841 above $50,000. These are sample counts.</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Missing workclass: 1,836. Missing occupation: 1,843. Missing native-country: 583.</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2,399 records contain at least one missing value. The original marker is ?. Education and income have no missing values.</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24 profiles repeat beyond their first occurrence. Without a person identifier, identical values do not prove duplicated people.</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NumPy summaries: age ranges from 17 to 90, with median 37. Work hours range from 1 to 99 per week, with median 40.</a:t>
            </a:r>
          </a:p>
        </p:txBody>
      </p:sp>
    </p:spTree>
    <p:extLst>
      <p:ext uri="{BB962C8B-B14F-4D97-AF65-F5344CB8AC3E}">
        <p14:creationId xmlns:p14="http://schemas.microsoft.com/office/powerpoint/2010/main" val="278821798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B2A7252-6823-44F9-B464-D7A15D12BB6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Prepare: Cleaning Decisions</a:t>
            </a:r>
          </a:p>
        </p:txBody>
      </p:sp>
      <p:sp>
        <p:nvSpPr>
          <p:cNvPr id="3" name="Content Placeholder 2">
            <a:extLst xmlns:a="http://schemas.openxmlformats.org/drawingml/2006/main">
              <a:ext uri="{FF2B5EF4-FFF2-40B4-BE49-F238E27FC236}">
                <a16:creationId xmlns:a16="http://schemas.microsoft.com/office/drawing/2014/main" id="{7FEAE391-6366-4E20-A14E-0ECFAEA8029A}"/>
              </a:ext>
            </a:extLst>
          </p:cNvPr>
          <p:cNvSpPr>
            <a:spLocks xmlns:a="http://schemas.openxmlformats.org/drawingml/2006/main" noGrp="1"/>
          </p:cNvSpPr>
          <p:nvPr>
            <p:ph idx="1"/>
          </p:nvPr>
        </p:nvSpPr>
        <p:spPr/>
        <p:txBody>
          <a:bodyPr xmlns:a="http://schemas.openxmlformats.org/drawingml/2006/main" anchor="t">
            <a:noAutofit/>
          </a:bodyPr>
          <a:lstStyle xmlns:a="http://schemas.openxmlformats.org/drawingml/2006/main"/>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Trim text and replace ? or empty cells with explicit missing values. Retain unknown categories without guessing replacements.</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Convert six numeric fields to integers and nine text fields to categorical data. Validate income labels and education-code agreement.</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Retain all records, including repeated profiles. Document duplicates for later sensitivity checks rather than assuming they are errors.</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Preserve valid zero capital gains and losses. Retain plausible extreme ages and work hours rather than automatically clipping them.</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Create education_group with NumPy and encode income_gt_50k as 1 for above $50,000 and 0 otherwise. Preserve every original field.</a:t>
            </a:r>
          </a:p>
        </p:txBody>
      </p:sp>
    </p:spTree>
    <p:extLst>
      <p:ext uri="{BB962C8B-B14F-4D97-AF65-F5344CB8AC3E}">
        <p14:creationId xmlns:p14="http://schemas.microsoft.com/office/powerpoint/2010/main" val="278821798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B2A7252-6823-44F9-B464-D7A15D12BB6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Prepare: Readiness and Scope</a:t>
            </a:r>
          </a:p>
        </p:txBody>
      </p:sp>
      <p:sp>
        <p:nvSpPr>
          <p:cNvPr id="3" name="Content Placeholder 2">
            <a:extLst xmlns:a="http://schemas.openxmlformats.org/drawingml/2006/main">
              <a:ext uri="{FF2B5EF4-FFF2-40B4-BE49-F238E27FC236}">
                <a16:creationId xmlns:a16="http://schemas.microsoft.com/office/drawing/2014/main" id="{7FEAE391-6366-4E20-A14E-0ECFAEA8029A}"/>
              </a:ext>
            </a:extLst>
          </p:cNvPr>
          <p:cNvSpPr>
            <a:spLocks xmlns:a="http://schemas.openxmlformats.org/drawingml/2006/main" noGrp="1"/>
          </p:cNvSpPr>
          <p:nvPr>
            <p:ph idx="1"/>
          </p:nvPr>
        </p:nvSpPr>
        <p:spPr/>
        <p:txBody>
          <a:bodyPr xmlns:a="http://schemas.openxmlformats.org/drawingml/2006/main" anchor="t">
            <a:noAutofit/>
          </a:bodyPr>
          <a:lstStyle xmlns:a="http://schemas.openxmlformats.org/drawingml/2006/main"/>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Prepared dataset: 32,561 records and 17 columns. No rows removed. Two derived fields added.</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Education groups: 8,067 bachelor's or higher, and 24,494 below bachelor's. Income rates by group have not been compared.</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Checks passed for the schema, required values, integer fields, plausible ranges, income categories, and education-code consistency.</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Unknown ancillary categories remain documented. The data are ready for the planned education comparison, subject to later analytical decisions.</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Limitations: historical 1994 data, broad income categories, unweighted sample summaries, and no causal design.</a:t>
            </a:r>
          </a:p>
          <a:p xmlns:a="http://schemas.openxmlformats.org/drawingml/2006/main">
            <a:pPr marL="228600" indent="-114300">
              <a:spcAft>
                <a:spcPts val="1600"/>
              </a:spcAft>
              <a:buFont typeface="Times New Roman"/>
              <a:buChar cha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Micro-Project 1 ends at Prepare. The hypothesis remains untested; Analyze, Report, and Act are reserved for later work.</a:t>
            </a:r>
          </a:p>
        </p:txBody>
      </p:sp>
    </p:spTree>
    <p:extLst>
      <p:ext uri="{BB962C8B-B14F-4D97-AF65-F5344CB8AC3E}">
        <p14:creationId xmlns:p14="http://schemas.microsoft.com/office/powerpoint/2010/main" val="278821798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2026-09-20T21:23:18.4240000Z</dcterms:created>
  <dcterms:modified xsi:type="dcterms:W3CDTF">2026-09-20T21:23:18.4240000Z</dcterms:modified>
</coreProperties>
</file>