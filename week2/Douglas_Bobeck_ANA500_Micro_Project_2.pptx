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8ce8326dc148ba" /><Relationship Type="http://schemas.openxmlformats.org/officeDocument/2006/relationships/extended-properties" Target="/docProps/app.xml" Id="R8df0774794ba4dd9" /><Relationship Type="http://schemas.openxmlformats.org/officeDocument/2006/relationships/officeDocument" Target="/ppt/presentation.xml" Id="Ra6a42d68e80b41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c483972c0f4255"/>
  </p:sldMasterIdLst>
  <p:notesMasterIdLst>
    <p:notesMasterId xmlns:r="http://schemas.openxmlformats.org/officeDocument/2006/relationships" r:id="Rcaa19833708d4f04"/>
  </p:notesMasterIdLst>
  <p:sldIdLst>
    <p:sldId xmlns:r="http://schemas.openxmlformats.org/officeDocument/2006/relationships" id="256" r:id="R6621709fe19544b0"/>
    <p:sldId xmlns:r="http://schemas.openxmlformats.org/officeDocument/2006/relationships" id="257" r:id="R01b89f918d5e44b1"/>
    <p:sldId xmlns:r="http://schemas.openxmlformats.org/officeDocument/2006/relationships" id="258" r:id="Ra6c2fe1872d8461a"/>
    <p:sldId xmlns:r="http://schemas.openxmlformats.org/officeDocument/2006/relationships" id="259" r:id="R572132e223014246"/>
    <p:sldId xmlns:r="http://schemas.openxmlformats.org/officeDocument/2006/relationships" id="260" r:id="R80e974b8ffe84887"/>
    <p:sldId xmlns:r="http://schemas.openxmlformats.org/officeDocument/2006/relationships" id="261" r:id="R50a1a70ee56a4852"/>
    <p:sldId xmlns:r="http://schemas.openxmlformats.org/officeDocument/2006/relationships" id="262" r:id="R6ff76df55e374502"/>
    <p:sldId xmlns:r="http://schemas.openxmlformats.org/officeDocument/2006/relationships" id="263" r:id="Rfd97f64a32ef48ab"/>
    <p:sldId xmlns:r="http://schemas.openxmlformats.org/officeDocument/2006/relationships" id="264" r:id="R8d62216e37df4810"/>
    <p:sldId xmlns:r="http://schemas.openxmlformats.org/officeDocument/2006/relationships" id="265" r:id="R833a914a5d874e52"/>
    <p:sldId xmlns:r="http://schemas.openxmlformats.org/officeDocument/2006/relationships" id="266" r:id="Rcac8e67c5e5c49ab"/>
    <p:sldId xmlns:r="http://schemas.openxmlformats.org/officeDocument/2006/relationships" id="267" r:id="R3c8876211f874229"/>
    <p:sldId xmlns:r="http://schemas.openxmlformats.org/officeDocument/2006/relationships" id="268" r:id="Refa8f9c52e8648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a2a2166826438e" /><Relationship Type="http://schemas.openxmlformats.org/officeDocument/2006/relationships/slideMaster" Target="/ppt/slideMasters/slideMaster1.xml" Id="R27c483972c0f4255" /><Relationship Type="http://schemas.openxmlformats.org/officeDocument/2006/relationships/notesMaster" Target="/ppt/notesMasters/notesMaster1.xml" Id="Rcaa19833708d4f04" /><Relationship Type="http://schemas.openxmlformats.org/officeDocument/2006/relationships/presProps" Target="/ppt/presProps.xml" Id="R5fc72c98c5424019" /><Relationship Type="http://schemas.openxmlformats.org/officeDocument/2006/relationships/viewProps" Target="/ppt/viewProps.xml" Id="Rf0d38a19b2c0478c" /><Relationship Type="http://schemas.openxmlformats.org/officeDocument/2006/relationships/tableStyles" Target="/ppt/tableStyles.xml" Id="R4ac3e1ca826a4934" /><Relationship Type="http://schemas.openxmlformats.org/officeDocument/2006/relationships/slide" Target="/ppt/slides/slide1.xml" Id="R6621709fe19544b0" /><Relationship Type="http://schemas.openxmlformats.org/officeDocument/2006/relationships/slide" Target="/ppt/slides/slide2.xml" Id="R01b89f918d5e44b1" /><Relationship Type="http://schemas.openxmlformats.org/officeDocument/2006/relationships/slide" Target="/ppt/slides/slide3.xml" Id="Ra6c2fe1872d8461a" /><Relationship Type="http://schemas.openxmlformats.org/officeDocument/2006/relationships/slide" Target="/ppt/slides/slide4.xml" Id="R572132e223014246" /><Relationship Type="http://schemas.openxmlformats.org/officeDocument/2006/relationships/slide" Target="/ppt/slides/slide5.xml" Id="R80e974b8ffe84887" /><Relationship Type="http://schemas.openxmlformats.org/officeDocument/2006/relationships/slide" Target="/ppt/slides/slide6.xml" Id="R50a1a70ee56a4852" /><Relationship Type="http://schemas.openxmlformats.org/officeDocument/2006/relationships/slide" Target="/ppt/slides/slide7.xml" Id="R6ff76df55e374502" /><Relationship Type="http://schemas.openxmlformats.org/officeDocument/2006/relationships/slide" Target="/ppt/slides/slide8.xml" Id="Rfd97f64a32ef48ab" /><Relationship Type="http://schemas.openxmlformats.org/officeDocument/2006/relationships/slide" Target="/ppt/slides/slide9.xml" Id="R8d62216e37df4810" /><Relationship Type="http://schemas.openxmlformats.org/officeDocument/2006/relationships/slide" Target="/ppt/slides/slide10.xml" Id="R833a914a5d874e52" /><Relationship Type="http://schemas.openxmlformats.org/officeDocument/2006/relationships/slide" Target="/ppt/slides/slide11.xml" Id="Rcac8e67c5e5c49ab" /><Relationship Type="http://schemas.openxmlformats.org/officeDocument/2006/relationships/slide" Target="/ppt/slides/slide12.xml" Id="R3c8876211f874229" /><Relationship Type="http://schemas.openxmlformats.org/officeDocument/2006/relationships/slide" Target="/ppt/slides/slide13.xml" Id="Refa8f9c52e8648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11f56d9f4342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a233c5568746dd" /><Relationship Type="http://schemas.openxmlformats.org/officeDocument/2006/relationships/notesMaster" Target="/ppt/notesMasters/notesMaster1.xml" Id="R8502e66098c74a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960d349c074600" /><Relationship Type="http://schemas.openxmlformats.org/officeDocument/2006/relationships/notesMaster" Target="/ppt/notesMasters/notesMaster1.xml" Id="R47574fa82aca4f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5819706cc74ecd" /><Relationship Type="http://schemas.openxmlformats.org/officeDocument/2006/relationships/notesMaster" Target="/ppt/notesMasters/notesMaster1.xml" Id="Rde73942223bb44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8f7c276dc14425" /><Relationship Type="http://schemas.openxmlformats.org/officeDocument/2006/relationships/notesMaster" Target="/ppt/notesMasters/notesMaster1.xml" Id="Re20998ef650442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9acc8a6a6e4247" /><Relationship Type="http://schemas.openxmlformats.org/officeDocument/2006/relationships/notesMaster" Target="/ppt/notesMasters/notesMaster1.xml" Id="R25de77a2dd9d4b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79d08e89ab4a21" /><Relationship Type="http://schemas.openxmlformats.org/officeDocument/2006/relationships/notesMaster" Target="/ppt/notesMasters/notesMaster1.xml" Id="R4998e8c779544d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2f97a7604642be" /><Relationship Type="http://schemas.openxmlformats.org/officeDocument/2006/relationships/notesMaster" Target="/ppt/notesMasters/notesMaster1.xml" Id="Re3296ebd8f4448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a27378e8bc440d" /><Relationship Type="http://schemas.openxmlformats.org/officeDocument/2006/relationships/notesMaster" Target="/ppt/notesMasters/notesMaster1.xml" Id="R387e0ef255f243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bcc9d200f74675" /><Relationship Type="http://schemas.openxmlformats.org/officeDocument/2006/relationships/notesMaster" Target="/ppt/notesMasters/notesMaster1.xml" Id="R00c2ec13698141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420c9733864a59" /><Relationship Type="http://schemas.openxmlformats.org/officeDocument/2006/relationships/notesMaster" Target="/ppt/notesMasters/notesMaster1.xml" Id="R745ef5f127ea4c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8b4d96ff09405d" /><Relationship Type="http://schemas.openxmlformats.org/officeDocument/2006/relationships/notesMaster" Target="/ppt/notesMasters/notesMaster1.xml" Id="R894b72669b5647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5b055c51a64476" /><Relationship Type="http://schemas.openxmlformats.org/officeDocument/2006/relationships/notesMaster" Target="/ppt/notesMasters/notesMaster1.xml" Id="R16c22ad9bb384a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3d364024d24ac2" /><Relationship Type="http://schemas.openxmlformats.org/officeDocument/2006/relationships/notesMaster" Target="/ppt/notesMasters/notesMaster1.xml" Id="Rc8a3382b37c448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ANA500 Python for Data Science. Acquire through Report. https://github.com/mascon0423/ANA500/tree/main/week2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Micro_Project_2.ipynb from the supplied 32,561-record Adult training sample. Values: outputs/analysis_summary.json. Percentages count each row equally.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https://archive.ics.uci.edu/dataset/2/adult</a:t>
            </a:r>
          </a:p>
          <a:p xmlns:a="http://schemas.openxmlformats.org/drawingml/2006/main">
            <a:r>
              <a:t>Attribute definitions: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Micro_Project_2.ipynb from the supplied 32,561-record Adult training sample. Values: outputs/analysis_summary.json. Percentages count each row equally.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https://archive.ics.uci.edu/dataset/2/adult</a:t>
            </a:r>
          </a:p>
          <a:p xmlns:a="http://schemas.openxmlformats.org/drawingml/2006/main">
            <a:r>
              <a:t>Attribute definitions: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Micro_Project_2.ipynb from the supplied 32,561-record Adult training sample. Values: outputs/analysis_summary.json. Percentages count each row equally.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https://archive.ics.uci.edu/dataset/2/adult</a:t>
            </a:r>
          </a:p>
          <a:p xmlns:a="http://schemas.openxmlformats.org/drawingml/2006/main">
            <a:r>
              <a:t>Attribute definitions: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Micro_Project_2.ipynb from the supplied 32,561-record Adult training sample. Values: outputs/analysis_summary.json. Percentages count each row equally.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https://archive.ics.uci.edu/dataset/2/adult</a:t>
            </a:r>
          </a:p>
          <a:p xmlns:a="http://schemas.openxmlformats.org/drawingml/2006/main">
            <a:r>
              <a:t>Attribute definitions: https://archive.ics.uci.edu/ml/machine-learning-databases/adult/adult.names</a:t>
            </a:r>
          </a:p>
          <a:p xmlns:a="http://schemas.openxmlformats.org/drawingml/2006/main">
            <a:r>
              <a:t>Age groups: 17-29, 30-44, 45-59, 60+. Education codes: 1-8 less than high school, 9 high school graduate, 10-12 some college/associate, 13-16 bachelor or higher. Weekly hours: under 35, 35-40, over 40. Education-num is ordinal, not literal years. Valid extremes and zero capital gains/losses remain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Micro_Project_2.ipynb from the supplied 32,561-record Adult training sample. Values: outputs/analysis_summary.json. Percentages count each row equally.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https://archive.ics.uci.edu/dataset/2/adult</a:t>
            </a:r>
          </a:p>
          <a:p xmlns:a="http://schemas.openxmlformats.org/drawingml/2006/main">
            <a:r>
              <a:t>Attribute definitions: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Micro_Project_2.ipynb from the supplied 32,561-record Adult training sample. Values: outputs/analysis_summary.json. Percentages count each row equally.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https://archive.ics.uci.edu/dataset/2/adult</a:t>
            </a:r>
          </a:p>
          <a:p xmlns:a="http://schemas.openxmlformats.org/drawingml/2006/main">
            <a:r>
              <a:t>Attribute definitions: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Micro_Project_2.ipynb from the supplied 32,561-record Adult training sample. Values: outputs/analysis_summary.json. Percentages count each row equally.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https://archive.ics.uci.edu/dataset/2/adult</a:t>
            </a:r>
          </a:p>
          <a:p xmlns:a="http://schemas.openxmlformats.org/drawingml/2006/main">
            <a:r>
              <a:t>Attribute definitions: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Micro_Project_2.ipynb from the supplied 32,561-record Adult training sample. Values: outputs/analysis_summary.json. Percentages count each row equally.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https://archive.ics.uci.edu/dataset/2/adult</a:t>
            </a:r>
          </a:p>
          <a:p xmlns:a="http://schemas.openxmlformats.org/drawingml/2006/main">
            <a:r>
              <a:t>Attribute definitions: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Micro_Project_2.ipynb from the supplied 32,561-record Adult training sample. Values: outputs/analysis_summary.json. Percentages count each row equally.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https://archive.ics.uci.edu/dataset/2/adult</a:t>
            </a:r>
          </a:p>
          <a:p xmlns:a="http://schemas.openxmlformats.org/drawingml/2006/main">
            <a:r>
              <a:t>Attribute definitions: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Micro_Project_2.ipynb from the supplied 32,561-record Adult training sample. Values: outputs/analysis_summary.json. Percentages count each row equally.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https://archive.ics.uci.edu/dataset/2/adult</a:t>
            </a:r>
          </a:p>
          <a:p xmlns:a="http://schemas.openxmlformats.org/drawingml/2006/main">
            <a:r>
              <a:t>Attribute definitions: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Micro_Project_2.ipynb from the supplied 32,561-record Adult training sample. Values: outputs/analysis_summary.json. Percentages count each row equally.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https://archive.ics.uci.edu/dataset/2/adult</a:t>
            </a:r>
          </a:p>
          <a:p xmlns:a="http://schemas.openxmlformats.org/drawingml/2006/main">
            <a:r>
              <a:t>Attribute definitions: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Micro_Project_2.ipynb from the supplied 32,561-record Adult training sample. Values: outputs/analysis_summary.json. Percentages count each row equally.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https://archive.ics.uci.edu/dataset/2/adult</a:t>
            </a:r>
          </a:p>
          <a:p xmlns:a="http://schemas.openxmlformats.org/drawingml/2006/main">
            <a:r>
              <a:t>Attribute definitions: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0dd0c01ed4f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b96dd2c1f40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82c5149a147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a76dc4f2a43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8699f558d45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cc45843fb477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8d8c428204be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24171d7044c1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2b7032cd5403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f60887efa24df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e7353f9434e4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784A48-ED60-4C3D-8040-EA420D1376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9950468-0315-4B9D-B09C-8C8C8EBD6A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7C4A60-6695-4CB3-AF2E-ACFA3C0B87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2D2078-2F8D-45FB-9C14-17036DA5D3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DD9676-FA59-4F47-9033-2CFC797637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C04559-4EA9-4030-8CD7-225515C39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A446E6-DF6C-44D2-BA71-5D6445655C1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F5ECAD-0D49-425E-99BE-4E9A279761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B6268D-3BF4-472B-B1D5-5184896743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BF4C8E-AFA1-48CB-9BE5-583A376604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0CC60D-06AE-4839-A5F6-DB50DF8789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8C870F-1989-4744-AA64-C97EBC3080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3CF60B-312D-4E68-B904-78A68C9AF9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05CA4F-B8D7-4A59-A5BA-74DF90CC1D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1BAD61-51E4-4D1D-8E14-1EB20C0ECB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851454-95B8-455D-BFC1-6C6DA36031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3FBC0B-D342-4647-B5BA-5B6ADF294E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69BC10-2FBB-4372-AE80-21EC4AB47AF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9FE6231-D355-4CB0-AB68-1D21D4EB6A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B01BF01-A233-43E9-8949-BAADCAF957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4EA8DA2-49A7-4CD4-AD2A-B4AE89F09C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9A6AAD-2645-4527-94B3-3A3BECB928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031552-937E-4EAB-883E-C29FBC415B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73455D9-4697-44D3-AB55-9CADBE716D0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258DC7D-BF9A-4F54-AB58-1C49FFA17D7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1D3AE0C-DB47-4E16-828A-3429714FADD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B3C3C45-525E-4801-90AF-776B7EFC5A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3B6704D-F5BC-4598-B7E7-5F53967A67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2D9A6A6-BB3C-4DD0-A205-F8593CED10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B609AA-EE0C-4FE6-8E30-99E91A13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7DA744A-AA0E-40C1-82B4-1865879ADE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1794A4-DA55-49C9-9EE1-51AFA79807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83A595F-05DA-41C2-AFB0-CC51AFDB9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85F4ACF-3F96-4D20-91DE-5A7A89B4A2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D2B232B-2221-443B-9621-C2FFF41601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2970A4F-5257-4439-983C-D802F7190B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85D602-AEC1-494B-9EC8-423C9605B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2AC75CB-286B-4E0D-946F-B2152E7923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B6FE692-594E-4FE0-A040-69DCF74AAA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4E66829-7538-463B-99D9-8920CBDF40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B5AFDF-77FC-4354-AF3B-008607F927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77315B-5282-41D1-99A3-2ADE83DA19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477A91-0A20-466E-9CA8-86B63BE8AF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78C2C4C-22CA-4398-A23B-4F068FB5A7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3574D67-2A27-42C6-815E-BE5AD10D36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9BB23AA-5E29-4400-B52D-822F13ED6B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368ADC-B329-411C-AA83-9EEADAE8A9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778A6D9-A5FD-46E3-8F58-CDC4CC4B89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C59857-0725-4AFD-ADA1-93DE6885A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742F07-D500-4235-A3BD-4E9FA3C926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AB7CF7-F61A-47E7-B601-419FF069E7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18C1B3-4CDE-4267-AF19-9C2FCF8602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D38641-A10F-457F-B6A9-3F574B2B26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A3A314E-DAF4-459C-AF7B-C7347C7639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7BE33E-4004-41A3-B3E6-14272F53B3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1A99DB-D8D6-44B2-B140-B5C0DD6988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1BF21E-4345-40CE-88C3-7C77ECC010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1F20F6-FD42-49EE-AE17-171924F498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3f8e9ec3804add" /><Relationship Type="http://schemas.openxmlformats.org/officeDocument/2006/relationships/slideLayout" Target="/ppt/slideLayouts/slideLayout1.xml" Id="Rfd9430abeb57415a" /><Relationship Type="http://schemas.openxmlformats.org/officeDocument/2006/relationships/slideLayout" Target="/ppt/slideLayouts/slideLayout2.xml" Id="R9b78a209aa9b4de1" /><Relationship Type="http://schemas.openxmlformats.org/officeDocument/2006/relationships/slideLayout" Target="/ppt/slideLayouts/slideLayout3.xml" Id="Rab3fbb23e54d435d" /><Relationship Type="http://schemas.openxmlformats.org/officeDocument/2006/relationships/slideLayout" Target="/ppt/slideLayouts/slideLayout4.xml" Id="R2081cbb437fb4669" /><Relationship Type="http://schemas.openxmlformats.org/officeDocument/2006/relationships/slideLayout" Target="/ppt/slideLayouts/slideLayout5.xml" Id="R89f2e979d7ee4b2a" /><Relationship Type="http://schemas.openxmlformats.org/officeDocument/2006/relationships/slideLayout" Target="/ppt/slideLayouts/slideLayout6.xml" Id="Rd5fb29214f2f43dd" /><Relationship Type="http://schemas.openxmlformats.org/officeDocument/2006/relationships/slideLayout" Target="/ppt/slideLayouts/slideLayout7.xml" Id="Rd0aa7050f2bc44dc" /><Relationship Type="http://schemas.openxmlformats.org/officeDocument/2006/relationships/slideLayout" Target="/ppt/slideLayouts/slideLayout8.xml" Id="R8cd5c372e9614faa" /><Relationship Type="http://schemas.openxmlformats.org/officeDocument/2006/relationships/slideLayout" Target="/ppt/slideLayouts/slideLayout9.xml" Id="Rab88da4c32c044b1" /><Relationship Type="http://schemas.openxmlformats.org/officeDocument/2006/relationships/slideLayout" Target="/ppt/slideLayouts/slideLayout10.xml" Id="R1578768bfa4a44d3" /><Relationship Type="http://schemas.openxmlformats.org/officeDocument/2006/relationships/slideLayout" Target="/ppt/slideLayouts/slideLayout11.xml" Id="Ra14144886899475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0B5F7E3-61B5-4449-80CF-04DA4D37A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CFC45A-DECF-4B86-87F6-C12B501A4F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C712EE-4BB3-49D3-9FAF-733EA6255E9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DFC8A3-CA43-47DE-88A0-18EE8FB2D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8CC4C2-DBD2-41A0-8542-0ED48583DA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9430abeb57415a"/>
    <p:sldLayoutId xmlns:r="http://schemas.openxmlformats.org/officeDocument/2006/relationships" id="2147483650" r:id="R9b78a209aa9b4de1"/>
    <p:sldLayoutId xmlns:r="http://schemas.openxmlformats.org/officeDocument/2006/relationships" id="2147483651" r:id="Rab3fbb23e54d435d"/>
    <p:sldLayoutId xmlns:r="http://schemas.openxmlformats.org/officeDocument/2006/relationships" id="2147483652" r:id="R2081cbb437fb4669"/>
    <p:sldLayoutId xmlns:r="http://schemas.openxmlformats.org/officeDocument/2006/relationships" id="2147483653" r:id="R89f2e979d7ee4b2a"/>
    <p:sldLayoutId xmlns:r="http://schemas.openxmlformats.org/officeDocument/2006/relationships" id="2147483654" r:id="Rd5fb29214f2f43dd"/>
    <p:sldLayoutId xmlns:r="http://schemas.openxmlformats.org/officeDocument/2006/relationships" id="2147483655" r:id="Rd0aa7050f2bc44dc"/>
    <p:sldLayoutId xmlns:r="http://schemas.openxmlformats.org/officeDocument/2006/relationships" id="2147483656" r:id="R8cd5c372e9614faa"/>
    <p:sldLayoutId xmlns:r="http://schemas.openxmlformats.org/officeDocument/2006/relationships" id="2147483657" r:id="Rab88da4c32c044b1"/>
    <p:sldLayoutId xmlns:r="http://schemas.openxmlformats.org/officeDocument/2006/relationships" id="2147483658" r:id="R1578768bfa4a44d3"/>
    <p:sldLayoutId xmlns:r="http://schemas.openxmlformats.org/officeDocument/2006/relationships" id="2147483659" r:id="Ra14144886899475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dbdad128b40b6" /><Relationship Type="http://schemas.openxmlformats.org/officeDocument/2006/relationships/notesSlide" Target="/ppt/notesSlides/notesSlide1.xml" Id="Radd94e43db7e4e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72f3098455475e" /><Relationship Type="http://schemas.openxmlformats.org/officeDocument/2006/relationships/notesSlide" Target="/ppt/notesSlides/notesSlide2.xml" Id="R28cfa814cf1543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9f7ae4fc014c16" /><Relationship Type="http://schemas.openxmlformats.org/officeDocument/2006/relationships/notesSlide" Target="/ppt/notesSlides/notesSlide3.xml" Id="R0b6459653bf044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4fb2d15ff04367" /><Relationship Type="http://schemas.openxmlformats.org/officeDocument/2006/relationships/notesSlide" Target="/ppt/notesSlides/notesSlide4.xml" Id="R6464a6ae69f249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ceb3552044433e" /><Relationship Type="http://schemas.openxmlformats.org/officeDocument/2006/relationships/notesSlide" Target="/ppt/notesSlides/notesSlide5.xml" Id="Rf41729ddc63d42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6d31de6f6d4699" /><Relationship Type="http://schemas.openxmlformats.org/officeDocument/2006/relationships/chart" Target="/ppt/slides/charts/chart1.xml" Id="Rdf5977d9cb574978" /><Relationship Type="http://schemas.openxmlformats.org/officeDocument/2006/relationships/notesSlide" Target="/ppt/notesSlides/notesSlide6.xml" Id="R9d469ae6512547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f5906bf3254107" /><Relationship Type="http://schemas.openxmlformats.org/officeDocument/2006/relationships/chart" Target="/ppt/slides/charts/chart2.xml" Id="R160a73f788824314" /><Relationship Type="http://schemas.openxmlformats.org/officeDocument/2006/relationships/chart" Target="/ppt/slides/charts/chart3.xml" Id="R725cd4f8e76c47a0" /><Relationship Type="http://schemas.openxmlformats.org/officeDocument/2006/relationships/notesSlide" Target="/ppt/notesSlides/notesSlide7.xml" Id="Rb1a9d326aa044c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c17c86e7bb47f2" /><Relationship Type="http://schemas.openxmlformats.org/officeDocument/2006/relationships/chart" Target="/ppt/slides/charts/chart4.xml" Id="R7b1f4fed777d417b" /><Relationship Type="http://schemas.openxmlformats.org/officeDocument/2006/relationships/notesSlide" Target="/ppt/notesSlides/notesSlide8.xml" Id="Rc738f3da1df24e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ae5561f52c46c7" /><Relationship Type="http://schemas.openxmlformats.org/officeDocument/2006/relationships/chart" Target="/ppt/slides/charts/chart5.xml" Id="R57ad701262724427" /><Relationship Type="http://schemas.openxmlformats.org/officeDocument/2006/relationships/notesSlide" Target="/ppt/notesSlides/notesSlide9.xml" Id="Rc7e0c65dd62942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b8aa72f30f444c" /><Relationship Type="http://schemas.openxmlformats.org/officeDocument/2006/relationships/chart" Target="/ppt/slides/charts/chart6.xml" Id="R96466dd596074873" /><Relationship Type="http://schemas.openxmlformats.org/officeDocument/2006/relationships/notesSlide" Target="/ppt/notesSlides/notesSlide10.xml" Id="R40721dae044541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45ded38de84e88" /><Relationship Type="http://schemas.openxmlformats.org/officeDocument/2006/relationships/notesSlide" Target="/ppt/notesSlides/notesSlide11.xml" Id="Rf3edb5adbb6649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c270b873704db0" /><Relationship Type="http://schemas.openxmlformats.org/officeDocument/2006/relationships/notesSlide" Target="/ppt/notesSlides/notesSlide12.xml" Id="R777f0dab5c5241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436b6585f34069" /><Relationship Type="http://schemas.openxmlformats.org/officeDocument/2006/relationships/notesSlide" Target="/ppt/notesSlides/notesSlide13.xml" Id="R8366dc5e28de421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245E83"/>
            </a:solidFill>
          </c:spPr>
          <c:cat>
            <c:strRef>
              <c:f>'Chart Data'!$A$2:$A$3</c:f>
              <c:strCache>
                <c:ptCount val="2"/>
                <c:pt idx="0">
                  <c:v>Above $50,000</c:v>
                </c:pt>
                <c:pt idx="1">
                  <c:v>At or below $50,000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7841</c:v>
                </c:pt>
                <c:pt idx="1">
                  <c:v>24720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22222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320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</a:rPr>
                  <a:t>Number of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44444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80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Above $50,000</c:v>
          </c:tx>
          <c:spPr>
            <a:solidFill xmlns:a="http://schemas.openxmlformats.org/drawingml/2006/main">
              <a:srgbClr val="245E83"/>
            </a:solidFill>
          </c:spPr>
          <c:cat>
            <c:strRef>
              <c:f>'Chart Data'!$A$2:$A$5</c:f>
              <c:strCache>
                <c:ptCount val="4"/>
                <c:pt idx="0">
                  <c:v>60+ (n=2,644)</c:v>
                </c:pt>
                <c:pt idx="1">
                  <c:v>45-59 (n=7,717)</c:v>
                </c:pt>
                <c:pt idx="2">
                  <c:v>30-44 (n=12,489)</c:v>
                </c:pt>
                <c:pt idx="3">
                  <c:v>17-29 (n=9,711)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0.246596066566</c:v>
                </c:pt>
                <c:pt idx="1">
                  <c:v>0.38849293767</c:v>
                </c:pt>
                <c:pt idx="2">
                  <c:v>0.294659300184</c:v>
                </c:pt>
                <c:pt idx="3">
                  <c:v>0.052620739368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22222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</a:rPr>
                  <a:t>Percentage earning above $50,000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44444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Above $50,000</c:v>
          </c:tx>
          <c:spPr>
            <a:solidFill xmlns:a="http://schemas.openxmlformats.org/drawingml/2006/main">
              <a:srgbClr val="245E83"/>
            </a:solidFill>
          </c:spPr>
          <c:cat>
            <c:strRef>
              <c:f>'Chart Data'!$A$2:$A$3</c:f>
              <c:strCache>
                <c:ptCount val="2"/>
                <c:pt idx="0">
                  <c:v>Male (n=21,790)</c:v>
                </c:pt>
                <c:pt idx="1">
                  <c:v>Female (n=10,771)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0.305736576411</c:v>
                </c:pt>
                <c:pt idx="1">
                  <c:v>0.109460588618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22222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</a:rPr>
                  <a:t>Percentage earning above $50,000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44444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Above $50,000</c:v>
          </c:tx>
          <c:spPr>
            <a:solidFill xmlns:a="http://schemas.openxmlformats.org/drawingml/2006/main">
              <a:srgbClr val="245E83"/>
            </a:solidFill>
          </c:spPr>
          <c:cat>
            <c:strRef>
              <c:f>'Chart Data'!$A$2:$A$5</c:f>
              <c:strCache>
                <c:ptCount val="4"/>
                <c:pt idx="0">
                  <c:v>Bachelor's+ (n=8,067)</c:v>
                </c:pt>
                <c:pt idx="1">
                  <c:v>College/associate (n=9,740)</c:v>
                </c:pt>
                <c:pt idx="2">
                  <c:v>HS graduate (n=10,501)</c:v>
                </c:pt>
                <c:pt idx="3">
                  <c:v>Less than HS (n=4,253)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0.48456675344</c:v>
                </c:pt>
                <c:pt idx="1">
                  <c:v>0.206673511294</c:v>
                </c:pt>
                <c:pt idx="2">
                  <c:v>0.159508618227</c:v>
                </c:pt>
                <c:pt idx="3">
                  <c:v>0.057371267341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22222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</a:rPr>
                  <a:t>Percentage earning above $50,000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44444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Above $50,000</c:v>
          </c:tx>
          <c:spPr>
            <a:solidFill xmlns:a="http://schemas.openxmlformats.org/drawingml/2006/main">
              <a:srgbClr val="245E83"/>
            </a:solidFill>
          </c:spPr>
          <c:cat>
            <c:strRef>
              <c:f>'Chart Data'!$A$2:$A$16</c:f>
              <c:strCache>
                <c:ptCount val="15"/>
                <c:pt idx="0">
                  <c:v>Priv-house-serv (n=149)</c:v>
                </c:pt>
                <c:pt idx="1">
                  <c:v>Other-service (n=3,295)</c:v>
                </c:pt>
                <c:pt idx="2">
                  <c:v>Handlers-cleaners (n=1,370)</c:v>
                </c:pt>
                <c:pt idx="3">
                  <c:v>Unknown (n=1,843)</c:v>
                </c:pt>
                <c:pt idx="4">
                  <c:v>Armed-Forces (n=9)</c:v>
                </c:pt>
                <c:pt idx="5">
                  <c:v>Farming-fishing (n=994)</c:v>
                </c:pt>
                <c:pt idx="6">
                  <c:v>Machine-op-inspct (n=2,002)</c:v>
                </c:pt>
                <c:pt idx="7">
                  <c:v>Adm-clerical (n=3,770)</c:v>
                </c:pt>
                <c:pt idx="8">
                  <c:v>Transport-moving (n=1,597)</c:v>
                </c:pt>
                <c:pt idx="9">
                  <c:v>Craft-repair (n=4,099)</c:v>
                </c:pt>
                <c:pt idx="10">
                  <c:v>Sales (n=3,650)</c:v>
                </c:pt>
                <c:pt idx="11">
                  <c:v>Tech-support (n=928)</c:v>
                </c:pt>
                <c:pt idx="12">
                  <c:v>Protective-serv (n=649)</c:v>
                </c:pt>
                <c:pt idx="13">
                  <c:v>Prof-specialty (n=4,140)</c:v>
                </c:pt>
                <c:pt idx="14">
                  <c:v>Exec-managerial (n=4,066)</c:v>
                </c:pt>
              </c:strCache>
            </c:strRef>
          </c:cat>
          <c:val>
            <c:numRef>
              <c:f>'Chart Data'!$B$2:$B$16</c:f>
              <c:numCache>
                <c:formatCode>0.0%</c:formatCode>
                <c:ptCount val="15"/>
                <c:pt idx="0">
                  <c:v>0.006711409396</c:v>
                </c:pt>
                <c:pt idx="1">
                  <c:v>0.04157814871</c:v>
                </c:pt>
                <c:pt idx="2">
                  <c:v>0.062773722628</c:v>
                </c:pt>
                <c:pt idx="3">
                  <c:v>0.103635377103</c:v>
                </c:pt>
                <c:pt idx="4">
                  <c:v>0.111111111111</c:v>
                </c:pt>
                <c:pt idx="5">
                  <c:v>0.11569416499</c:v>
                </c:pt>
                <c:pt idx="6">
                  <c:v>0.124875124875</c:v>
                </c:pt>
                <c:pt idx="7">
                  <c:v>0.134482758621</c:v>
                </c:pt>
                <c:pt idx="8">
                  <c:v>0.200375704446</c:v>
                </c:pt>
                <c:pt idx="9">
                  <c:v>0.22664064406</c:v>
                </c:pt>
                <c:pt idx="10">
                  <c:v>0.269315068493</c:v>
                </c:pt>
                <c:pt idx="11">
                  <c:v>0.304956896552</c:v>
                </c:pt>
                <c:pt idx="12">
                  <c:v>0.325115562404</c:v>
                </c:pt>
                <c:pt idx="13">
                  <c:v>0.449033816425</c:v>
                </c:pt>
                <c:pt idx="14">
                  <c:v>0.48401377275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22222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</a:rPr>
                  <a:t>Percentage earning above $50,000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44444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Above $50,000</c:v>
          </c:tx>
          <c:spPr>
            <a:solidFill xmlns:a="http://schemas.openxmlformats.org/drawingml/2006/main">
              <a:srgbClr val="245E83"/>
            </a:solidFill>
          </c:spPr>
          <c:cat>
            <c:strRef>
              <c:f>'Chart Data'!$A$2:$A$4</c:f>
              <c:strCache>
                <c:ptCount val="3"/>
                <c:pt idx="0">
                  <c:v>Over 40 (n=9,581)</c:v>
                </c:pt>
                <c:pt idx="1">
                  <c:v>35-40 (n=17,397)</c:v>
                </c:pt>
                <c:pt idx="2">
                  <c:v>Under 35 (n=5,583)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0.402463208433</c:v>
                </c:pt>
                <c:pt idx="1">
                  <c:v>0.206817267345</c:v>
                </c:pt>
                <c:pt idx="2">
                  <c:v>0.069317571198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22222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</a:rPr>
                  <a:t>Percentage earning above $50,000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44444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EFD3DB-B193-4E72-861B-FE835A2E1F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5200">
                <a:latin typeface="Calibri Light"/>
                <a:ea typeface="Calibri Light"/>
                <a:cs typeface="Calibri Light"/>
              </a:rPr>
              <a:t>Income and Adult Characteristics</a:t>
            </a:r>
          </a:p>
          <a:p xmlns:a="http://schemas.openxmlformats.org/drawingml/2006/main">
            <a:r>
              <a:rPr sz="4400">
                <a:latin typeface="Calibri Light"/>
                <a:ea typeface="Calibri Light"/>
                <a:cs typeface="Calibri Light"/>
              </a:rPr>
              <a:t>Micro-Project 2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6B5E315-C208-479B-A6B8-0DCBEF2B5F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Douglas Bobeck</a:t>
            </a:r>
          </a:p>
          <a:p xmlns:a="http://schemas.openxmlformats.org/drawingml/2006/main">
            <a:r>
              <a:t>September 24, 2026</a:t>
            </a:r>
          </a:p>
        </p:txBody>
      </p:sp>
    </p:spTree>
    <p:extLst>
      <p:ext uri="{BB962C8B-B14F-4D97-AF65-F5344CB8AC3E}">
        <p14:creationId xmlns:p14="http://schemas.microsoft.com/office/powerpoint/2010/main" val="36512514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8302AB-CEDA-4E89-A1DC-6BABC9C3F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AD07EA-4B74-4BFA-A23D-5147B6A28F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Income differs across adults with different backgrounds and jobs.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Question: Which demographic, educational, and employment characteristics occur together with earning more than $50,000 per year?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analysis looks at age, sex, education, occupation, and weekly work hours. Workclass and marital status add context in the notebook.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dataset gives two income categories, so the analysis compares the percentage above $50,000 within each group.</a:t>
            </a:r>
          </a:p>
        </p:txBody>
      </p:sp>
    </p:spTree>
    <p:extLst>
      <p:ext uri="{BB962C8B-B14F-4D97-AF65-F5344CB8AC3E}">
        <p14:creationId xmlns:p14="http://schemas.microsoft.com/office/powerpoint/2010/main" val="18806784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29C91F-7913-4D5C-A911-ADD4837DA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Hypothesis Formulation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5A42CE-FCD3-41B9-A629-5F3C6031F3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Higher income will be more common among adults with more education, middle-career ages, professional or managerial jobs, and longer workweeks.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differences will also appear when age, education, and work hours are considered together.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Possible explanation: Education and experience may help people qualify for higher-paying jobs. Hours worked may also contribute to annual income.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Grouped percentages and a stratified heatmap will explore these patterns. A classification model and formal hypothesis test come later.</a:t>
            </a:r>
          </a:p>
        </p:txBody>
      </p:sp>
    </p:spTree>
    <p:extLst>
      <p:ext uri="{BB962C8B-B14F-4D97-AF65-F5344CB8AC3E}">
        <p14:creationId xmlns:p14="http://schemas.microsoft.com/office/powerpoint/2010/main" val="33069587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Acquire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Source: UCI Adult dataset, based on the 1994 Census database.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supplied adult income.csv contains 32,561 records and 15 fields. It matches the training split. The separate test split is not used.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Tools used: Jupyter Notebook, Python, Pandas, NumPy, Matplotlib, and Seaborn.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Each row counts equally in these summaries. fnlwgt is the final survey weight, retained for later work.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Reference: Becker &amp; Kohavi (1996), Adult. https://doi.org/10.24432/C5XW20</a:t>
            </a:r>
          </a:p>
        </p:txBody>
      </p:sp>
    </p:spTree>
    <p:extLst>
      <p:ext uri="{BB962C8B-B14F-4D97-AF65-F5344CB8AC3E}">
        <p14:creationId xmlns:p14="http://schemas.microsoft.com/office/powerpoint/2010/main" val="4270231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Trim extra spaces, mark ? and blank values as missing, and convert the six numeric fields to integers.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Check the field names, income labels, numeric ranges, and matching education codes. Keep all 32,561 records.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Missing values: workclass 1,836, occupation 1,843, and native-country 583. Unknown occupation stays visible as a separate group.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Keep 24 repeated profiles because the file has no person ID. Removing them changes the overall rate by only +0.012 percentage points.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Create fixed age, education, and work-hour groups. Check each percentage against its numerator and group size.</a:t>
            </a:r>
          </a:p>
        </p:txBody>
      </p:sp>
    </p:spTree>
    <p:extLst>
      <p:ext uri="{BB962C8B-B14F-4D97-AF65-F5344CB8AC3E}">
        <p14:creationId xmlns:p14="http://schemas.microsoft.com/office/powerpoint/2010/main" val="27882179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Analyze: Income Categories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24E0E21-1C85-4CF5-B050-C1F44C27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7,841 of 32,561 records earn above $50,000, or 24.1% of this sample.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65D432-2B82-41A8-A4A9-9D8097A7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Unweighted percentages. n = group size.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10763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5977d9cb574978"/>
          </a:graphicData>
        </a:graphic>
      </p:graphicFrame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Analyze: Demographics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5A517E0-48C5-4C96-9E6A-6F95F54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Ages 45-59 have the highest age-group rate (38.8%). Sex differences are unadjusted and may reflect other factors.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0851379-A879-4287-A434-3EFD2F91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Unweighted percentages. n = group size.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399057-B2F2-4C13-B375-CE824766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 group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B5D4F3-860A-45CA-B74B-ECB9FE02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763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Sex recorded in the dataset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528637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0a73f788824314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86500" y="1914525"/>
          <a:ext xmlns:a="http://schemas.openxmlformats.org/drawingml/2006/main" cx="528637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5cd4f8e76c47a0"/>
          </a:graphicData>
        </a:graphic>
      </p:graphicFrame>
    </p:spTree>
    <p:extLst>
      <p:ext uri="{BB962C8B-B14F-4D97-AF65-F5344CB8AC3E}">
        <p14:creationId xmlns:p14="http://schemas.microsoft.com/office/powerpoint/2010/main" val="23099084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Analyze: Education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638415B-C24B-478A-A866-6BF87786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rate is 48.5% for a bachelor’s degree or higher, compared with 16.0% for high school graduates.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736999B-A32D-4F9D-9496-32C9BFEB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Unweighted percentages. n = group size.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1f4fed777d417b"/>
          </a:graphicData>
        </a:graphic>
      </p:graphicFrame>
    </p:spTree>
    <p:extLst>
      <p:ext uri="{BB962C8B-B14F-4D97-AF65-F5344CB8AC3E}">
        <p14:creationId xmlns:p14="http://schemas.microsoft.com/office/powerpoint/2010/main" val="27882179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Analyze: Occupation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92D479F-3709-4215-AE45-E39DA2D7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Executive/managerial and professional-specialty groups have the highest rates. Armed-Forces has only 9 records.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0BD81DF-77BD-4D60-827D-F914CD10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Unweighted percentages. n = group size.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ad701262724427"/>
          </a:graphicData>
        </a:graphic>
      </p:graphicFrame>
    </p:spTree>
    <p:extLst>
      <p:ext uri="{BB962C8B-B14F-4D97-AF65-F5344CB8AC3E}">
        <p14:creationId xmlns:p14="http://schemas.microsoft.com/office/powerpoint/2010/main" val="27882179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Analyze: Weekly Work Hours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DAA6CE4-E8E5-4948-9E80-A052D8CA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rate is 40.2% for adults working over 40 hours a week and 20.7% for those working 35-40 hours.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62746F0-D60A-4950-8048-366703C9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Unweighted percentages. n = group size.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537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466dd596074873"/>
          </a:graphicData>
        </a:graphic>
      </p:graphicFrame>
    </p:spTree>
    <p:extLst>
      <p:ext uri="{BB962C8B-B14F-4D97-AF65-F5344CB8AC3E}">
        <p14:creationId xmlns:p14="http://schemas.microsoft.com/office/powerpoint/2010/main" val="278821798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Analyze: Combined Characteristics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F1987F2-4807-4DC8-838D-D5AB60A7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Age 45-59, bachelor’s or higher, and over 40 hours has a 72.7% rate (n=1,089), the highest displayed combination.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A3FA21B-2074-4E0F-9321-4F41D772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Unweighted percentages. n = group size.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FF0045-6F6E-42A8-A371-D07C038A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40 hours or less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5257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"/>
                <a:gridCol w="1162050"/>
                <a:gridCol w="1162050"/>
                <a:gridCol w="1162050"/>
                <a:gridCol w="116205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Age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Less than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HS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HS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graduate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College/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associate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Bachelor's+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17-29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n=1,415</a:t>
                      </a:r>
                    </a:p>
                  </a:txBody>
                  <a:tcPr marL="47625" marR="47625" marT="76200" marB="47625" anchor="ctr"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2.3%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n=2,390</a:t>
                      </a:r>
                    </a:p>
                  </a:txBody>
                  <a:tcPr marL="47625" marR="47625" marT="76200" marB="47625" anchor="ctr">
                    <a:solidFill>
                      <a:srgbClr val="E7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3.2%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n=2,941</a:t>
                      </a:r>
                    </a:p>
                  </a:txBody>
                  <a:tcPr marL="47625" marR="47625" marT="76200" marB="47625" anchor="ctr"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9.0%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n=1,118</a:t>
                      </a:r>
                    </a:p>
                  </a:txBody>
                  <a:tcPr marL="47625" marR="47625" marT="76200" marB="47625" anchor="ctr">
                    <a:solidFill>
                      <a:srgbClr val="D9E2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30-44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5.1%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n=850</a:t>
                      </a:r>
                    </a:p>
                  </a:txBody>
                  <a:tcPr marL="47625" marR="47625" marT="76200" marB="47625" anchor="ctr">
                    <a:solidFill>
                      <a:srgbClr val="E1E8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13.8%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n=2,829</a:t>
                      </a:r>
                    </a:p>
                  </a:txBody>
                  <a:tcPr marL="47625" marR="47625" marT="76200" marB="47625" anchor="ctr">
                    <a:solidFill>
                      <a:srgbClr val="D0D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20.5%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n=2,406</a:t>
                      </a:r>
                    </a:p>
                  </a:txBody>
                  <a:tcPr marL="47625" marR="47625" marT="76200" marB="47625" anchor="ctr">
                    <a:solidFill>
                      <a:srgbClr val="C2D1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42.7%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n=1,865</a:t>
                      </a:r>
                    </a:p>
                  </a:txBody>
                  <a:tcPr marL="47625" marR="47625" marT="76200" marB="47625" anchor="ctr">
                    <a:solidFill>
                      <a:srgbClr val="96B1C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45-59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8.5%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n=739</a:t>
                      </a:r>
                    </a:p>
                  </a:txBody>
                  <a:tcPr marL="47625" marR="47625" marT="76200" marB="47625" anchor="ctr">
                    <a:solidFill>
                      <a:srgbClr val="DAE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23.6%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n=1,823</a:t>
                      </a:r>
                    </a:p>
                  </a:txBody>
                  <a:tcPr marL="47625" marR="47625" marT="76200" marB="47625" anchor="ctr">
                    <a:solidFill>
                      <a:srgbClr val="BCC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33.1%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n=1,298</a:t>
                      </a:r>
                    </a:p>
                  </a:txBody>
                  <a:tcPr marL="47625" marR="47625" marT="76200" marB="47625" anchor="ctr">
                    <a:solidFill>
                      <a:srgbClr val="A9BF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56.6%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n=1,155</a:t>
                      </a:r>
                    </a:p>
                  </a:txBody>
                  <a:tcPr marL="47625" marR="47625" marT="76200" marB="47625" anchor="ctr">
                    <a:solidFill>
                      <a:srgbClr val="7A9DB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60+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6.0%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n=499</a:t>
                      </a:r>
                    </a:p>
                  </a:txBody>
                  <a:tcPr marL="47625" marR="47625" marT="76200" marB="47625" anchor="ctr">
                    <a:solidFill>
                      <a:srgbClr val="DFE6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13.2%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n=760</a:t>
                      </a:r>
                    </a:p>
                  </a:txBody>
                  <a:tcPr marL="47625" marR="47625" marT="76200" marB="47625" anchor="ctr">
                    <a:solidFill>
                      <a:srgbClr val="D1DC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22.2%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n=459</a:t>
                      </a:r>
                    </a:p>
                  </a:txBody>
                  <a:tcPr marL="47625" marR="47625" marT="76200" marB="47625" anchor="ctr">
                    <a:solidFill>
                      <a:srgbClr val="BFC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44.1%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n=433</a:t>
                      </a:r>
                    </a:p>
                  </a:txBody>
                  <a:tcPr marL="47625" marR="47625" marT="76200" marB="47625" anchor="ctr">
                    <a:solidFill>
                      <a:srgbClr val="93AFC1"/>
                    </a:solidFill>
                  </a:tcPr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E2FA97A-E2E6-4DBF-9F24-55DCE1D1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763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Over 40 hours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324600" y="2009775"/>
          <a:ext xmlns:a="http://schemas.openxmlformats.org/drawingml/2006/main" cx="5257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"/>
                <a:gridCol w="1162050"/>
                <a:gridCol w="1162050"/>
                <a:gridCol w="1162050"/>
                <a:gridCol w="116205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Age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Less than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HS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HS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graduate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College/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associate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Bachelor's+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17-29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4.9%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n=184</a:t>
                      </a:r>
                    </a:p>
                  </a:txBody>
                  <a:tcPr marL="47625" marR="47625" marT="76200" marB="47625" anchor="ctr">
                    <a:solidFill>
                      <a:srgbClr val="E1E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8.1%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n=593</a:t>
                      </a:r>
                    </a:p>
                  </a:txBody>
                  <a:tcPr marL="47625" marR="47625" marT="76200" marB="47625" anchor="ctr">
                    <a:solidFill>
                      <a:srgbClr val="DBE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10.9%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n=571</a:t>
                      </a:r>
                    </a:p>
                  </a:txBody>
                  <a:tcPr marL="47625" marR="47625" marT="76200" marB="47625" anchor="ctr">
                    <a:solidFill>
                      <a:srgbClr val="D5D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26.3%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n=499</a:t>
                      </a:r>
                    </a:p>
                  </a:txBody>
                  <a:tcPr marL="47625" marR="47625" marT="76200" marB="47625" anchor="ctr">
                    <a:solidFill>
                      <a:srgbClr val="B7C9D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30-44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11.7%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n=247</a:t>
                      </a:r>
                    </a:p>
                  </a:txBody>
                  <a:tcPr marL="47625" marR="47625" marT="76200" marB="47625" anchor="ctr">
                    <a:solidFill>
                      <a:srgbClr val="D4DE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25.5%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n=1,262</a:t>
                      </a:r>
                    </a:p>
                  </a:txBody>
                  <a:tcPr marL="47625" marR="47625" marT="76200" marB="47625" anchor="ctr">
                    <a:solidFill>
                      <a:srgbClr val="B8CA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37.3%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n=1,307</a:t>
                      </a:r>
                    </a:p>
                  </a:txBody>
                  <a:tcPr marL="47625" marR="47625" marT="76200" marB="47625" anchor="ctr">
                    <a:solidFill>
                      <a:srgbClr val="A1B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64.8%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n=1,723</a:t>
                      </a:r>
                    </a:p>
                  </a:txBody>
                  <a:tcPr marL="47625" marR="47625" marT="76200" marB="47625" anchor="ctr">
                    <a:solidFill>
                      <a:srgbClr val="6A91A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45-59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18.2%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n=236</a:t>
                      </a:r>
                    </a:p>
                  </a:txBody>
                  <a:tcPr marL="47625" marR="47625" marT="76200" marB="47625" anchor="ctr">
                    <a:solidFill>
                      <a:srgbClr val="C7D5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39.5%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n=714</a:t>
                      </a:r>
                    </a:p>
                  </a:txBody>
                  <a:tcPr marL="47625" marR="47625" marT="76200" marB="47625" anchor="ctr">
                    <a:solidFill>
                      <a:srgbClr val="9CB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45.9%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n=663</a:t>
                      </a:r>
                    </a:p>
                  </a:txBody>
                  <a:tcPr marL="47625" marR="47625" marT="76200" marB="47625" anchor="ctr">
                    <a:solidFill>
                      <a:srgbClr val="90A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72.7%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n=1,089</a:t>
                      </a:r>
                    </a:p>
                  </a:txBody>
                  <a:tcPr marL="47625" marR="47625" marT="76200" marB="47625" anchor="ctr">
                    <a:solidFill>
                      <a:srgbClr val="5A86A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60+</a:t>
                      </a:r>
                    </a:p>
                  </a:txBody>
                  <a:tcPr marL="47625" marR="47625" marT="76200" marB="4762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n=83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small group</a:t>
                      </a:r>
                    </a:p>
                  </a:txBody>
                  <a:tcPr marL="47625" marR="47625" marT="76200" marB="47625" anchor="ctr"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36.9%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n=130</a:t>
                      </a:r>
                    </a:p>
                  </a:txBody>
                  <a:tcPr marL="47625" marR="47625" marT="76200" marB="47625" anchor="ctr">
                    <a:solidFill>
                      <a:srgbClr val="A2B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n=95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small group</a:t>
                      </a:r>
                    </a:p>
                  </a:txBody>
                  <a:tcPr marL="47625" marR="47625" marT="76200" marB="47625" anchor="ctr"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68.1%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n=185</a:t>
                      </a:r>
                    </a:p>
                  </a:txBody>
                  <a:tcPr marL="47625" marR="47625" marT="76200" marB="47625" anchor="ctr">
                    <a:solidFill>
                      <a:srgbClr val="638CA6"/>
                    </a:solidFill>
                  </a:tcPr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388C3D3-32E8-44EA-AC43-19722B63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Blue scale: 0-100%. Darker = higher percentage. Gray cells have fewer than 100 records.</a:t>
            </a:r>
          </a:p>
        </p:txBody>
      </p:sp>
    </p:spTree>
    <p:extLst>
      <p:ext uri="{BB962C8B-B14F-4D97-AF65-F5344CB8AC3E}">
        <p14:creationId xmlns:p14="http://schemas.microsoft.com/office/powerpoint/2010/main" val="27882179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Main Findings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Education alone gives an incomplete picture. Age, occupation, and work hours also show substantial differences in the share above $50,000.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Ages 45-59: 38.8%. Executive/managerial jobs: 48.4%. Professional-specialty jobs: 44.9%.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combined view adds detail. Among ages 45-59 with a bachelor’s degree or higher, the rate is 56.6% at 40 hours or less and 72.7% above 40 hours.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These descriptive patterns are consistent with the hypothesis. They do not establish each variable’s independent effect or 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78821798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Limits and Next Analysis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data describe a historical 1994 sample and broad income categories. They do not measure current salaries.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percentages are unweighted. Missing occupations and very small groups limit some comparisons.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 differences may reflect several related characteristics. This analysis does not establish causation or predictive accuracy.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Later classification work can examine variables together, with a separate evaluation set and clear handling of missing values.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micro-project ends at Step 4, Report.</a:t>
            </a:r>
          </a:p>
        </p:txBody>
      </p:sp>
    </p:spTree>
    <p:extLst>
      <p:ext uri="{BB962C8B-B14F-4D97-AF65-F5344CB8AC3E}">
        <p14:creationId xmlns:p14="http://schemas.microsoft.com/office/powerpoint/2010/main" val="278821798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2026-09-24T23:00:23.8010000Z</dcterms:created>
  <dcterms:modified xsi:type="dcterms:W3CDTF">2026-09-24T23:00:23.8010000Z</dcterms:modified>
</coreProperties>
</file>